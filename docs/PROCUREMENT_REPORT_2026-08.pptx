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media/image2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7" r:id="rId2"/>
    <p:sldMasterId id="2147483672" r:id="rId3"/>
    <p:sldMasterId id="2147483677" r:id="rId4"/>
    <p:sldMasterId id="2147483685" r:id="rId5"/>
  </p:sldMasterIdLst>
  <p:notesMasterIdLst>
    <p:notesMasterId r:id="rId8"/>
  </p:notesMasterIdLst>
  <p:sldIdLst>
    <p:sldId id="2147378398" r:id="rId14"/>
    <p:sldId id="2147378399" r:id="rId15"/>
    <p:sldId id="2147378400" r:id="rId16"/>
    <p:sldId id="2147378401" r:id="rId17"/>
    <p:sldId id="2147378402" r:id="rId18"/>
    <p:sldId id="2147378403" r:id="rId19"/>
    <p:sldId id="2147378404" r:id="rId20"/>
    <p:sldId id="2147378405" r:id="rId21"/>
    <p:sldId id="2147378406" r:id="rId22"/>
    <p:sldId id="2147378407" r:id="rId23"/>
    <p:sldId id="2147378408" r:id="rId24"/>
    <p:sldId id="2147378409" r:id="rId25"/>
    <p:sldId id="2147378410" r:id="rId26"/>
    <p:sldId id="2147378411" r:id="rId27"/>
    <p:sldId id="2147378412" r:id="rId28"/>
    <p:sldId id="2147378413" r:id="rId29"/>
    <p:sldId id="2147378414" r:id="rId30"/>
    <p:sldId id="2147378415" r:id="rId31"/>
    <p:sldId id="2147378416" r:id="rId32"/>
    <p:sldId id="2147378417" r:id="rId33"/>
    <p:sldId id="2147378418" r:id="rId34"/>
    <p:sldId id="2147378419" r:id="rId35"/>
    <p:sldId id="2147378420" r:id="rId36"/>
    <p:sldId id="2147378421" r:id="rId37"/>
    <p:sldId id="2147378422" r:id="rId38"/>
    <p:sldId id="2147378423" r:id="rId39"/>
    <p:sldId id="2147378424" r:id="rId40"/>
    <p:sldId id="2147378425" r:id="rId41"/>
    <p:sldId id="2147378426" r:id="rId42"/>
    <p:sldId id="2147378427" r:id="rId43"/>
    <p:sldId id="2147378428" r:id="rId44"/>
    <p:sldId id="2147378429" r:id="rId45"/>
    <p:sldId id="2147378430" r:id="rId46"/>
    <p:sldId id="2147378431" r:id="rId47"/>
    <p:sldId id="2147378432" r:id="rId48"/>
    <p:sldId id="2147378433" r:id="rId49"/>
    <p:sldId id="2147378434" r:id="rId50"/>
    <p:sldId id="2147378435" r:id="rId51"/>
    <p:sldId id="2147378436" r:id="rId52"/>
    <p:sldId id="2147378437" r:id="rId53"/>
    <p:sldId id="2147378438" r:id="rId54"/>
    <p:sldId id="2147378439" r:id="rId55"/>
    <p:sldId id="2147378440" r:id="rId56"/>
    <p:sldId id="2147378441" r:id="rId57"/>
    <p:sldId id="2147378442" r:id="rId58"/>
    <p:sldId id="2147378443" r:id="rId59"/>
    <p:sldId id="2147378444" r:id="rId60"/>
    <p:sldId id="2147378445" r:id="rId61"/>
    <p:sldId id="2147378446" r:id="rId62"/>
    <p:sldId id="2147378447" r:id="rId63"/>
    <p:sldId id="2147378448" r:id="rId64"/>
    <p:sldId id="2147378449" r:id="rId65"/>
    <p:sldId id="2147378450" r:id="rId66"/>
    <p:sldId id="2147378451" r:id="rId67"/>
    <p:sldId id="2147378452" r:id="rId68"/>
    <p:sldId id="2147378453" r:id="rId69"/>
    <p:sldId id="2147378454" r:id="rId70"/>
    <p:sldId id="2147378455" r:id="rId71"/>
    <p:sldId id="2147378456" r:id="rId72"/>
    <p:sldId id="2147378457" r:id="rId73"/>
    <p:sldId id="2147378458" r:id="rId74"/>
    <p:sldId id="2147378459" r:id="rId75"/>
    <p:sldId id="2147378460" r:id="rId76"/>
    <p:sldId id="2147378461" r:id="rId77"/>
    <p:sldId id="2147378462" r:id="rId78"/>
    <p:sldId id="2147378463" r:id="rId79"/>
    <p:sldId id="2147378464" r:id="rId80"/>
    <p:sldId id="2147378465" r:id="rId81"/>
    <p:sldId id="2147378466" r:id="rId82"/>
    <p:sldId id="2147378467" r:id="rId83"/>
    <p:sldId id="2147378468" r:id="rId84"/>
    <p:sldId id="2147378469" r:id="rId85"/>
    <p:sldId id="2147378470" r:id="rId86"/>
    <p:sldId id="2147378471" r:id="rId87"/>
    <p:sldId id="2147378472" r:id="rId88"/>
    <p:sldId id="2147378473" r:id="rId89"/>
    <p:sldId id="2147378474" r:id="rId90"/>
    <p:sldId id="2147378475" r:id="rId91"/>
    <p:sldId id="2147378476" r:id="rId92"/>
    <p:sldId id="2147378477" r:id="rId93"/>
    <p:sldId id="2147378478" r:id="rId94"/>
    <p:sldId id="2147378479" r:id="rId95"/>
    <p:sldId id="2147378480" r:id="rId96"/>
    <p:sldId id="2147378481" r:id="rId97"/>
    <p:sldId id="2147378482" r:id="rId98"/>
    <p:sldId id="2147378483" r:id="rId99"/>
    <p:sldId id="2147378484" r:id="rId100"/>
    <p:sldId id="2147378485" r:id="rId101"/>
    <p:sldId id="2147378486" r:id="rId102"/>
    <p:sldId id="2147378487" r:id="rId103"/>
    <p:sldId id="2147378488" r:id="rId104"/>
    <p:sldId id="2147378489" r:id="rId105"/>
  </p:sldIdLst>
  <p:sldSz cx="12192000" cy="6858000"/>
  <p:notesSz cx="6797675" cy="992663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88600"/>
    <a:srgbClr val="203C81"/>
    <a:srgbClr val="FFFFFF"/>
    <a:srgbClr val="1DF392"/>
    <a:srgbClr val="ED0000"/>
    <a:srgbClr val="005E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770" autoAdjust="0"/>
    <p:restoredTop sz="95157" autoAdjust="0"/>
  </p:normalViewPr>
  <p:slideViewPr>
    <p:cSldViewPr snapToGrid="0">
      <p:cViewPr varScale="1">
        <p:scale>
          <a:sx n="105" d="100"/>
          <a:sy n="105" d="100"/>
        </p:scale>
        <p:origin x="532" y="7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-414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Master" Target="slideMasters/slideMaster4.xml"/><Relationship Id="rId5" Type="http://schemas.openxmlformats.org/officeDocument/2006/relationships/slideMaster" Target="slideMasters/slideMaster5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microsoft.com/office/2016/11/relationships/changesInfo" Target="changesInfos/changesInfo1.xml"/><Relationship Id="rId14" Type="http://schemas.openxmlformats.org/officeDocument/2006/relationships/slide" Target="slides/slide3.xml"/><Relationship Id="rId15" Type="http://schemas.openxmlformats.org/officeDocument/2006/relationships/slide" Target="slides/slide4.xml"/><Relationship Id="rId16" Type="http://schemas.openxmlformats.org/officeDocument/2006/relationships/slide" Target="slides/slide5.xml"/><Relationship Id="rId17" Type="http://schemas.openxmlformats.org/officeDocument/2006/relationships/slide" Target="slides/slide6.xml"/><Relationship Id="rId18" Type="http://schemas.openxmlformats.org/officeDocument/2006/relationships/slide" Target="slides/slide7.xml"/><Relationship Id="rId19" Type="http://schemas.openxmlformats.org/officeDocument/2006/relationships/slide" Target="slides/slide8.xml"/><Relationship Id="rId20" Type="http://schemas.openxmlformats.org/officeDocument/2006/relationships/slide" Target="slides/slide9.xml"/><Relationship Id="rId21" Type="http://schemas.openxmlformats.org/officeDocument/2006/relationships/slide" Target="slides/slide10.xml"/><Relationship Id="rId22" Type="http://schemas.openxmlformats.org/officeDocument/2006/relationships/slide" Target="slides/slide11.xml"/><Relationship Id="rId23" Type="http://schemas.openxmlformats.org/officeDocument/2006/relationships/slide" Target="slides/slide12.xml"/><Relationship Id="rId24" Type="http://schemas.openxmlformats.org/officeDocument/2006/relationships/slide" Target="slides/slide13.xml"/><Relationship Id="rId25" Type="http://schemas.openxmlformats.org/officeDocument/2006/relationships/slide" Target="slides/slide14.xml"/><Relationship Id="rId26" Type="http://schemas.openxmlformats.org/officeDocument/2006/relationships/slide" Target="slides/slide15.xml"/><Relationship Id="rId27" Type="http://schemas.openxmlformats.org/officeDocument/2006/relationships/slide" Target="slides/slide16.xml"/><Relationship Id="rId28" Type="http://schemas.openxmlformats.org/officeDocument/2006/relationships/slide" Target="slides/slide17.xml"/><Relationship Id="rId29" Type="http://schemas.openxmlformats.org/officeDocument/2006/relationships/slide" Target="slides/slide18.xml"/><Relationship Id="rId30" Type="http://schemas.openxmlformats.org/officeDocument/2006/relationships/slide" Target="slides/slide19.xml"/><Relationship Id="rId31" Type="http://schemas.openxmlformats.org/officeDocument/2006/relationships/slide" Target="slides/slide20.xml"/><Relationship Id="rId32" Type="http://schemas.openxmlformats.org/officeDocument/2006/relationships/slide" Target="slides/slide21.xml"/><Relationship Id="rId33" Type="http://schemas.openxmlformats.org/officeDocument/2006/relationships/slide" Target="slides/slide22.xml"/><Relationship Id="rId34" Type="http://schemas.openxmlformats.org/officeDocument/2006/relationships/slide" Target="slides/slide23.xml"/><Relationship Id="rId35" Type="http://schemas.openxmlformats.org/officeDocument/2006/relationships/slide" Target="slides/slide24.xml"/><Relationship Id="rId36" Type="http://schemas.openxmlformats.org/officeDocument/2006/relationships/slide" Target="slides/slide25.xml"/><Relationship Id="rId37" Type="http://schemas.openxmlformats.org/officeDocument/2006/relationships/slide" Target="slides/slide26.xml"/><Relationship Id="rId38" Type="http://schemas.openxmlformats.org/officeDocument/2006/relationships/slide" Target="slides/slide27.xml"/><Relationship Id="rId39" Type="http://schemas.openxmlformats.org/officeDocument/2006/relationships/slide" Target="slides/slide28.xml"/><Relationship Id="rId40" Type="http://schemas.openxmlformats.org/officeDocument/2006/relationships/slide" Target="slides/slide29.xml"/><Relationship Id="rId41" Type="http://schemas.openxmlformats.org/officeDocument/2006/relationships/slide" Target="slides/slide30.xml"/><Relationship Id="rId42" Type="http://schemas.openxmlformats.org/officeDocument/2006/relationships/slide" Target="slides/slide31.xml"/><Relationship Id="rId43" Type="http://schemas.openxmlformats.org/officeDocument/2006/relationships/slide" Target="slides/slide32.xml"/><Relationship Id="rId44" Type="http://schemas.openxmlformats.org/officeDocument/2006/relationships/slide" Target="slides/slide33.xml"/><Relationship Id="rId45" Type="http://schemas.openxmlformats.org/officeDocument/2006/relationships/slide" Target="slides/slide34.xml"/><Relationship Id="rId46" Type="http://schemas.openxmlformats.org/officeDocument/2006/relationships/slide" Target="slides/slide35.xml"/><Relationship Id="rId47" Type="http://schemas.openxmlformats.org/officeDocument/2006/relationships/slide" Target="slides/slide36.xml"/><Relationship Id="rId48" Type="http://schemas.openxmlformats.org/officeDocument/2006/relationships/slide" Target="slides/slide37.xml"/><Relationship Id="rId49" Type="http://schemas.openxmlformats.org/officeDocument/2006/relationships/slide" Target="slides/slide38.xml"/><Relationship Id="rId50" Type="http://schemas.openxmlformats.org/officeDocument/2006/relationships/slide" Target="slides/slide39.xml"/><Relationship Id="rId51" Type="http://schemas.openxmlformats.org/officeDocument/2006/relationships/slide" Target="slides/slide40.xml"/><Relationship Id="rId52" Type="http://schemas.openxmlformats.org/officeDocument/2006/relationships/slide" Target="slides/slide41.xml"/><Relationship Id="rId53" Type="http://schemas.openxmlformats.org/officeDocument/2006/relationships/slide" Target="slides/slide42.xml"/><Relationship Id="rId54" Type="http://schemas.openxmlformats.org/officeDocument/2006/relationships/slide" Target="slides/slide43.xml"/><Relationship Id="rId55" Type="http://schemas.openxmlformats.org/officeDocument/2006/relationships/slide" Target="slides/slide44.xml"/><Relationship Id="rId56" Type="http://schemas.openxmlformats.org/officeDocument/2006/relationships/slide" Target="slides/slide45.xml"/><Relationship Id="rId57" Type="http://schemas.openxmlformats.org/officeDocument/2006/relationships/slide" Target="slides/slide46.xml"/><Relationship Id="rId58" Type="http://schemas.openxmlformats.org/officeDocument/2006/relationships/slide" Target="slides/slide47.xml"/><Relationship Id="rId59" Type="http://schemas.openxmlformats.org/officeDocument/2006/relationships/slide" Target="slides/slide48.xml"/><Relationship Id="rId60" Type="http://schemas.openxmlformats.org/officeDocument/2006/relationships/slide" Target="slides/slide49.xml"/><Relationship Id="rId61" Type="http://schemas.openxmlformats.org/officeDocument/2006/relationships/slide" Target="slides/slide50.xml"/><Relationship Id="rId62" Type="http://schemas.openxmlformats.org/officeDocument/2006/relationships/slide" Target="slides/slide51.xml"/><Relationship Id="rId63" Type="http://schemas.openxmlformats.org/officeDocument/2006/relationships/slide" Target="slides/slide52.xml"/><Relationship Id="rId64" Type="http://schemas.openxmlformats.org/officeDocument/2006/relationships/slide" Target="slides/slide53.xml"/><Relationship Id="rId65" Type="http://schemas.openxmlformats.org/officeDocument/2006/relationships/slide" Target="slides/slide54.xml"/><Relationship Id="rId66" Type="http://schemas.openxmlformats.org/officeDocument/2006/relationships/slide" Target="slides/slide55.xml"/><Relationship Id="rId67" Type="http://schemas.openxmlformats.org/officeDocument/2006/relationships/slide" Target="slides/slide56.xml"/><Relationship Id="rId68" Type="http://schemas.openxmlformats.org/officeDocument/2006/relationships/slide" Target="slides/slide57.xml"/><Relationship Id="rId69" Type="http://schemas.openxmlformats.org/officeDocument/2006/relationships/slide" Target="slides/slide58.xml"/><Relationship Id="rId70" Type="http://schemas.openxmlformats.org/officeDocument/2006/relationships/slide" Target="slides/slide59.xml"/><Relationship Id="rId71" Type="http://schemas.openxmlformats.org/officeDocument/2006/relationships/slide" Target="slides/slide60.xml"/><Relationship Id="rId72" Type="http://schemas.openxmlformats.org/officeDocument/2006/relationships/slide" Target="slides/slide61.xml"/><Relationship Id="rId73" Type="http://schemas.openxmlformats.org/officeDocument/2006/relationships/slide" Target="slides/slide62.xml"/><Relationship Id="rId74" Type="http://schemas.openxmlformats.org/officeDocument/2006/relationships/slide" Target="slides/slide63.xml"/><Relationship Id="rId75" Type="http://schemas.openxmlformats.org/officeDocument/2006/relationships/slide" Target="slides/slide64.xml"/><Relationship Id="rId76" Type="http://schemas.openxmlformats.org/officeDocument/2006/relationships/slide" Target="slides/slide65.xml"/><Relationship Id="rId77" Type="http://schemas.openxmlformats.org/officeDocument/2006/relationships/slide" Target="slides/slide66.xml"/><Relationship Id="rId78" Type="http://schemas.openxmlformats.org/officeDocument/2006/relationships/slide" Target="slides/slide67.xml"/><Relationship Id="rId79" Type="http://schemas.openxmlformats.org/officeDocument/2006/relationships/slide" Target="slides/slide68.xml"/><Relationship Id="rId80" Type="http://schemas.openxmlformats.org/officeDocument/2006/relationships/slide" Target="slides/slide69.xml"/><Relationship Id="rId81" Type="http://schemas.openxmlformats.org/officeDocument/2006/relationships/slide" Target="slides/slide70.xml"/><Relationship Id="rId82" Type="http://schemas.openxmlformats.org/officeDocument/2006/relationships/slide" Target="slides/slide71.xml"/><Relationship Id="rId83" Type="http://schemas.openxmlformats.org/officeDocument/2006/relationships/slide" Target="slides/slide72.xml"/><Relationship Id="rId84" Type="http://schemas.openxmlformats.org/officeDocument/2006/relationships/slide" Target="slides/slide73.xml"/><Relationship Id="rId85" Type="http://schemas.openxmlformats.org/officeDocument/2006/relationships/slide" Target="slides/slide74.xml"/><Relationship Id="rId86" Type="http://schemas.openxmlformats.org/officeDocument/2006/relationships/slide" Target="slides/slide75.xml"/><Relationship Id="rId87" Type="http://schemas.openxmlformats.org/officeDocument/2006/relationships/slide" Target="slides/slide76.xml"/><Relationship Id="rId88" Type="http://schemas.openxmlformats.org/officeDocument/2006/relationships/slide" Target="slides/slide77.xml"/><Relationship Id="rId89" Type="http://schemas.openxmlformats.org/officeDocument/2006/relationships/slide" Target="slides/slide78.xml"/><Relationship Id="rId90" Type="http://schemas.openxmlformats.org/officeDocument/2006/relationships/slide" Target="slides/slide79.xml"/><Relationship Id="rId91" Type="http://schemas.openxmlformats.org/officeDocument/2006/relationships/slide" Target="slides/slide80.xml"/><Relationship Id="rId92" Type="http://schemas.openxmlformats.org/officeDocument/2006/relationships/slide" Target="slides/slide81.xml"/><Relationship Id="rId93" Type="http://schemas.openxmlformats.org/officeDocument/2006/relationships/slide" Target="slides/slide82.xml"/><Relationship Id="rId94" Type="http://schemas.openxmlformats.org/officeDocument/2006/relationships/slide" Target="slides/slide83.xml"/><Relationship Id="rId95" Type="http://schemas.openxmlformats.org/officeDocument/2006/relationships/slide" Target="slides/slide84.xml"/><Relationship Id="rId96" Type="http://schemas.openxmlformats.org/officeDocument/2006/relationships/slide" Target="slides/slide85.xml"/><Relationship Id="rId97" Type="http://schemas.openxmlformats.org/officeDocument/2006/relationships/slide" Target="slides/slide86.xml"/><Relationship Id="rId98" Type="http://schemas.openxmlformats.org/officeDocument/2006/relationships/slide" Target="slides/slide87.xml"/><Relationship Id="rId99" Type="http://schemas.openxmlformats.org/officeDocument/2006/relationships/slide" Target="slides/slide88.xml"/><Relationship Id="rId100" Type="http://schemas.openxmlformats.org/officeDocument/2006/relationships/slide" Target="slides/slide89.xml"/><Relationship Id="rId101" Type="http://schemas.openxmlformats.org/officeDocument/2006/relationships/slide" Target="slides/slide90.xml"/><Relationship Id="rId102" Type="http://schemas.openxmlformats.org/officeDocument/2006/relationships/slide" Target="slides/slide91.xml"/><Relationship Id="rId103" Type="http://schemas.openxmlformats.org/officeDocument/2006/relationships/slide" Target="slides/slide92.xml"/><Relationship Id="rId104" Type="http://schemas.openxmlformats.org/officeDocument/2006/relationships/slide" Target="slides/slide93.xml"/><Relationship Id="rId105" Type="http://schemas.openxmlformats.org/officeDocument/2006/relationships/slide" Target="slides/slide9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ittipot Chirakul" userId="f1c78adb29ab4048" providerId="LiveId" clId="{B48D8B2E-3608-4DF2-A39A-66F095367854}"/>
    <pc:docChg chg="custSel modSld">
      <pc:chgData name="Kittipot Chirakul" userId="f1c78adb29ab4048" providerId="LiveId" clId="{B48D8B2E-3608-4DF2-A39A-66F095367854}" dt="2026-04-10T03:15:07.930" v="37" actId="20577"/>
      <pc:docMkLst>
        <pc:docMk/>
      </pc:docMkLst>
      <pc:sldChg chg="delSp modSp mod">
        <pc:chgData name="Kittipot Chirakul" userId="f1c78adb29ab4048" providerId="LiveId" clId="{B48D8B2E-3608-4DF2-A39A-66F095367854}" dt="2026-04-10T03:15:07.930" v="37" actId="20577"/>
        <pc:sldMkLst>
          <pc:docMk/>
          <pc:sldMk cId="4149576312" sldId="2147378397"/>
        </pc:sldMkLst>
        <pc:spChg chg="mod">
          <ac:chgData name="Kittipot Chirakul" userId="f1c78adb29ab4048" providerId="LiveId" clId="{B48D8B2E-3608-4DF2-A39A-66F095367854}" dt="2026-04-10T03:15:07.930" v="37" actId="20577"/>
          <ac:spMkLst>
            <pc:docMk/>
            <pc:sldMk cId="4149576312" sldId="2147378397"/>
            <ac:spMk id="4" creationId="{2DB142FC-D7CC-561F-3748-5BC2A3B5929E}"/>
          </ac:spMkLst>
        </pc:spChg>
        <pc:spChg chg="del">
          <ac:chgData name="Kittipot Chirakul" userId="f1c78adb29ab4048" providerId="LiveId" clId="{B48D8B2E-3608-4DF2-A39A-66F095367854}" dt="2026-04-10T03:14:48.075" v="1" actId="478"/>
          <ac:spMkLst>
            <pc:docMk/>
            <pc:sldMk cId="4149576312" sldId="2147378397"/>
            <ac:spMk id="11" creationId="{67EA14BD-285B-F09B-AD9C-4145D5B9149F}"/>
          </ac:spMkLst>
        </pc:spChg>
        <pc:graphicFrameChg chg="del">
          <ac:chgData name="Kittipot Chirakul" userId="f1c78adb29ab4048" providerId="LiveId" clId="{B48D8B2E-3608-4DF2-A39A-66F095367854}" dt="2026-04-10T03:14:46.311" v="0" actId="478"/>
          <ac:graphicFrameMkLst>
            <pc:docMk/>
            <pc:sldMk cId="4149576312" sldId="2147378397"/>
            <ac:graphicFrameMk id="3" creationId="{385E7464-FBE1-172F-5FB4-2B64C3A3B416}"/>
          </ac:graphicFrameMkLst>
        </pc:graphicFrameChg>
        <pc:cxnChg chg="del">
          <ac:chgData name="Kittipot Chirakul" userId="f1c78adb29ab4048" providerId="LiveId" clId="{B48D8B2E-3608-4DF2-A39A-66F095367854}" dt="2026-04-10T03:14:48.813" v="2" actId="478"/>
          <ac:cxnSpMkLst>
            <pc:docMk/>
            <pc:sldMk cId="4149576312" sldId="2147378397"/>
            <ac:cxnSpMk id="9" creationId="{128A9D81-B91D-169A-F3D5-48F14621FF91}"/>
          </ac:cxnSpMkLst>
        </pc:cxn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45659" cy="498055"/>
          </a:xfrm>
          <a:prstGeom prst="rect">
            <a:avLst/>
          </a:prstGeom>
        </p:spPr>
        <p:txBody>
          <a:bodyPr vert="horz" lIns="91385" tIns="45693" rIns="91385" bIns="45693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5"/>
          </a:xfrm>
          <a:prstGeom prst="rect">
            <a:avLst/>
          </a:prstGeom>
        </p:spPr>
        <p:txBody>
          <a:bodyPr vert="horz" lIns="91385" tIns="45693" rIns="91385" bIns="45693" rtlCol="0"/>
          <a:lstStyle>
            <a:lvl1pPr algn="r">
              <a:defRPr sz="1200"/>
            </a:lvl1pPr>
          </a:lstStyle>
          <a:p>
            <a:fld id="{2B1A99E7-7157-4164-8A61-D474B8C55FE3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0688" y="1239838"/>
            <a:ext cx="5956300" cy="33512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385" tIns="45693" rIns="91385" bIns="45693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385" tIns="45693" rIns="91385" bIns="45693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584"/>
            <a:ext cx="2945659" cy="498054"/>
          </a:xfrm>
          <a:prstGeom prst="rect">
            <a:avLst/>
          </a:prstGeom>
        </p:spPr>
        <p:txBody>
          <a:bodyPr vert="horz" lIns="91385" tIns="45693" rIns="91385" bIns="45693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4"/>
          </a:xfrm>
          <a:prstGeom prst="rect">
            <a:avLst/>
          </a:prstGeom>
        </p:spPr>
        <p:txBody>
          <a:bodyPr vert="horz" lIns="91385" tIns="45693" rIns="91385" bIns="45693" rtlCol="0" anchor="b"/>
          <a:lstStyle>
            <a:lvl1pPr algn="r">
              <a:defRPr sz="1200"/>
            </a:lvl1pPr>
          </a:lstStyle>
          <a:p>
            <a:fld id="{F5950DF0-E824-4B5E-8CCE-4C96E19FCC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45764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4.pn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4.pn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9F8838-8BAC-C967-7DB4-4DE326D0DC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EBF9D4-BBCB-20C2-17F2-85BEC39B08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522A88-6441-E4D2-86F1-E459E0030F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9E240-750F-4123-802C-18D7609080F9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540168-6CC9-3D3C-4117-4251C58BA1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16EE34-6235-E8F8-08C6-60951E79AA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F6F8F-A6A1-402C-9F92-EB62193595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0766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0F46A0-4DA3-8072-BDCB-EBCA8B7AC6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A3AE21-4DC1-232D-FE0C-E7EAD29D1E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8360F9-194E-20BE-2C11-0EFC45D09C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9E240-750F-4123-802C-18D7609080F9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340EBB-1F75-8F48-8249-9C1EED10FB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9E51E4-52D9-806F-2AFF-2826E0729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F6F8F-A6A1-402C-9F92-EB62193595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0988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6036EA-5428-9FF4-D003-BD74F4ACAA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88ADCA-45BD-6E58-FF1D-A45DB0D04B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032707-6F12-5E0D-6395-23ABE376E6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9E240-750F-4123-802C-18D7609080F9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86065B-9067-94A0-6917-C39A778249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7E0EF0-3C95-0273-559B-63EC97C869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F6F8F-A6A1-402C-9F92-EB62193595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06060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DCF732-7884-A253-F0BD-50C16325E6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E57D29-C682-2265-095B-E3BCEAD6CA2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C7F47F-3CA5-DA0E-893F-C75C7D197B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49DDA9-579F-908A-F0D7-61E99F6659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9E240-750F-4123-802C-18D7609080F9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50DC83-12E4-627B-AD55-B736047CCA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6594C0-E31F-D59E-234F-2DAB9850EC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F6F8F-A6A1-402C-9F92-EB62193595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11444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95A30D-84FE-0BBA-74E5-E3592BB80A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1AD6D2-BC8F-A707-4614-E7819FAEA5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356478-24E7-9507-1C12-C2FBC1BB04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0BFFD75-5C15-952B-0F41-6290B5CF6A5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39100E8-E053-5D4E-60D2-DED442625F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D38BE4C-1069-1D1B-B69E-D61E442B32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9E240-750F-4123-802C-18D7609080F9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DC9C87C-48F9-74C5-9128-99FD18FFF5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5B685B4-6268-DCB2-AB67-AF3C02DFCF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F6F8F-A6A1-402C-9F92-EB62193595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5949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3B9256-E9B7-E550-9E6D-A9FB15A13C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377239B-0FEF-619A-284C-DCAA4A72C7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9E240-750F-4123-802C-18D7609080F9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C4BB5B9-A8C2-452C-D135-FD81FB836F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15DD037-D6E0-A550-030B-C9E8809F41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F6F8F-A6A1-402C-9F92-EB62193595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8009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70B3DDF-7057-0794-1A66-F2A34C84A1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9E240-750F-4123-802C-18D7609080F9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EE36C46-FC3F-1495-74F2-6981FD0E06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CAB671-D02B-7D37-ED60-C7F7E93413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F6F8F-A6A1-402C-9F92-EB62193595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9632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7FCC6D-59ED-F78C-D295-4134A0F923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A008C9-9849-492F-18EA-B877DB089E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456415-D033-B81D-899C-91AEF51FA1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D1D3A1-B6B1-BC82-0C64-F9C86A28C3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9E240-750F-4123-802C-18D7609080F9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D5516D-6355-F06F-1D27-C6820015D7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D4D07A-D38F-F38D-1A6C-CB5D3CD20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F6F8F-A6A1-402C-9F92-EB62193595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78038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41E410-9E96-0560-51E0-BFA42E1FFB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FFB8EC9-1348-2E9C-F6EC-08E2BEFC897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DD9381-167A-4510-3C83-FC14D6D7FC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C8E6F0-1533-40BD-97ED-B2F2E64C40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9E240-750F-4123-802C-18D7609080F9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DC223B-4AD9-4BB3-E554-32D3CBA8C9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3A2DA0-2CF3-D34D-0A4B-F097E602A6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F6F8F-A6A1-402C-9F92-EB62193595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19308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24951D-1014-DCC2-0C92-4381A75FD7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8259D3-B6E6-3A32-CB71-F7081155DF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F9AA07-0344-7D50-8AF0-8D5C06462D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9E240-750F-4123-802C-18D7609080F9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C9DCF6-50D5-F8AD-0423-0352AEEAD6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10BE35-4A96-ADB2-7E82-914EFAFB8A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F6F8F-A6A1-402C-9F92-EB62193595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5107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AD362E-0D64-1E7F-8240-E8609A8C81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BF26302-57CA-6E4A-B0B4-6D7E23E5A3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1AB977-0A14-6FFD-D39A-FE7FB88B2A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9E240-750F-4123-802C-18D7609080F9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ABE4CD-265B-0042-FE49-3E762700B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1C4537-1A61-EBD3-F2C3-1087766E4F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F6F8F-A6A1-402C-9F92-EB62193595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24307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Content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B31668E-263B-8FB1-9DBB-25F22BB441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4303817" cy="6100294"/>
          </a:xfrm>
          <a:custGeom>
            <a:avLst/>
            <a:gdLst>
              <a:gd name="connsiteX0" fmla="*/ 0 w 4303817"/>
              <a:gd name="connsiteY0" fmla="*/ 0 h 6100294"/>
              <a:gd name="connsiteX1" fmla="*/ 4228398 w 4303817"/>
              <a:gd name="connsiteY1" fmla="*/ 0 h 6100294"/>
              <a:gd name="connsiteX2" fmla="*/ 4229446 w 4303817"/>
              <a:gd name="connsiteY2" fmla="*/ 3967 h 6100294"/>
              <a:gd name="connsiteX3" fmla="*/ 1077531 w 4303817"/>
              <a:gd name="connsiteY3" fmla="*/ 5738774 h 6100294"/>
              <a:gd name="connsiteX4" fmla="*/ 4752 w 4303817"/>
              <a:gd name="connsiteY4" fmla="*/ 6100294 h 6100294"/>
              <a:gd name="connsiteX5" fmla="*/ 0 w 4303817"/>
              <a:gd name="connsiteY5" fmla="*/ 6100220 h 61002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303817" h="6100294">
                <a:moveTo>
                  <a:pt x="0" y="0"/>
                </a:moveTo>
                <a:lnTo>
                  <a:pt x="4228398" y="0"/>
                </a:lnTo>
                <a:lnTo>
                  <a:pt x="4229446" y="3967"/>
                </a:lnTo>
                <a:cubicBezTo>
                  <a:pt x="4705210" y="2114652"/>
                  <a:pt x="2809371" y="4773411"/>
                  <a:pt x="1077531" y="5738774"/>
                </a:cubicBezTo>
                <a:cubicBezTo>
                  <a:pt x="852198" y="5864379"/>
                  <a:pt x="435304" y="6090896"/>
                  <a:pt x="4752" y="6100294"/>
                </a:cubicBezTo>
                <a:lnTo>
                  <a:pt x="0" y="6100220"/>
                </a:lnTo>
                <a:close/>
              </a:path>
            </a:pathLst>
          </a:custGeom>
          <a:solidFill>
            <a:schemeClr val="accent4">
              <a:alpha val="25000"/>
            </a:schemeClr>
          </a:solidFill>
          <a:ln w="2077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0972DA96-A413-EF87-50D3-D8EF54FD9F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7072129" y="3184875"/>
            <a:ext cx="3027835" cy="4339045"/>
          </a:xfrm>
          <a:custGeom>
            <a:avLst/>
            <a:gdLst>
              <a:gd name="connsiteX0" fmla="*/ 3027835 w 3027835"/>
              <a:gd name="connsiteY0" fmla="*/ 1577904 h 4339045"/>
              <a:gd name="connsiteX1" fmla="*/ 3027835 w 3027835"/>
              <a:gd name="connsiteY1" fmla="*/ 1756157 h 4339045"/>
              <a:gd name="connsiteX2" fmla="*/ 2987665 w 3027835"/>
              <a:gd name="connsiteY2" fmla="*/ 1796827 h 4339045"/>
              <a:gd name="connsiteX3" fmla="*/ 2823016 w 3027835"/>
              <a:gd name="connsiteY3" fmla="*/ 2308034 h 4339045"/>
              <a:gd name="connsiteX4" fmla="*/ 2840027 w 3027835"/>
              <a:gd name="connsiteY4" fmla="*/ 2506841 h 4339045"/>
              <a:gd name="connsiteX5" fmla="*/ 2810869 w 3027835"/>
              <a:gd name="connsiteY5" fmla="*/ 2812303 h 4339045"/>
              <a:gd name="connsiteX6" fmla="*/ 2677151 w 3027835"/>
              <a:gd name="connsiteY6" fmla="*/ 3079052 h 4339045"/>
              <a:gd name="connsiteX7" fmla="*/ 2603769 w 3027835"/>
              <a:gd name="connsiteY7" fmla="*/ 3161057 h 4339045"/>
              <a:gd name="connsiteX8" fmla="*/ 2588720 w 3027835"/>
              <a:gd name="connsiteY8" fmla="*/ 3089875 h 4339045"/>
              <a:gd name="connsiteX9" fmla="*/ 2622934 w 3027835"/>
              <a:gd name="connsiteY9" fmla="*/ 2771189 h 4339045"/>
              <a:gd name="connsiteX10" fmla="*/ 2679515 w 3027835"/>
              <a:gd name="connsiteY10" fmla="*/ 2150521 h 4339045"/>
              <a:gd name="connsiteX11" fmla="*/ 2421531 w 3027835"/>
              <a:gd name="connsiteY11" fmla="*/ 2578333 h 4339045"/>
              <a:gd name="connsiteX12" fmla="*/ 2353181 w 3027835"/>
              <a:gd name="connsiteY12" fmla="*/ 2957894 h 4339045"/>
              <a:gd name="connsiteX13" fmla="*/ 2109552 w 3027835"/>
              <a:gd name="connsiteY13" fmla="*/ 3428433 h 4339045"/>
              <a:gd name="connsiteX14" fmla="*/ 1994623 w 3027835"/>
              <a:gd name="connsiteY14" fmla="*/ 3492617 h 4339045"/>
              <a:gd name="connsiteX15" fmla="*/ 2178503 w 3027835"/>
              <a:gd name="connsiteY15" fmla="*/ 2652563 h 4339045"/>
              <a:gd name="connsiteX16" fmla="*/ 1824147 w 3027835"/>
              <a:gd name="connsiteY16" fmla="*/ 3136598 h 4339045"/>
              <a:gd name="connsiteX17" fmla="*/ 1658324 w 3027835"/>
              <a:gd name="connsiteY17" fmla="*/ 3673617 h 4339045"/>
              <a:gd name="connsiteX18" fmla="*/ 1554071 w 3027835"/>
              <a:gd name="connsiteY18" fmla="*/ 3767662 h 4339045"/>
              <a:gd name="connsiteX19" fmla="*/ 1578226 w 3027835"/>
              <a:gd name="connsiteY19" fmla="*/ 3453444 h 4339045"/>
              <a:gd name="connsiteX20" fmla="*/ 1610923 w 3027835"/>
              <a:gd name="connsiteY20" fmla="*/ 3126446 h 4339045"/>
              <a:gd name="connsiteX21" fmla="*/ 1536984 w 3027835"/>
              <a:gd name="connsiteY21" fmla="*/ 3193645 h 4339045"/>
              <a:gd name="connsiteX22" fmla="*/ 1400754 w 3027835"/>
              <a:gd name="connsiteY22" fmla="*/ 3407314 h 4339045"/>
              <a:gd name="connsiteX23" fmla="*/ 1379062 w 3027835"/>
              <a:gd name="connsiteY23" fmla="*/ 3538306 h 4339045"/>
              <a:gd name="connsiteX24" fmla="*/ 1121611 w 3027835"/>
              <a:gd name="connsiteY24" fmla="*/ 3964817 h 4339045"/>
              <a:gd name="connsiteX25" fmla="*/ 1086825 w 3027835"/>
              <a:gd name="connsiteY25" fmla="*/ 3960854 h 4339045"/>
              <a:gd name="connsiteX26" fmla="*/ 1151742 w 3027835"/>
              <a:gd name="connsiteY26" fmla="*/ 3735862 h 4339045"/>
              <a:gd name="connsiteX27" fmla="*/ 1198823 w 3027835"/>
              <a:gd name="connsiteY27" fmla="*/ 3461351 h 4339045"/>
              <a:gd name="connsiteX28" fmla="*/ 1036110 w 3027835"/>
              <a:gd name="connsiteY28" fmla="*/ 3607292 h 4339045"/>
              <a:gd name="connsiteX29" fmla="*/ 835057 w 3027835"/>
              <a:gd name="connsiteY29" fmla="*/ 3891895 h 4339045"/>
              <a:gd name="connsiteX30" fmla="*/ 643745 w 3027835"/>
              <a:gd name="connsiteY30" fmla="*/ 4154015 h 4339045"/>
              <a:gd name="connsiteX31" fmla="*/ 645644 w 3027835"/>
              <a:gd name="connsiteY31" fmla="*/ 3839533 h 4339045"/>
              <a:gd name="connsiteX32" fmla="*/ 369474 w 3027835"/>
              <a:gd name="connsiteY32" fmla="*/ 4094353 h 4339045"/>
              <a:gd name="connsiteX33" fmla="*/ 131407 w 3027835"/>
              <a:gd name="connsiteY33" fmla="*/ 4309419 h 4339045"/>
              <a:gd name="connsiteX34" fmla="*/ 0 w 3027835"/>
              <a:gd name="connsiteY34" fmla="*/ 4275538 h 4339045"/>
              <a:gd name="connsiteX35" fmla="*/ 220770 w 3027835"/>
              <a:gd name="connsiteY35" fmla="*/ 3976206 h 4339045"/>
              <a:gd name="connsiteX36" fmla="*/ 552175 w 3027835"/>
              <a:gd name="connsiteY36" fmla="*/ 3763240 h 4339045"/>
              <a:gd name="connsiteX37" fmla="*/ 799546 w 3027835"/>
              <a:gd name="connsiteY37" fmla="*/ 3672723 h 4339045"/>
              <a:gd name="connsiteX38" fmla="*/ 929004 w 3027835"/>
              <a:gd name="connsiteY38" fmla="*/ 3587034 h 4339045"/>
              <a:gd name="connsiteX39" fmla="*/ 467968 w 3027835"/>
              <a:gd name="connsiteY39" fmla="*/ 3466793 h 4339045"/>
              <a:gd name="connsiteX40" fmla="*/ 1175697 w 3027835"/>
              <a:gd name="connsiteY40" fmla="*/ 3394819 h 4339045"/>
              <a:gd name="connsiteX41" fmla="*/ 1357224 w 3027835"/>
              <a:gd name="connsiteY41" fmla="*/ 3239412 h 4339045"/>
              <a:gd name="connsiteX42" fmla="*/ 828818 w 3027835"/>
              <a:gd name="connsiteY42" fmla="*/ 3160711 h 4339045"/>
              <a:gd name="connsiteX43" fmla="*/ 1025214 w 3027835"/>
              <a:gd name="connsiteY43" fmla="*/ 2997175 h 4339045"/>
              <a:gd name="connsiteX44" fmla="*/ 1571266 w 3027835"/>
              <a:gd name="connsiteY44" fmla="*/ 3058777 h 4339045"/>
              <a:gd name="connsiteX45" fmla="*/ 1970097 w 3027835"/>
              <a:gd name="connsiteY45" fmla="*/ 2728096 h 4339045"/>
              <a:gd name="connsiteX46" fmla="*/ 1569373 w 3027835"/>
              <a:gd name="connsiteY46" fmla="*/ 2658942 h 4339045"/>
              <a:gd name="connsiteX47" fmla="*/ 1375822 w 3027835"/>
              <a:gd name="connsiteY47" fmla="*/ 2670442 h 4339045"/>
              <a:gd name="connsiteX48" fmla="*/ 1294025 w 3027835"/>
              <a:gd name="connsiteY48" fmla="*/ 2668776 h 4339045"/>
              <a:gd name="connsiteX49" fmla="*/ 1552392 w 3027835"/>
              <a:gd name="connsiteY49" fmla="*/ 2469896 h 4339045"/>
              <a:gd name="connsiteX50" fmla="*/ 2182140 w 3027835"/>
              <a:gd name="connsiteY50" fmla="*/ 2545568 h 4339045"/>
              <a:gd name="connsiteX51" fmla="*/ 2484550 w 3027835"/>
              <a:gd name="connsiteY51" fmla="*/ 2238892 h 4339045"/>
              <a:gd name="connsiteX52" fmla="*/ 2238060 w 3027835"/>
              <a:gd name="connsiteY52" fmla="*/ 2253839 h 4339045"/>
              <a:gd name="connsiteX53" fmla="*/ 1700354 w 3027835"/>
              <a:gd name="connsiteY53" fmla="*/ 2296180 h 4339045"/>
              <a:gd name="connsiteX54" fmla="*/ 1620694 w 3027835"/>
              <a:gd name="connsiteY54" fmla="*/ 2282960 h 4339045"/>
              <a:gd name="connsiteX55" fmla="*/ 1809541 w 3027835"/>
              <a:gd name="connsiteY55" fmla="*/ 2129120 h 4339045"/>
              <a:gd name="connsiteX56" fmla="*/ 2509155 w 3027835"/>
              <a:gd name="connsiteY56" fmla="*/ 2037634 h 4339045"/>
              <a:gd name="connsiteX57" fmla="*/ 2585773 w 3027835"/>
              <a:gd name="connsiteY57" fmla="*/ 2046926 h 4339045"/>
              <a:gd name="connsiteX58" fmla="*/ 2690306 w 3027835"/>
              <a:gd name="connsiteY58" fmla="*/ 2021682 h 4339045"/>
              <a:gd name="connsiteX59" fmla="*/ 2891381 w 3027835"/>
              <a:gd name="connsiteY59" fmla="*/ 1807385 h 4339045"/>
              <a:gd name="connsiteX60" fmla="*/ 2635902 w 3027835"/>
              <a:gd name="connsiteY60" fmla="*/ 1844944 h 4339045"/>
              <a:gd name="connsiteX61" fmla="*/ 1987437 w 3027835"/>
              <a:gd name="connsiteY61" fmla="*/ 1972315 h 4339045"/>
              <a:gd name="connsiteX62" fmla="*/ 1912448 w 3027835"/>
              <a:gd name="connsiteY62" fmla="*/ 1968878 h 4339045"/>
              <a:gd name="connsiteX63" fmla="*/ 1936357 w 3027835"/>
              <a:gd name="connsiteY63" fmla="*/ 1916156 h 4339045"/>
              <a:gd name="connsiteX64" fmla="*/ 2663656 w 3027835"/>
              <a:gd name="connsiteY64" fmla="*/ 1603657 h 4339045"/>
              <a:gd name="connsiteX65" fmla="*/ 2961282 w 3027835"/>
              <a:gd name="connsiteY65" fmla="*/ 1590878 h 4339045"/>
              <a:gd name="connsiteX66" fmla="*/ 3027835 w 3027835"/>
              <a:gd name="connsiteY66" fmla="*/ 1091533 h 4339045"/>
              <a:gd name="connsiteX67" fmla="*/ 3027835 w 3027835"/>
              <a:gd name="connsiteY67" fmla="*/ 1354009 h 4339045"/>
              <a:gd name="connsiteX68" fmla="*/ 2911954 w 3027835"/>
              <a:gd name="connsiteY68" fmla="*/ 1374296 h 4339045"/>
              <a:gd name="connsiteX69" fmla="*/ 2758325 w 3027835"/>
              <a:gd name="connsiteY69" fmla="*/ 1391210 h 4339045"/>
              <a:gd name="connsiteX70" fmla="*/ 2287151 w 3027835"/>
              <a:gd name="connsiteY70" fmla="*/ 1560344 h 4339045"/>
              <a:gd name="connsiteX71" fmla="*/ 2241378 w 3027835"/>
              <a:gd name="connsiteY71" fmla="*/ 1577101 h 4339045"/>
              <a:gd name="connsiteX72" fmla="*/ 2325709 w 3027835"/>
              <a:gd name="connsiteY72" fmla="*/ 1375265 h 4339045"/>
              <a:gd name="connsiteX73" fmla="*/ 2472240 w 3027835"/>
              <a:gd name="connsiteY73" fmla="*/ 1276715 h 4339045"/>
              <a:gd name="connsiteX74" fmla="*/ 2917220 w 3027835"/>
              <a:gd name="connsiteY74" fmla="*/ 1104724 h 4339045"/>
              <a:gd name="connsiteX75" fmla="*/ 3027835 w 3027835"/>
              <a:gd name="connsiteY75" fmla="*/ 608020 h 4339045"/>
              <a:gd name="connsiteX76" fmla="*/ 3027835 w 3027835"/>
              <a:gd name="connsiteY76" fmla="*/ 871290 h 4339045"/>
              <a:gd name="connsiteX77" fmla="*/ 2823268 w 3027835"/>
              <a:gd name="connsiteY77" fmla="*/ 903289 h 4339045"/>
              <a:gd name="connsiteX78" fmla="*/ 2497904 w 3027835"/>
              <a:gd name="connsiteY78" fmla="*/ 1058451 h 4339045"/>
              <a:gd name="connsiteX79" fmla="*/ 2426464 w 3027835"/>
              <a:gd name="connsiteY79" fmla="*/ 1095730 h 4339045"/>
              <a:gd name="connsiteX80" fmla="*/ 2417297 w 3027835"/>
              <a:gd name="connsiteY80" fmla="*/ 1059778 h 4339045"/>
              <a:gd name="connsiteX81" fmla="*/ 2435949 w 3027835"/>
              <a:gd name="connsiteY81" fmla="*/ 1020554 h 4339045"/>
              <a:gd name="connsiteX82" fmla="*/ 2873962 w 3027835"/>
              <a:gd name="connsiteY82" fmla="*/ 655569 h 4339045"/>
              <a:gd name="connsiteX83" fmla="*/ 2994046 w 3027835"/>
              <a:gd name="connsiteY83" fmla="*/ 612203 h 4339045"/>
              <a:gd name="connsiteX84" fmla="*/ 3027835 w 3027835"/>
              <a:gd name="connsiteY84" fmla="*/ 249929 h 4339045"/>
              <a:gd name="connsiteX85" fmla="*/ 3027835 w 3027835"/>
              <a:gd name="connsiteY85" fmla="*/ 396832 h 4339045"/>
              <a:gd name="connsiteX86" fmla="*/ 3019187 w 3027835"/>
              <a:gd name="connsiteY86" fmla="*/ 398490 h 4339045"/>
              <a:gd name="connsiteX87" fmla="*/ 2774694 w 3027835"/>
              <a:gd name="connsiteY87" fmla="*/ 531824 h 4339045"/>
              <a:gd name="connsiteX88" fmla="*/ 2720297 w 3027835"/>
              <a:gd name="connsiteY88" fmla="*/ 546480 h 4339045"/>
              <a:gd name="connsiteX89" fmla="*/ 2705172 w 3027835"/>
              <a:gd name="connsiteY89" fmla="*/ 529016 h 4339045"/>
              <a:gd name="connsiteX90" fmla="*/ 2769368 w 3027835"/>
              <a:gd name="connsiteY90" fmla="*/ 436451 h 4339045"/>
              <a:gd name="connsiteX91" fmla="*/ 2932748 w 3027835"/>
              <a:gd name="connsiteY91" fmla="*/ 313600 h 4339045"/>
              <a:gd name="connsiteX92" fmla="*/ 3027835 w 3027835"/>
              <a:gd name="connsiteY92" fmla="*/ 0 h 4339045"/>
              <a:gd name="connsiteX93" fmla="*/ 3027835 w 3027835"/>
              <a:gd name="connsiteY93" fmla="*/ 137269 h 4339045"/>
              <a:gd name="connsiteX94" fmla="*/ 2989957 w 3027835"/>
              <a:gd name="connsiteY94" fmla="*/ 159851 h 4339045"/>
              <a:gd name="connsiteX95" fmla="*/ 2910686 w 3027835"/>
              <a:gd name="connsiteY95" fmla="*/ 165123 h 4339045"/>
              <a:gd name="connsiteX96" fmla="*/ 2958656 w 3027835"/>
              <a:gd name="connsiteY96" fmla="*/ 81384 h 4339045"/>
              <a:gd name="connsiteX97" fmla="*/ 3027271 w 3027835"/>
              <a:gd name="connsiteY97" fmla="*/ 554 h 43390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</a:cxnLst>
            <a:rect l="l" t="t" r="r" b="b"/>
            <a:pathLst>
              <a:path w="3027835" h="4339045">
                <a:moveTo>
                  <a:pt x="3027835" y="1577904"/>
                </a:moveTo>
                <a:lnTo>
                  <a:pt x="3027835" y="1756157"/>
                </a:lnTo>
                <a:lnTo>
                  <a:pt x="2987665" y="1796827"/>
                </a:lnTo>
                <a:cubicBezTo>
                  <a:pt x="2831563" y="1934924"/>
                  <a:pt x="2792628" y="2109562"/>
                  <a:pt x="2823016" y="2308034"/>
                </a:cubicBezTo>
                <a:cubicBezTo>
                  <a:pt x="2832822" y="2373671"/>
                  <a:pt x="2838131" y="2440239"/>
                  <a:pt x="2840027" y="2506841"/>
                </a:cubicBezTo>
                <a:cubicBezTo>
                  <a:pt x="2843035" y="2609402"/>
                  <a:pt x="2858629" y="2714436"/>
                  <a:pt x="2810869" y="2812303"/>
                </a:cubicBezTo>
                <a:cubicBezTo>
                  <a:pt x="2767189" y="2901734"/>
                  <a:pt x="2724261" y="2991295"/>
                  <a:pt x="2677151" y="3079052"/>
                </a:cubicBezTo>
                <a:cubicBezTo>
                  <a:pt x="2663279" y="3104851"/>
                  <a:pt x="2637466" y="3124418"/>
                  <a:pt x="2603769" y="3161057"/>
                </a:cubicBezTo>
                <a:cubicBezTo>
                  <a:pt x="2595321" y="3121823"/>
                  <a:pt x="2587443" y="3105450"/>
                  <a:pt x="2588720" y="3089875"/>
                </a:cubicBezTo>
                <a:cubicBezTo>
                  <a:pt x="2599055" y="2983565"/>
                  <a:pt x="2608636" y="2877127"/>
                  <a:pt x="2622934" y="2771189"/>
                </a:cubicBezTo>
                <a:cubicBezTo>
                  <a:pt x="2650772" y="2565532"/>
                  <a:pt x="2588082" y="2352220"/>
                  <a:pt x="2679515" y="2150521"/>
                </a:cubicBezTo>
                <a:cubicBezTo>
                  <a:pt x="2524227" y="2254069"/>
                  <a:pt x="2455583" y="2406881"/>
                  <a:pt x="2421531" y="2578333"/>
                </a:cubicBezTo>
                <a:cubicBezTo>
                  <a:pt x="2396448" y="2704716"/>
                  <a:pt x="2398900" y="2840320"/>
                  <a:pt x="2353181" y="2957894"/>
                </a:cubicBezTo>
                <a:cubicBezTo>
                  <a:pt x="2289630" y="3121645"/>
                  <a:pt x="2193666" y="3273015"/>
                  <a:pt x="2109552" y="3428433"/>
                </a:cubicBezTo>
                <a:cubicBezTo>
                  <a:pt x="2090719" y="3463290"/>
                  <a:pt x="2060534" y="3489384"/>
                  <a:pt x="1994623" y="3492617"/>
                </a:cubicBezTo>
                <a:cubicBezTo>
                  <a:pt x="2130693" y="3222090"/>
                  <a:pt x="2070961" y="2929230"/>
                  <a:pt x="2178503" y="2652563"/>
                </a:cubicBezTo>
                <a:cubicBezTo>
                  <a:pt x="2010218" y="2739788"/>
                  <a:pt x="1836772" y="2959143"/>
                  <a:pt x="1824147" y="3136598"/>
                </a:cubicBezTo>
                <a:cubicBezTo>
                  <a:pt x="1810688" y="3326144"/>
                  <a:pt x="1736468" y="3501534"/>
                  <a:pt x="1658324" y="3673617"/>
                </a:cubicBezTo>
                <a:cubicBezTo>
                  <a:pt x="1642628" y="3708239"/>
                  <a:pt x="1630836" y="3750810"/>
                  <a:pt x="1554071" y="3767662"/>
                </a:cubicBezTo>
                <a:cubicBezTo>
                  <a:pt x="1566611" y="3656622"/>
                  <a:pt x="1578354" y="3554737"/>
                  <a:pt x="1578226" y="3453444"/>
                </a:cubicBezTo>
                <a:cubicBezTo>
                  <a:pt x="1578103" y="3345803"/>
                  <a:pt x="1598732" y="3238165"/>
                  <a:pt x="1610923" y="3126446"/>
                </a:cubicBezTo>
                <a:cubicBezTo>
                  <a:pt x="1585291" y="3150379"/>
                  <a:pt x="1565121" y="3181290"/>
                  <a:pt x="1536984" y="3193645"/>
                </a:cubicBezTo>
                <a:cubicBezTo>
                  <a:pt x="1442310" y="3235448"/>
                  <a:pt x="1422835" y="3321914"/>
                  <a:pt x="1400754" y="3407314"/>
                </a:cubicBezTo>
                <a:cubicBezTo>
                  <a:pt x="1389714" y="3450014"/>
                  <a:pt x="1385791" y="3494556"/>
                  <a:pt x="1379062" y="3538306"/>
                </a:cubicBezTo>
                <a:cubicBezTo>
                  <a:pt x="1351281" y="3715636"/>
                  <a:pt x="1249734" y="3848084"/>
                  <a:pt x="1121611" y="3964817"/>
                </a:cubicBezTo>
                <a:cubicBezTo>
                  <a:pt x="1118160" y="3967785"/>
                  <a:pt x="1108219" y="3963445"/>
                  <a:pt x="1086825" y="3960854"/>
                </a:cubicBezTo>
                <a:cubicBezTo>
                  <a:pt x="1109340" y="3884664"/>
                  <a:pt x="1134952" y="3811176"/>
                  <a:pt x="1151742" y="3735862"/>
                </a:cubicBezTo>
                <a:cubicBezTo>
                  <a:pt x="1170039" y="3654458"/>
                  <a:pt x="1180468" y="3571082"/>
                  <a:pt x="1198823" y="3461351"/>
                </a:cubicBezTo>
                <a:cubicBezTo>
                  <a:pt x="1131843" y="3521384"/>
                  <a:pt x="1085389" y="3565587"/>
                  <a:pt x="1036110" y="3607292"/>
                </a:cubicBezTo>
                <a:cubicBezTo>
                  <a:pt x="944254" y="3685041"/>
                  <a:pt x="873950" y="3774388"/>
                  <a:pt x="835057" y="3891895"/>
                </a:cubicBezTo>
                <a:cubicBezTo>
                  <a:pt x="801460" y="3992969"/>
                  <a:pt x="734225" y="4075256"/>
                  <a:pt x="643745" y="4154015"/>
                </a:cubicBezTo>
                <a:cubicBezTo>
                  <a:pt x="604980" y="4045929"/>
                  <a:pt x="660132" y="3950107"/>
                  <a:pt x="645644" y="3839533"/>
                </a:cubicBezTo>
                <a:cubicBezTo>
                  <a:pt x="546824" y="3930796"/>
                  <a:pt x="458287" y="4012675"/>
                  <a:pt x="369474" y="4094353"/>
                </a:cubicBezTo>
                <a:cubicBezTo>
                  <a:pt x="290467" y="4166721"/>
                  <a:pt x="213733" y="4241183"/>
                  <a:pt x="131407" y="4309419"/>
                </a:cubicBezTo>
                <a:cubicBezTo>
                  <a:pt x="74675" y="4356657"/>
                  <a:pt x="55414" y="4348857"/>
                  <a:pt x="0" y="4275538"/>
                </a:cubicBezTo>
                <a:cubicBezTo>
                  <a:pt x="56778" y="4164821"/>
                  <a:pt x="128046" y="4062631"/>
                  <a:pt x="220770" y="3976206"/>
                </a:cubicBezTo>
                <a:cubicBezTo>
                  <a:pt x="318433" y="3885365"/>
                  <a:pt x="417231" y="3798745"/>
                  <a:pt x="552175" y="3763240"/>
                </a:cubicBezTo>
                <a:cubicBezTo>
                  <a:pt x="636669" y="3741057"/>
                  <a:pt x="719208" y="3707698"/>
                  <a:pt x="799546" y="3672723"/>
                </a:cubicBezTo>
                <a:cubicBezTo>
                  <a:pt x="841009" y="3654916"/>
                  <a:pt x="876116" y="3622699"/>
                  <a:pt x="929004" y="3587034"/>
                </a:cubicBezTo>
                <a:cubicBezTo>
                  <a:pt x="640504" y="3565188"/>
                  <a:pt x="517224" y="3531776"/>
                  <a:pt x="467968" y="3466793"/>
                </a:cubicBezTo>
                <a:cubicBezTo>
                  <a:pt x="682592" y="3269225"/>
                  <a:pt x="921368" y="3288413"/>
                  <a:pt x="1175697" y="3394819"/>
                </a:cubicBezTo>
                <a:cubicBezTo>
                  <a:pt x="1231806" y="3346700"/>
                  <a:pt x="1288593" y="3298233"/>
                  <a:pt x="1357224" y="3239412"/>
                </a:cubicBezTo>
                <a:cubicBezTo>
                  <a:pt x="1174440" y="3180912"/>
                  <a:pt x="1007562" y="3149765"/>
                  <a:pt x="828818" y="3160711"/>
                </a:cubicBezTo>
                <a:cubicBezTo>
                  <a:pt x="859013" y="3094823"/>
                  <a:pt x="939993" y="3035337"/>
                  <a:pt x="1025214" y="2997175"/>
                </a:cubicBezTo>
                <a:cubicBezTo>
                  <a:pt x="1218086" y="2911077"/>
                  <a:pt x="1399463" y="2938056"/>
                  <a:pt x="1571266" y="3058777"/>
                </a:cubicBezTo>
                <a:cubicBezTo>
                  <a:pt x="1704503" y="2948342"/>
                  <a:pt x="1830361" y="2843917"/>
                  <a:pt x="1970097" y="2728096"/>
                </a:cubicBezTo>
                <a:cubicBezTo>
                  <a:pt x="1821161" y="2702508"/>
                  <a:pt x="1694953" y="2683458"/>
                  <a:pt x="1569373" y="2658942"/>
                </a:cubicBezTo>
                <a:cubicBezTo>
                  <a:pt x="1502685" y="2645936"/>
                  <a:pt x="1439977" y="2635009"/>
                  <a:pt x="1375822" y="2670442"/>
                </a:cubicBezTo>
                <a:cubicBezTo>
                  <a:pt x="1358714" y="2679891"/>
                  <a:pt x="1331381" y="2670395"/>
                  <a:pt x="1294025" y="2668776"/>
                </a:cubicBezTo>
                <a:cubicBezTo>
                  <a:pt x="1355359" y="2549551"/>
                  <a:pt x="1456635" y="2512597"/>
                  <a:pt x="1552392" y="2469896"/>
                </a:cubicBezTo>
                <a:cubicBezTo>
                  <a:pt x="1773126" y="2371242"/>
                  <a:pt x="1982653" y="2393921"/>
                  <a:pt x="2182140" y="2545568"/>
                </a:cubicBezTo>
                <a:cubicBezTo>
                  <a:pt x="2281884" y="2444400"/>
                  <a:pt x="2374872" y="2350123"/>
                  <a:pt x="2484550" y="2238892"/>
                </a:cubicBezTo>
                <a:cubicBezTo>
                  <a:pt x="2383516" y="2245536"/>
                  <a:pt x="2310848" y="2255660"/>
                  <a:pt x="2238060" y="2253839"/>
                </a:cubicBezTo>
                <a:cubicBezTo>
                  <a:pt x="2057181" y="2249243"/>
                  <a:pt x="1876671" y="2240686"/>
                  <a:pt x="1700354" y="2296180"/>
                </a:cubicBezTo>
                <a:cubicBezTo>
                  <a:pt x="1681708" y="2301958"/>
                  <a:pt x="1657350" y="2289567"/>
                  <a:pt x="1620694" y="2282960"/>
                </a:cubicBezTo>
                <a:cubicBezTo>
                  <a:pt x="1675304" y="2201136"/>
                  <a:pt x="1738031" y="2159573"/>
                  <a:pt x="1809541" y="2129120"/>
                </a:cubicBezTo>
                <a:cubicBezTo>
                  <a:pt x="2034053" y="2032818"/>
                  <a:pt x="2262854" y="1969306"/>
                  <a:pt x="2509155" y="2037634"/>
                </a:cubicBezTo>
                <a:cubicBezTo>
                  <a:pt x="2533866" y="2044357"/>
                  <a:pt x="2560542" y="2049560"/>
                  <a:pt x="2585773" y="2046926"/>
                </a:cubicBezTo>
                <a:cubicBezTo>
                  <a:pt x="2621574" y="2043167"/>
                  <a:pt x="2664566" y="2041726"/>
                  <a:pt x="2690306" y="2021682"/>
                </a:cubicBezTo>
                <a:cubicBezTo>
                  <a:pt x="2764000" y="1964041"/>
                  <a:pt x="2826712" y="1893675"/>
                  <a:pt x="2891381" y="1807385"/>
                </a:cubicBezTo>
                <a:cubicBezTo>
                  <a:pt x="2794930" y="1821629"/>
                  <a:pt x="2715598" y="1834480"/>
                  <a:pt x="2635902" y="1844944"/>
                </a:cubicBezTo>
                <a:cubicBezTo>
                  <a:pt x="2417127" y="1873479"/>
                  <a:pt x="2194167" y="1879462"/>
                  <a:pt x="1987437" y="1972315"/>
                </a:cubicBezTo>
                <a:cubicBezTo>
                  <a:pt x="1969632" y="1980406"/>
                  <a:pt x="1943731" y="1970692"/>
                  <a:pt x="1912448" y="1968878"/>
                </a:cubicBezTo>
                <a:cubicBezTo>
                  <a:pt x="1924394" y="1941664"/>
                  <a:pt x="1927029" y="1925393"/>
                  <a:pt x="1936357" y="1916156"/>
                </a:cubicBezTo>
                <a:cubicBezTo>
                  <a:pt x="2138283" y="1718573"/>
                  <a:pt x="2367195" y="1577657"/>
                  <a:pt x="2663656" y="1603657"/>
                </a:cubicBezTo>
                <a:cubicBezTo>
                  <a:pt x="2764811" y="1612557"/>
                  <a:pt x="2863437" y="1606739"/>
                  <a:pt x="2961282" y="1590878"/>
                </a:cubicBezTo>
                <a:close/>
                <a:moveTo>
                  <a:pt x="3027835" y="1091533"/>
                </a:moveTo>
                <a:lnTo>
                  <a:pt x="3027835" y="1354009"/>
                </a:lnTo>
                <a:lnTo>
                  <a:pt x="2911954" y="1374296"/>
                </a:lnTo>
                <a:cubicBezTo>
                  <a:pt x="2861009" y="1381094"/>
                  <a:pt x="2809696" y="1386292"/>
                  <a:pt x="2758325" y="1391210"/>
                </a:cubicBezTo>
                <a:cubicBezTo>
                  <a:pt x="2587009" y="1407613"/>
                  <a:pt x="2422083" y="1441838"/>
                  <a:pt x="2287151" y="1560344"/>
                </a:cubicBezTo>
                <a:cubicBezTo>
                  <a:pt x="2277677" y="1568626"/>
                  <a:pt x="2261786" y="1570077"/>
                  <a:pt x="2241378" y="1577101"/>
                </a:cubicBezTo>
                <a:cubicBezTo>
                  <a:pt x="2212898" y="1480383"/>
                  <a:pt x="2272148" y="1425680"/>
                  <a:pt x="2325709" y="1375265"/>
                </a:cubicBezTo>
                <a:cubicBezTo>
                  <a:pt x="2368179" y="1335333"/>
                  <a:pt x="2421961" y="1307099"/>
                  <a:pt x="2472240" y="1276715"/>
                </a:cubicBezTo>
                <a:cubicBezTo>
                  <a:pt x="2611928" y="1191660"/>
                  <a:pt x="2759604" y="1133674"/>
                  <a:pt x="2917220" y="1104724"/>
                </a:cubicBezTo>
                <a:close/>
                <a:moveTo>
                  <a:pt x="3027835" y="608020"/>
                </a:moveTo>
                <a:lnTo>
                  <a:pt x="3027835" y="871290"/>
                </a:lnTo>
                <a:lnTo>
                  <a:pt x="2823268" y="903289"/>
                </a:lnTo>
                <a:cubicBezTo>
                  <a:pt x="2703617" y="925472"/>
                  <a:pt x="2588686" y="968905"/>
                  <a:pt x="2497904" y="1058451"/>
                </a:cubicBezTo>
                <a:cubicBezTo>
                  <a:pt x="2480533" y="1075752"/>
                  <a:pt x="2452271" y="1082511"/>
                  <a:pt x="2426464" y="1095730"/>
                </a:cubicBezTo>
                <a:cubicBezTo>
                  <a:pt x="2420370" y="1073468"/>
                  <a:pt x="2415238" y="1065463"/>
                  <a:pt x="2417297" y="1059778"/>
                </a:cubicBezTo>
                <a:cubicBezTo>
                  <a:pt x="2421803" y="1046151"/>
                  <a:pt x="2427464" y="1032103"/>
                  <a:pt x="2435949" y="1020554"/>
                </a:cubicBezTo>
                <a:cubicBezTo>
                  <a:pt x="2552267" y="863390"/>
                  <a:pt x="2699750" y="743944"/>
                  <a:pt x="2873962" y="655569"/>
                </a:cubicBezTo>
                <a:cubicBezTo>
                  <a:pt x="2913491" y="635494"/>
                  <a:pt x="2953584" y="621497"/>
                  <a:pt x="2994046" y="612203"/>
                </a:cubicBezTo>
                <a:close/>
                <a:moveTo>
                  <a:pt x="3027835" y="249929"/>
                </a:moveTo>
                <a:lnTo>
                  <a:pt x="3027835" y="396832"/>
                </a:lnTo>
                <a:lnTo>
                  <a:pt x="3019187" y="398490"/>
                </a:lnTo>
                <a:cubicBezTo>
                  <a:pt x="2928684" y="421789"/>
                  <a:pt x="2845424" y="462795"/>
                  <a:pt x="2774694" y="531824"/>
                </a:cubicBezTo>
                <a:cubicBezTo>
                  <a:pt x="2762998" y="543131"/>
                  <a:pt x="2738612" y="541729"/>
                  <a:pt x="2720297" y="546480"/>
                </a:cubicBezTo>
                <a:cubicBezTo>
                  <a:pt x="2715256" y="540659"/>
                  <a:pt x="2710214" y="534838"/>
                  <a:pt x="2705172" y="529016"/>
                </a:cubicBezTo>
                <a:cubicBezTo>
                  <a:pt x="2726223" y="497482"/>
                  <a:pt x="2741187" y="458089"/>
                  <a:pt x="2769368" y="436451"/>
                </a:cubicBezTo>
                <a:cubicBezTo>
                  <a:pt x="2823463" y="395109"/>
                  <a:pt x="2877590" y="353579"/>
                  <a:pt x="2932748" y="313600"/>
                </a:cubicBezTo>
                <a:close/>
                <a:moveTo>
                  <a:pt x="3027835" y="0"/>
                </a:moveTo>
                <a:lnTo>
                  <a:pt x="3027835" y="137269"/>
                </a:lnTo>
                <a:lnTo>
                  <a:pt x="2989957" y="159851"/>
                </a:lnTo>
                <a:cubicBezTo>
                  <a:pt x="2975179" y="170164"/>
                  <a:pt x="2948964" y="163183"/>
                  <a:pt x="2910686" y="165123"/>
                </a:cubicBezTo>
                <a:cubicBezTo>
                  <a:pt x="2933762" y="124491"/>
                  <a:pt x="2943559" y="100779"/>
                  <a:pt x="2958656" y="81384"/>
                </a:cubicBezTo>
                <a:cubicBezTo>
                  <a:pt x="2980771" y="53014"/>
                  <a:pt x="3003627" y="26048"/>
                  <a:pt x="3027271" y="554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20AE86F9-DD66-DE05-383C-6220D559B0DF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914400" y="914400"/>
            <a:ext cx="7534656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2A01A65B-D54F-AD53-7320-5D272BEC11D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14399" y="2039111"/>
            <a:ext cx="5650992" cy="39044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724DBE4-044A-67D8-93C0-EB245AFBB29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623125" y="-20757"/>
            <a:ext cx="4589511" cy="6555026"/>
          </a:xfrm>
          <a:custGeom>
            <a:avLst/>
            <a:gdLst>
              <a:gd name="connsiteX0" fmla="*/ 0 w 4573588"/>
              <a:gd name="connsiteY0" fmla="*/ 3278407 h 6556813"/>
              <a:gd name="connsiteX1" fmla="*/ 2286794 w 4573588"/>
              <a:gd name="connsiteY1" fmla="*/ 0 h 6556813"/>
              <a:gd name="connsiteX2" fmla="*/ 4573588 w 4573588"/>
              <a:gd name="connsiteY2" fmla="*/ 3278407 h 6556813"/>
              <a:gd name="connsiteX3" fmla="*/ 2286794 w 4573588"/>
              <a:gd name="connsiteY3" fmla="*/ 6556814 h 6556813"/>
              <a:gd name="connsiteX4" fmla="*/ 0 w 4573588"/>
              <a:gd name="connsiteY4" fmla="*/ 3278407 h 6556813"/>
              <a:gd name="connsiteX0" fmla="*/ 3943 w 4577531"/>
              <a:gd name="connsiteY0" fmla="*/ 3278407 h 6556814"/>
              <a:gd name="connsiteX1" fmla="*/ 1909737 w 4577531"/>
              <a:gd name="connsiteY1" fmla="*/ 0 h 6556814"/>
              <a:gd name="connsiteX2" fmla="*/ 4577531 w 4577531"/>
              <a:gd name="connsiteY2" fmla="*/ 3278407 h 6556814"/>
              <a:gd name="connsiteX3" fmla="*/ 2290737 w 4577531"/>
              <a:gd name="connsiteY3" fmla="*/ 6556814 h 6556814"/>
              <a:gd name="connsiteX4" fmla="*/ 3943 w 4577531"/>
              <a:gd name="connsiteY4" fmla="*/ 3278407 h 6556814"/>
              <a:gd name="connsiteX0" fmla="*/ 2372 w 4749832"/>
              <a:gd name="connsiteY0" fmla="*/ 3670402 h 6948809"/>
              <a:gd name="connsiteX1" fmla="*/ 1908166 w 4749832"/>
              <a:gd name="connsiteY1" fmla="*/ 391995 h 6948809"/>
              <a:gd name="connsiteX2" fmla="*/ 4460073 w 4749832"/>
              <a:gd name="connsiteY2" fmla="*/ 424182 h 6948809"/>
              <a:gd name="connsiteX3" fmla="*/ 4575960 w 4749832"/>
              <a:gd name="connsiteY3" fmla="*/ 3670402 h 6948809"/>
              <a:gd name="connsiteX4" fmla="*/ 2289166 w 4749832"/>
              <a:gd name="connsiteY4" fmla="*/ 6948809 h 6948809"/>
              <a:gd name="connsiteX5" fmla="*/ 2372 w 4749832"/>
              <a:gd name="connsiteY5" fmla="*/ 3670402 h 6948809"/>
              <a:gd name="connsiteX0" fmla="*/ 2372 w 4749832"/>
              <a:gd name="connsiteY0" fmla="*/ 3515592 h 6793999"/>
              <a:gd name="connsiteX1" fmla="*/ 1908166 w 4749832"/>
              <a:gd name="connsiteY1" fmla="*/ 237185 h 6793999"/>
              <a:gd name="connsiteX2" fmla="*/ 4460073 w 4749832"/>
              <a:gd name="connsiteY2" fmla="*/ 269372 h 6793999"/>
              <a:gd name="connsiteX3" fmla="*/ 4575960 w 4749832"/>
              <a:gd name="connsiteY3" fmla="*/ 3515592 h 6793999"/>
              <a:gd name="connsiteX4" fmla="*/ 2289166 w 4749832"/>
              <a:gd name="connsiteY4" fmla="*/ 6793999 h 6793999"/>
              <a:gd name="connsiteX5" fmla="*/ 2372 w 4749832"/>
              <a:gd name="connsiteY5" fmla="*/ 3515592 h 6793999"/>
              <a:gd name="connsiteX0" fmla="*/ 3695 w 4751155"/>
              <a:gd name="connsiteY0" fmla="*/ 3278452 h 6556859"/>
              <a:gd name="connsiteX1" fmla="*/ 1909489 w 4751155"/>
              <a:gd name="connsiteY1" fmla="*/ 45 h 6556859"/>
              <a:gd name="connsiteX2" fmla="*/ 4461396 w 4751155"/>
              <a:gd name="connsiteY2" fmla="*/ 32232 h 6556859"/>
              <a:gd name="connsiteX3" fmla="*/ 4577283 w 4751155"/>
              <a:gd name="connsiteY3" fmla="*/ 3278452 h 6556859"/>
              <a:gd name="connsiteX4" fmla="*/ 2290489 w 4751155"/>
              <a:gd name="connsiteY4" fmla="*/ 6556859 h 6556859"/>
              <a:gd name="connsiteX5" fmla="*/ 3695 w 4751155"/>
              <a:gd name="connsiteY5" fmla="*/ 3278452 h 6556859"/>
              <a:gd name="connsiteX0" fmla="*/ 3695 w 4751155"/>
              <a:gd name="connsiteY0" fmla="*/ 3278452 h 6556859"/>
              <a:gd name="connsiteX1" fmla="*/ 1909489 w 4751155"/>
              <a:gd name="connsiteY1" fmla="*/ 45 h 6556859"/>
              <a:gd name="connsiteX2" fmla="*/ 4461396 w 4751155"/>
              <a:gd name="connsiteY2" fmla="*/ 32232 h 6556859"/>
              <a:gd name="connsiteX3" fmla="*/ 4577283 w 4751155"/>
              <a:gd name="connsiteY3" fmla="*/ 3278452 h 6556859"/>
              <a:gd name="connsiteX4" fmla="*/ 2290489 w 4751155"/>
              <a:gd name="connsiteY4" fmla="*/ 6556859 h 6556859"/>
              <a:gd name="connsiteX5" fmla="*/ 3695 w 4751155"/>
              <a:gd name="connsiteY5" fmla="*/ 3278452 h 6556859"/>
              <a:gd name="connsiteX0" fmla="*/ 2433 w 4711793"/>
              <a:gd name="connsiteY0" fmla="*/ 4771380 h 6899113"/>
              <a:gd name="connsiteX1" fmla="*/ 1870127 w 4711793"/>
              <a:gd name="connsiteY1" fmla="*/ 321398 h 6899113"/>
              <a:gd name="connsiteX2" fmla="*/ 4422034 w 4711793"/>
              <a:gd name="connsiteY2" fmla="*/ 353585 h 6899113"/>
              <a:gd name="connsiteX3" fmla="*/ 4537921 w 4711793"/>
              <a:gd name="connsiteY3" fmla="*/ 3599805 h 6899113"/>
              <a:gd name="connsiteX4" fmla="*/ 2251127 w 4711793"/>
              <a:gd name="connsiteY4" fmla="*/ 6878212 h 6899113"/>
              <a:gd name="connsiteX5" fmla="*/ 2433 w 4711793"/>
              <a:gd name="connsiteY5" fmla="*/ 4771380 h 6899113"/>
              <a:gd name="connsiteX0" fmla="*/ 2433 w 4711793"/>
              <a:gd name="connsiteY0" fmla="*/ 4736101 h 6863719"/>
              <a:gd name="connsiteX1" fmla="*/ 1870127 w 4711793"/>
              <a:gd name="connsiteY1" fmla="*/ 333744 h 6863719"/>
              <a:gd name="connsiteX2" fmla="*/ 4422034 w 4711793"/>
              <a:gd name="connsiteY2" fmla="*/ 318306 h 6863719"/>
              <a:gd name="connsiteX3" fmla="*/ 4537921 w 4711793"/>
              <a:gd name="connsiteY3" fmla="*/ 3564526 h 6863719"/>
              <a:gd name="connsiteX4" fmla="*/ 2251127 w 4711793"/>
              <a:gd name="connsiteY4" fmla="*/ 6842933 h 6863719"/>
              <a:gd name="connsiteX5" fmla="*/ 2433 w 4711793"/>
              <a:gd name="connsiteY5" fmla="*/ 4736101 h 6863719"/>
              <a:gd name="connsiteX0" fmla="*/ 2995 w 4712355"/>
              <a:gd name="connsiteY0" fmla="*/ 4417795 h 6545413"/>
              <a:gd name="connsiteX1" fmla="*/ 1870689 w 4712355"/>
              <a:gd name="connsiteY1" fmla="*/ 15438 h 6545413"/>
              <a:gd name="connsiteX2" fmla="*/ 4422596 w 4712355"/>
              <a:gd name="connsiteY2" fmla="*/ 0 h 6545413"/>
              <a:gd name="connsiteX3" fmla="*/ 4538483 w 4712355"/>
              <a:gd name="connsiteY3" fmla="*/ 3246220 h 6545413"/>
              <a:gd name="connsiteX4" fmla="*/ 2251689 w 4712355"/>
              <a:gd name="connsiteY4" fmla="*/ 6524627 h 6545413"/>
              <a:gd name="connsiteX5" fmla="*/ 2995 w 4712355"/>
              <a:gd name="connsiteY5" fmla="*/ 4417795 h 6545413"/>
              <a:gd name="connsiteX0" fmla="*/ 3403 w 4712763"/>
              <a:gd name="connsiteY0" fmla="*/ 4724021 h 6851639"/>
              <a:gd name="connsiteX1" fmla="*/ 1871097 w 4712763"/>
              <a:gd name="connsiteY1" fmla="*/ 321664 h 6851639"/>
              <a:gd name="connsiteX2" fmla="*/ 4423004 w 4712763"/>
              <a:gd name="connsiteY2" fmla="*/ 306226 h 6851639"/>
              <a:gd name="connsiteX3" fmla="*/ 4538891 w 4712763"/>
              <a:gd name="connsiteY3" fmla="*/ 3552446 h 6851639"/>
              <a:gd name="connsiteX4" fmla="*/ 2252097 w 4712763"/>
              <a:gd name="connsiteY4" fmla="*/ 6830853 h 6851639"/>
              <a:gd name="connsiteX5" fmla="*/ 3403 w 4712763"/>
              <a:gd name="connsiteY5" fmla="*/ 4724021 h 6851639"/>
              <a:gd name="connsiteX0" fmla="*/ 3172 w 4712532"/>
              <a:gd name="connsiteY0" fmla="*/ 4417795 h 6545413"/>
              <a:gd name="connsiteX1" fmla="*/ 1870866 w 4712532"/>
              <a:gd name="connsiteY1" fmla="*/ 15438 h 6545413"/>
              <a:gd name="connsiteX2" fmla="*/ 4422773 w 4712532"/>
              <a:gd name="connsiteY2" fmla="*/ 0 h 6545413"/>
              <a:gd name="connsiteX3" fmla="*/ 4538660 w 4712532"/>
              <a:gd name="connsiteY3" fmla="*/ 3246220 h 6545413"/>
              <a:gd name="connsiteX4" fmla="*/ 2251866 w 4712532"/>
              <a:gd name="connsiteY4" fmla="*/ 6524627 h 6545413"/>
              <a:gd name="connsiteX5" fmla="*/ 3172 w 4712532"/>
              <a:gd name="connsiteY5" fmla="*/ 4417795 h 6545413"/>
              <a:gd name="connsiteX0" fmla="*/ 3172 w 4712532"/>
              <a:gd name="connsiteY0" fmla="*/ 4417795 h 6545413"/>
              <a:gd name="connsiteX1" fmla="*/ 1870866 w 4712532"/>
              <a:gd name="connsiteY1" fmla="*/ 15438 h 6545413"/>
              <a:gd name="connsiteX2" fmla="*/ 4422773 w 4712532"/>
              <a:gd name="connsiteY2" fmla="*/ 0 h 6545413"/>
              <a:gd name="connsiteX3" fmla="*/ 4538660 w 4712532"/>
              <a:gd name="connsiteY3" fmla="*/ 3246220 h 6545413"/>
              <a:gd name="connsiteX4" fmla="*/ 2251866 w 4712532"/>
              <a:gd name="connsiteY4" fmla="*/ 6524627 h 6545413"/>
              <a:gd name="connsiteX5" fmla="*/ 3172 w 4712532"/>
              <a:gd name="connsiteY5" fmla="*/ 4417795 h 6545413"/>
              <a:gd name="connsiteX0" fmla="*/ 12060 w 4721420"/>
              <a:gd name="connsiteY0" fmla="*/ 4417795 h 6545413"/>
              <a:gd name="connsiteX1" fmla="*/ 1879754 w 4721420"/>
              <a:gd name="connsiteY1" fmla="*/ 15438 h 6545413"/>
              <a:gd name="connsiteX2" fmla="*/ 4431661 w 4721420"/>
              <a:gd name="connsiteY2" fmla="*/ 0 h 6545413"/>
              <a:gd name="connsiteX3" fmla="*/ 4547548 w 4721420"/>
              <a:gd name="connsiteY3" fmla="*/ 3246220 h 6545413"/>
              <a:gd name="connsiteX4" fmla="*/ 2260754 w 4721420"/>
              <a:gd name="connsiteY4" fmla="*/ 6524627 h 6545413"/>
              <a:gd name="connsiteX5" fmla="*/ 12060 w 4721420"/>
              <a:gd name="connsiteY5" fmla="*/ 4417795 h 6545413"/>
              <a:gd name="connsiteX0" fmla="*/ 17431 w 4726791"/>
              <a:gd name="connsiteY0" fmla="*/ 4417795 h 6545976"/>
              <a:gd name="connsiteX1" fmla="*/ 1885125 w 4726791"/>
              <a:gd name="connsiteY1" fmla="*/ 15438 h 6545976"/>
              <a:gd name="connsiteX2" fmla="*/ 4437032 w 4726791"/>
              <a:gd name="connsiteY2" fmla="*/ 0 h 6545976"/>
              <a:gd name="connsiteX3" fmla="*/ 4552919 w 4726791"/>
              <a:gd name="connsiteY3" fmla="*/ 3246220 h 6545976"/>
              <a:gd name="connsiteX4" fmla="*/ 2266125 w 4726791"/>
              <a:gd name="connsiteY4" fmla="*/ 6524627 h 6545976"/>
              <a:gd name="connsiteX5" fmla="*/ 17431 w 4726791"/>
              <a:gd name="connsiteY5" fmla="*/ 4417795 h 6545976"/>
              <a:gd name="connsiteX0" fmla="*/ 32352 w 4741712"/>
              <a:gd name="connsiteY0" fmla="*/ 4417795 h 6542761"/>
              <a:gd name="connsiteX1" fmla="*/ 1900046 w 4741712"/>
              <a:gd name="connsiteY1" fmla="*/ 15438 h 6542761"/>
              <a:gd name="connsiteX2" fmla="*/ 4451953 w 4741712"/>
              <a:gd name="connsiteY2" fmla="*/ 0 h 6542761"/>
              <a:gd name="connsiteX3" fmla="*/ 4567840 w 4741712"/>
              <a:gd name="connsiteY3" fmla="*/ 3246220 h 6542761"/>
              <a:gd name="connsiteX4" fmla="*/ 2281046 w 4741712"/>
              <a:gd name="connsiteY4" fmla="*/ 6524627 h 6542761"/>
              <a:gd name="connsiteX5" fmla="*/ 32352 w 4741712"/>
              <a:gd name="connsiteY5" fmla="*/ 4417795 h 6542761"/>
              <a:gd name="connsiteX0" fmla="*/ 29235 w 4738595"/>
              <a:gd name="connsiteY0" fmla="*/ 4417795 h 6545413"/>
              <a:gd name="connsiteX1" fmla="*/ 1896929 w 4738595"/>
              <a:gd name="connsiteY1" fmla="*/ 15438 h 6545413"/>
              <a:gd name="connsiteX2" fmla="*/ 4448836 w 4738595"/>
              <a:gd name="connsiteY2" fmla="*/ 0 h 6545413"/>
              <a:gd name="connsiteX3" fmla="*/ 4564723 w 4738595"/>
              <a:gd name="connsiteY3" fmla="*/ 3246220 h 6545413"/>
              <a:gd name="connsiteX4" fmla="*/ 2620829 w 4738595"/>
              <a:gd name="connsiteY4" fmla="*/ 6524627 h 6545413"/>
              <a:gd name="connsiteX5" fmla="*/ 29235 w 4738595"/>
              <a:gd name="connsiteY5" fmla="*/ 4417795 h 6545413"/>
              <a:gd name="connsiteX0" fmla="*/ 23668 w 4733028"/>
              <a:gd name="connsiteY0" fmla="*/ 4417795 h 6545413"/>
              <a:gd name="connsiteX1" fmla="*/ 1891362 w 4733028"/>
              <a:gd name="connsiteY1" fmla="*/ 15438 h 6545413"/>
              <a:gd name="connsiteX2" fmla="*/ 4443269 w 4733028"/>
              <a:gd name="connsiteY2" fmla="*/ 0 h 6545413"/>
              <a:gd name="connsiteX3" fmla="*/ 4559156 w 4733028"/>
              <a:gd name="connsiteY3" fmla="*/ 3246220 h 6545413"/>
              <a:gd name="connsiteX4" fmla="*/ 2615262 w 4733028"/>
              <a:gd name="connsiteY4" fmla="*/ 6524627 h 6545413"/>
              <a:gd name="connsiteX5" fmla="*/ 23668 w 4733028"/>
              <a:gd name="connsiteY5" fmla="*/ 4417795 h 6545413"/>
              <a:gd name="connsiteX0" fmla="*/ 4994 w 4714354"/>
              <a:gd name="connsiteY0" fmla="*/ 4417795 h 6549476"/>
              <a:gd name="connsiteX1" fmla="*/ 1872688 w 4714354"/>
              <a:gd name="connsiteY1" fmla="*/ 15438 h 6549476"/>
              <a:gd name="connsiteX2" fmla="*/ 4424595 w 4714354"/>
              <a:gd name="connsiteY2" fmla="*/ 0 h 6549476"/>
              <a:gd name="connsiteX3" fmla="*/ 4540482 w 4714354"/>
              <a:gd name="connsiteY3" fmla="*/ 3246220 h 6549476"/>
              <a:gd name="connsiteX4" fmla="*/ 2596588 w 4714354"/>
              <a:gd name="connsiteY4" fmla="*/ 6524627 h 6549476"/>
              <a:gd name="connsiteX5" fmla="*/ 4994 w 4714354"/>
              <a:gd name="connsiteY5" fmla="*/ 4417795 h 6549476"/>
              <a:gd name="connsiteX0" fmla="*/ 26445 w 4735805"/>
              <a:gd name="connsiteY0" fmla="*/ 4417795 h 6543881"/>
              <a:gd name="connsiteX1" fmla="*/ 1894139 w 4735805"/>
              <a:gd name="connsiteY1" fmla="*/ 15438 h 6543881"/>
              <a:gd name="connsiteX2" fmla="*/ 4446046 w 4735805"/>
              <a:gd name="connsiteY2" fmla="*/ 0 h 6543881"/>
              <a:gd name="connsiteX3" fmla="*/ 4561933 w 4735805"/>
              <a:gd name="connsiteY3" fmla="*/ 3246220 h 6543881"/>
              <a:gd name="connsiteX4" fmla="*/ 2618039 w 4735805"/>
              <a:gd name="connsiteY4" fmla="*/ 6524627 h 6543881"/>
              <a:gd name="connsiteX5" fmla="*/ 26445 w 4735805"/>
              <a:gd name="connsiteY5" fmla="*/ 4417795 h 6543881"/>
              <a:gd name="connsiteX0" fmla="*/ 26445 w 4735805"/>
              <a:gd name="connsiteY0" fmla="*/ 4417795 h 6524810"/>
              <a:gd name="connsiteX1" fmla="*/ 1894139 w 4735805"/>
              <a:gd name="connsiteY1" fmla="*/ 15438 h 6524810"/>
              <a:gd name="connsiteX2" fmla="*/ 4446046 w 4735805"/>
              <a:gd name="connsiteY2" fmla="*/ 0 h 6524810"/>
              <a:gd name="connsiteX3" fmla="*/ 4561933 w 4735805"/>
              <a:gd name="connsiteY3" fmla="*/ 3246220 h 6524810"/>
              <a:gd name="connsiteX4" fmla="*/ 2618039 w 4735805"/>
              <a:gd name="connsiteY4" fmla="*/ 6524627 h 6524810"/>
              <a:gd name="connsiteX5" fmla="*/ 26445 w 4735805"/>
              <a:gd name="connsiteY5" fmla="*/ 4417795 h 6524810"/>
              <a:gd name="connsiteX0" fmla="*/ 26445 w 4710448"/>
              <a:gd name="connsiteY0" fmla="*/ 4417795 h 6610217"/>
              <a:gd name="connsiteX1" fmla="*/ 1894139 w 4710448"/>
              <a:gd name="connsiteY1" fmla="*/ 15438 h 6610217"/>
              <a:gd name="connsiteX2" fmla="*/ 4446046 w 4710448"/>
              <a:gd name="connsiteY2" fmla="*/ 0 h 6610217"/>
              <a:gd name="connsiteX3" fmla="*/ 4504783 w 4710448"/>
              <a:gd name="connsiteY3" fmla="*/ 5627470 h 6610217"/>
              <a:gd name="connsiteX4" fmla="*/ 2618039 w 4710448"/>
              <a:gd name="connsiteY4" fmla="*/ 6524627 h 6610217"/>
              <a:gd name="connsiteX5" fmla="*/ 26445 w 4710448"/>
              <a:gd name="connsiteY5" fmla="*/ 4417795 h 6610217"/>
              <a:gd name="connsiteX0" fmla="*/ 26445 w 4710448"/>
              <a:gd name="connsiteY0" fmla="*/ 4417795 h 6610217"/>
              <a:gd name="connsiteX1" fmla="*/ 1894139 w 4710448"/>
              <a:gd name="connsiteY1" fmla="*/ 15438 h 6610217"/>
              <a:gd name="connsiteX2" fmla="*/ 4446046 w 4710448"/>
              <a:gd name="connsiteY2" fmla="*/ 0 h 6610217"/>
              <a:gd name="connsiteX3" fmla="*/ 4504783 w 4710448"/>
              <a:gd name="connsiteY3" fmla="*/ 5627470 h 6610217"/>
              <a:gd name="connsiteX4" fmla="*/ 2618039 w 4710448"/>
              <a:gd name="connsiteY4" fmla="*/ 6524627 h 6610217"/>
              <a:gd name="connsiteX5" fmla="*/ 26445 w 4710448"/>
              <a:gd name="connsiteY5" fmla="*/ 4417795 h 6610217"/>
              <a:gd name="connsiteX0" fmla="*/ 26445 w 4681167"/>
              <a:gd name="connsiteY0" fmla="*/ 4417795 h 6610217"/>
              <a:gd name="connsiteX1" fmla="*/ 1894139 w 4681167"/>
              <a:gd name="connsiteY1" fmla="*/ 15438 h 6610217"/>
              <a:gd name="connsiteX2" fmla="*/ 4446046 w 4681167"/>
              <a:gd name="connsiteY2" fmla="*/ 0 h 6610217"/>
              <a:gd name="connsiteX3" fmla="*/ 4504783 w 4681167"/>
              <a:gd name="connsiteY3" fmla="*/ 5627470 h 6610217"/>
              <a:gd name="connsiteX4" fmla="*/ 2618039 w 4681167"/>
              <a:gd name="connsiteY4" fmla="*/ 6524627 h 6610217"/>
              <a:gd name="connsiteX5" fmla="*/ 26445 w 4681167"/>
              <a:gd name="connsiteY5" fmla="*/ 4417795 h 6610217"/>
              <a:gd name="connsiteX0" fmla="*/ 26445 w 4706902"/>
              <a:gd name="connsiteY0" fmla="*/ 4417795 h 6614982"/>
              <a:gd name="connsiteX1" fmla="*/ 1894139 w 4706902"/>
              <a:gd name="connsiteY1" fmla="*/ 15438 h 6614982"/>
              <a:gd name="connsiteX2" fmla="*/ 4446046 w 4706902"/>
              <a:gd name="connsiteY2" fmla="*/ 0 h 6614982"/>
              <a:gd name="connsiteX3" fmla="*/ 4571458 w 4706902"/>
              <a:gd name="connsiteY3" fmla="*/ 5646520 h 6614982"/>
              <a:gd name="connsiteX4" fmla="*/ 2618039 w 4706902"/>
              <a:gd name="connsiteY4" fmla="*/ 6524627 h 6614982"/>
              <a:gd name="connsiteX5" fmla="*/ 26445 w 4706902"/>
              <a:gd name="connsiteY5" fmla="*/ 4417795 h 6614982"/>
              <a:gd name="connsiteX0" fmla="*/ 26445 w 4688588"/>
              <a:gd name="connsiteY0" fmla="*/ 4417795 h 6614982"/>
              <a:gd name="connsiteX1" fmla="*/ 1894139 w 4688588"/>
              <a:gd name="connsiteY1" fmla="*/ 15438 h 6614982"/>
              <a:gd name="connsiteX2" fmla="*/ 4446046 w 4688588"/>
              <a:gd name="connsiteY2" fmla="*/ 0 h 6614982"/>
              <a:gd name="connsiteX3" fmla="*/ 4571458 w 4688588"/>
              <a:gd name="connsiteY3" fmla="*/ 5646520 h 6614982"/>
              <a:gd name="connsiteX4" fmla="*/ 2618039 w 4688588"/>
              <a:gd name="connsiteY4" fmla="*/ 6524627 h 6614982"/>
              <a:gd name="connsiteX5" fmla="*/ 26445 w 4688588"/>
              <a:gd name="connsiteY5" fmla="*/ 4417795 h 6614982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47608 h 6644795"/>
              <a:gd name="connsiteX1" fmla="*/ 1894139 w 4713932"/>
              <a:gd name="connsiteY1" fmla="*/ 45251 h 6644795"/>
              <a:gd name="connsiteX2" fmla="*/ 4446046 w 4713932"/>
              <a:gd name="connsiteY2" fmla="*/ 29813 h 6644795"/>
              <a:gd name="connsiteX3" fmla="*/ 4550821 w 4713932"/>
              <a:gd name="connsiteY3" fmla="*/ 553688 h 6644795"/>
              <a:gd name="connsiteX4" fmla="*/ 4571458 w 4713932"/>
              <a:gd name="connsiteY4" fmla="*/ 5676333 h 6644795"/>
              <a:gd name="connsiteX5" fmla="*/ 2618039 w 4713932"/>
              <a:gd name="connsiteY5" fmla="*/ 6554440 h 6644795"/>
              <a:gd name="connsiteX6" fmla="*/ 26445 w 4713932"/>
              <a:gd name="connsiteY6" fmla="*/ 4447608 h 6644795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5238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28951 h 6626138"/>
              <a:gd name="connsiteX1" fmla="*/ 1894139 w 4713932"/>
              <a:gd name="connsiteY1" fmla="*/ 26594 h 6626138"/>
              <a:gd name="connsiteX2" fmla="*/ 4446046 w 4713932"/>
              <a:gd name="connsiteY2" fmla="*/ 11156 h 6626138"/>
              <a:gd name="connsiteX3" fmla="*/ 4550821 w 4713932"/>
              <a:gd name="connsiteY3" fmla="*/ 128631 h 6626138"/>
              <a:gd name="connsiteX4" fmla="*/ 4571458 w 4713932"/>
              <a:gd name="connsiteY4" fmla="*/ 5657676 h 6626138"/>
              <a:gd name="connsiteX5" fmla="*/ 2618039 w 4713932"/>
              <a:gd name="connsiteY5" fmla="*/ 6535783 h 6626138"/>
              <a:gd name="connsiteX6" fmla="*/ 26445 w 4713932"/>
              <a:gd name="connsiteY6" fmla="*/ 4428951 h 6626138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9590 h 6616777"/>
              <a:gd name="connsiteX1" fmla="*/ 1894139 w 4713932"/>
              <a:gd name="connsiteY1" fmla="*/ 17233 h 6616777"/>
              <a:gd name="connsiteX2" fmla="*/ 4446046 w 4713932"/>
              <a:gd name="connsiteY2" fmla="*/ 1795 h 6616777"/>
              <a:gd name="connsiteX3" fmla="*/ 4550821 w 4713932"/>
              <a:gd name="connsiteY3" fmla="*/ 119270 h 6616777"/>
              <a:gd name="connsiteX4" fmla="*/ 4571458 w 4713932"/>
              <a:gd name="connsiteY4" fmla="*/ 5648315 h 6616777"/>
              <a:gd name="connsiteX5" fmla="*/ 2618039 w 4713932"/>
              <a:gd name="connsiteY5" fmla="*/ 6526422 h 6616777"/>
              <a:gd name="connsiteX6" fmla="*/ 26445 w 4713932"/>
              <a:gd name="connsiteY6" fmla="*/ 4419590 h 6616777"/>
              <a:gd name="connsiteX0" fmla="*/ 26445 w 4713932"/>
              <a:gd name="connsiteY0" fmla="*/ 4419590 h 6616777"/>
              <a:gd name="connsiteX1" fmla="*/ 1894139 w 4713932"/>
              <a:gd name="connsiteY1" fmla="*/ 17233 h 6616777"/>
              <a:gd name="connsiteX2" fmla="*/ 4400326 w 4713932"/>
              <a:gd name="connsiteY2" fmla="*/ 1795 h 6616777"/>
              <a:gd name="connsiteX3" fmla="*/ 4550821 w 4713932"/>
              <a:gd name="connsiteY3" fmla="*/ 119270 h 6616777"/>
              <a:gd name="connsiteX4" fmla="*/ 4571458 w 4713932"/>
              <a:gd name="connsiteY4" fmla="*/ 5648315 h 6616777"/>
              <a:gd name="connsiteX5" fmla="*/ 2618039 w 4713932"/>
              <a:gd name="connsiteY5" fmla="*/ 6526422 h 6616777"/>
              <a:gd name="connsiteX6" fmla="*/ 26445 w 4713932"/>
              <a:gd name="connsiteY6" fmla="*/ 4419590 h 6616777"/>
              <a:gd name="connsiteX0" fmla="*/ 26445 w 4713932"/>
              <a:gd name="connsiteY0" fmla="*/ 4439546 h 6636733"/>
              <a:gd name="connsiteX1" fmla="*/ 1894139 w 4713932"/>
              <a:gd name="connsiteY1" fmla="*/ 37189 h 6636733"/>
              <a:gd name="connsiteX2" fmla="*/ 4374926 w 4713932"/>
              <a:gd name="connsiteY2" fmla="*/ 1431 h 6636733"/>
              <a:gd name="connsiteX3" fmla="*/ 4550821 w 4713932"/>
              <a:gd name="connsiteY3" fmla="*/ 139226 h 6636733"/>
              <a:gd name="connsiteX4" fmla="*/ 4571458 w 4713932"/>
              <a:gd name="connsiteY4" fmla="*/ 5668271 h 6636733"/>
              <a:gd name="connsiteX5" fmla="*/ 2618039 w 4713932"/>
              <a:gd name="connsiteY5" fmla="*/ 6546378 h 6636733"/>
              <a:gd name="connsiteX6" fmla="*/ 26445 w 4713932"/>
              <a:gd name="connsiteY6" fmla="*/ 4439546 h 6636733"/>
              <a:gd name="connsiteX0" fmla="*/ 26445 w 4713932"/>
              <a:gd name="connsiteY0" fmla="*/ 4439063 h 6636250"/>
              <a:gd name="connsiteX1" fmla="*/ 1894139 w 4713932"/>
              <a:gd name="connsiteY1" fmla="*/ 36706 h 6636250"/>
              <a:gd name="connsiteX2" fmla="*/ 4374926 w 4713932"/>
              <a:gd name="connsiteY2" fmla="*/ 948 h 6636250"/>
              <a:gd name="connsiteX3" fmla="*/ 4550821 w 4713932"/>
              <a:gd name="connsiteY3" fmla="*/ 189543 h 6636250"/>
              <a:gd name="connsiteX4" fmla="*/ 4571458 w 4713932"/>
              <a:gd name="connsiteY4" fmla="*/ 5667788 h 6636250"/>
              <a:gd name="connsiteX5" fmla="*/ 2618039 w 4713932"/>
              <a:gd name="connsiteY5" fmla="*/ 6545895 h 6636250"/>
              <a:gd name="connsiteX6" fmla="*/ 26445 w 4713932"/>
              <a:gd name="connsiteY6" fmla="*/ 4439063 h 6636250"/>
              <a:gd name="connsiteX0" fmla="*/ 21007 w 4708494"/>
              <a:gd name="connsiteY0" fmla="*/ 4439063 h 6636250"/>
              <a:gd name="connsiteX1" fmla="*/ 1919181 w 4708494"/>
              <a:gd name="connsiteY1" fmla="*/ 6226 h 6636250"/>
              <a:gd name="connsiteX2" fmla="*/ 4369488 w 4708494"/>
              <a:gd name="connsiteY2" fmla="*/ 948 h 6636250"/>
              <a:gd name="connsiteX3" fmla="*/ 4545383 w 4708494"/>
              <a:gd name="connsiteY3" fmla="*/ 189543 h 6636250"/>
              <a:gd name="connsiteX4" fmla="*/ 4566020 w 4708494"/>
              <a:gd name="connsiteY4" fmla="*/ 5667788 h 6636250"/>
              <a:gd name="connsiteX5" fmla="*/ 2612601 w 4708494"/>
              <a:gd name="connsiteY5" fmla="*/ 6545895 h 6636250"/>
              <a:gd name="connsiteX6" fmla="*/ 21007 w 4708494"/>
              <a:gd name="connsiteY6" fmla="*/ 4439063 h 6636250"/>
              <a:gd name="connsiteX0" fmla="*/ 19363 w 4706850"/>
              <a:gd name="connsiteY0" fmla="*/ 4448077 h 6645264"/>
              <a:gd name="connsiteX1" fmla="*/ 1937857 w 4706850"/>
              <a:gd name="connsiteY1" fmla="*/ 0 h 6645264"/>
              <a:gd name="connsiteX2" fmla="*/ 4367844 w 4706850"/>
              <a:gd name="connsiteY2" fmla="*/ 9962 h 6645264"/>
              <a:gd name="connsiteX3" fmla="*/ 4543739 w 4706850"/>
              <a:gd name="connsiteY3" fmla="*/ 198557 h 6645264"/>
              <a:gd name="connsiteX4" fmla="*/ 4564376 w 4706850"/>
              <a:gd name="connsiteY4" fmla="*/ 5676802 h 6645264"/>
              <a:gd name="connsiteX5" fmla="*/ 2610957 w 4706850"/>
              <a:gd name="connsiteY5" fmla="*/ 6554909 h 6645264"/>
              <a:gd name="connsiteX6" fmla="*/ 19363 w 4706850"/>
              <a:gd name="connsiteY6" fmla="*/ 4448077 h 6645264"/>
              <a:gd name="connsiteX0" fmla="*/ 17092 w 4704579"/>
              <a:gd name="connsiteY0" fmla="*/ 4448077 h 6645264"/>
              <a:gd name="connsiteX1" fmla="*/ 1935586 w 4704579"/>
              <a:gd name="connsiteY1" fmla="*/ 0 h 6645264"/>
              <a:gd name="connsiteX2" fmla="*/ 4365573 w 4704579"/>
              <a:gd name="connsiteY2" fmla="*/ 9962 h 6645264"/>
              <a:gd name="connsiteX3" fmla="*/ 4541468 w 4704579"/>
              <a:gd name="connsiteY3" fmla="*/ 198557 h 6645264"/>
              <a:gd name="connsiteX4" fmla="*/ 4562105 w 4704579"/>
              <a:gd name="connsiteY4" fmla="*/ 5676802 h 6645264"/>
              <a:gd name="connsiteX5" fmla="*/ 2608686 w 4704579"/>
              <a:gd name="connsiteY5" fmla="*/ 6554909 h 6645264"/>
              <a:gd name="connsiteX6" fmla="*/ 17092 w 4704579"/>
              <a:gd name="connsiteY6" fmla="*/ 4448077 h 6645264"/>
              <a:gd name="connsiteX0" fmla="*/ 17092 w 4702381"/>
              <a:gd name="connsiteY0" fmla="*/ 4448077 h 6645264"/>
              <a:gd name="connsiteX1" fmla="*/ 1935586 w 4702381"/>
              <a:gd name="connsiteY1" fmla="*/ 0 h 6645264"/>
              <a:gd name="connsiteX2" fmla="*/ 4365573 w 4702381"/>
              <a:gd name="connsiteY2" fmla="*/ 9962 h 6645264"/>
              <a:gd name="connsiteX3" fmla="*/ 4541468 w 4702381"/>
              <a:gd name="connsiteY3" fmla="*/ 198557 h 6645264"/>
              <a:gd name="connsiteX4" fmla="*/ 4562105 w 4702381"/>
              <a:gd name="connsiteY4" fmla="*/ 5676802 h 6645264"/>
              <a:gd name="connsiteX5" fmla="*/ 2608686 w 4702381"/>
              <a:gd name="connsiteY5" fmla="*/ 6554909 h 6645264"/>
              <a:gd name="connsiteX6" fmla="*/ 17092 w 4702381"/>
              <a:gd name="connsiteY6" fmla="*/ 4448077 h 6645264"/>
              <a:gd name="connsiteX0" fmla="*/ 17092 w 4701301"/>
              <a:gd name="connsiteY0" fmla="*/ 4448077 h 6645264"/>
              <a:gd name="connsiteX1" fmla="*/ 1935586 w 4701301"/>
              <a:gd name="connsiteY1" fmla="*/ 0 h 6645264"/>
              <a:gd name="connsiteX2" fmla="*/ 4365573 w 4701301"/>
              <a:gd name="connsiteY2" fmla="*/ 9962 h 6645264"/>
              <a:gd name="connsiteX3" fmla="*/ 4541468 w 4701301"/>
              <a:gd name="connsiteY3" fmla="*/ 198557 h 6645264"/>
              <a:gd name="connsiteX4" fmla="*/ 4562105 w 4701301"/>
              <a:gd name="connsiteY4" fmla="*/ 5676802 h 6645264"/>
              <a:gd name="connsiteX5" fmla="*/ 2608686 w 4701301"/>
              <a:gd name="connsiteY5" fmla="*/ 6554909 h 6645264"/>
              <a:gd name="connsiteX6" fmla="*/ 17092 w 4701301"/>
              <a:gd name="connsiteY6" fmla="*/ 4448077 h 6645264"/>
              <a:gd name="connsiteX0" fmla="*/ 17092 w 4562105"/>
              <a:gd name="connsiteY0" fmla="*/ 4448077 h 6645264"/>
              <a:gd name="connsiteX1" fmla="*/ 1935586 w 4562105"/>
              <a:gd name="connsiteY1" fmla="*/ 0 h 6645264"/>
              <a:gd name="connsiteX2" fmla="*/ 4365573 w 4562105"/>
              <a:gd name="connsiteY2" fmla="*/ 9962 h 6645264"/>
              <a:gd name="connsiteX3" fmla="*/ 4541468 w 4562105"/>
              <a:gd name="connsiteY3" fmla="*/ 198557 h 6645264"/>
              <a:gd name="connsiteX4" fmla="*/ 4562105 w 4562105"/>
              <a:gd name="connsiteY4" fmla="*/ 5676802 h 6645264"/>
              <a:gd name="connsiteX5" fmla="*/ 2608686 w 4562105"/>
              <a:gd name="connsiteY5" fmla="*/ 6554909 h 6645264"/>
              <a:gd name="connsiteX6" fmla="*/ 17092 w 4562105"/>
              <a:gd name="connsiteY6" fmla="*/ 4448077 h 6645264"/>
              <a:gd name="connsiteX0" fmla="*/ 17092 w 4562105"/>
              <a:gd name="connsiteY0" fmla="*/ 4448077 h 6592556"/>
              <a:gd name="connsiteX1" fmla="*/ 1935586 w 4562105"/>
              <a:gd name="connsiteY1" fmla="*/ 0 h 6592556"/>
              <a:gd name="connsiteX2" fmla="*/ 4365573 w 4562105"/>
              <a:gd name="connsiteY2" fmla="*/ 9962 h 6592556"/>
              <a:gd name="connsiteX3" fmla="*/ 4541468 w 4562105"/>
              <a:gd name="connsiteY3" fmla="*/ 198557 h 6592556"/>
              <a:gd name="connsiteX4" fmla="*/ 4562105 w 4562105"/>
              <a:gd name="connsiteY4" fmla="*/ 5676802 h 6592556"/>
              <a:gd name="connsiteX5" fmla="*/ 2608686 w 4562105"/>
              <a:gd name="connsiteY5" fmla="*/ 6554909 h 6592556"/>
              <a:gd name="connsiteX6" fmla="*/ 17092 w 4562105"/>
              <a:gd name="connsiteY6" fmla="*/ 4448077 h 6592556"/>
              <a:gd name="connsiteX0" fmla="*/ 17092 w 4562105"/>
              <a:gd name="connsiteY0" fmla="*/ 4448077 h 6561473"/>
              <a:gd name="connsiteX1" fmla="*/ 1935586 w 4562105"/>
              <a:gd name="connsiteY1" fmla="*/ 0 h 6561473"/>
              <a:gd name="connsiteX2" fmla="*/ 4365573 w 4562105"/>
              <a:gd name="connsiteY2" fmla="*/ 9962 h 6561473"/>
              <a:gd name="connsiteX3" fmla="*/ 4541468 w 4562105"/>
              <a:gd name="connsiteY3" fmla="*/ 198557 h 6561473"/>
              <a:gd name="connsiteX4" fmla="*/ 4562105 w 4562105"/>
              <a:gd name="connsiteY4" fmla="*/ 5676802 h 6561473"/>
              <a:gd name="connsiteX5" fmla="*/ 2608686 w 4562105"/>
              <a:gd name="connsiteY5" fmla="*/ 6554909 h 6561473"/>
              <a:gd name="connsiteX6" fmla="*/ 17092 w 4562105"/>
              <a:gd name="connsiteY6" fmla="*/ 4448077 h 6561473"/>
              <a:gd name="connsiteX0" fmla="*/ 18334 w 4563347"/>
              <a:gd name="connsiteY0" fmla="*/ 4448077 h 6561473"/>
              <a:gd name="connsiteX1" fmla="*/ 1936828 w 4563347"/>
              <a:gd name="connsiteY1" fmla="*/ 0 h 6561473"/>
              <a:gd name="connsiteX2" fmla="*/ 4366815 w 4563347"/>
              <a:gd name="connsiteY2" fmla="*/ 9962 h 6561473"/>
              <a:gd name="connsiteX3" fmla="*/ 4542710 w 4563347"/>
              <a:gd name="connsiteY3" fmla="*/ 198557 h 6561473"/>
              <a:gd name="connsiteX4" fmla="*/ 4563347 w 4563347"/>
              <a:gd name="connsiteY4" fmla="*/ 5676802 h 6561473"/>
              <a:gd name="connsiteX5" fmla="*/ 2609928 w 4563347"/>
              <a:gd name="connsiteY5" fmla="*/ 6554909 h 6561473"/>
              <a:gd name="connsiteX6" fmla="*/ 18334 w 4563347"/>
              <a:gd name="connsiteY6" fmla="*/ 4448077 h 6561473"/>
              <a:gd name="connsiteX0" fmla="*/ 20715 w 4565728"/>
              <a:gd name="connsiteY0" fmla="*/ 4448077 h 6564701"/>
              <a:gd name="connsiteX1" fmla="*/ 1939209 w 4565728"/>
              <a:gd name="connsiteY1" fmla="*/ 0 h 6564701"/>
              <a:gd name="connsiteX2" fmla="*/ 4369196 w 4565728"/>
              <a:gd name="connsiteY2" fmla="*/ 9962 h 6564701"/>
              <a:gd name="connsiteX3" fmla="*/ 4545091 w 4565728"/>
              <a:gd name="connsiteY3" fmla="*/ 198557 h 6564701"/>
              <a:gd name="connsiteX4" fmla="*/ 4565728 w 4565728"/>
              <a:gd name="connsiteY4" fmla="*/ 5676802 h 6564701"/>
              <a:gd name="connsiteX5" fmla="*/ 2612309 w 4565728"/>
              <a:gd name="connsiteY5" fmla="*/ 6554909 h 6564701"/>
              <a:gd name="connsiteX6" fmla="*/ 1024651 w 4565728"/>
              <a:gd name="connsiteY6" fmla="*/ 6039287 h 6564701"/>
              <a:gd name="connsiteX7" fmla="*/ 20715 w 4565728"/>
              <a:gd name="connsiteY7" fmla="*/ 4448077 h 6564701"/>
              <a:gd name="connsiteX0" fmla="*/ 20715 w 4565728"/>
              <a:gd name="connsiteY0" fmla="*/ 4448077 h 6562037"/>
              <a:gd name="connsiteX1" fmla="*/ 1939209 w 4565728"/>
              <a:gd name="connsiteY1" fmla="*/ 0 h 6562037"/>
              <a:gd name="connsiteX2" fmla="*/ 4369196 w 4565728"/>
              <a:gd name="connsiteY2" fmla="*/ 9962 h 6562037"/>
              <a:gd name="connsiteX3" fmla="*/ 4545091 w 4565728"/>
              <a:gd name="connsiteY3" fmla="*/ 198557 h 6562037"/>
              <a:gd name="connsiteX4" fmla="*/ 4565728 w 4565728"/>
              <a:gd name="connsiteY4" fmla="*/ 5676802 h 6562037"/>
              <a:gd name="connsiteX5" fmla="*/ 2612309 w 4565728"/>
              <a:gd name="connsiteY5" fmla="*/ 6554909 h 6562037"/>
              <a:gd name="connsiteX6" fmla="*/ 1024651 w 4565728"/>
              <a:gd name="connsiteY6" fmla="*/ 6039287 h 6562037"/>
              <a:gd name="connsiteX7" fmla="*/ 20715 w 4565728"/>
              <a:gd name="connsiteY7" fmla="*/ 4448077 h 6562037"/>
              <a:gd name="connsiteX0" fmla="*/ 20715 w 4565728"/>
              <a:gd name="connsiteY0" fmla="*/ 4448077 h 6556271"/>
              <a:gd name="connsiteX1" fmla="*/ 1939209 w 4565728"/>
              <a:gd name="connsiteY1" fmla="*/ 0 h 6556271"/>
              <a:gd name="connsiteX2" fmla="*/ 4369196 w 4565728"/>
              <a:gd name="connsiteY2" fmla="*/ 9962 h 6556271"/>
              <a:gd name="connsiteX3" fmla="*/ 4545091 w 4565728"/>
              <a:gd name="connsiteY3" fmla="*/ 198557 h 6556271"/>
              <a:gd name="connsiteX4" fmla="*/ 4565728 w 4565728"/>
              <a:gd name="connsiteY4" fmla="*/ 5676802 h 6556271"/>
              <a:gd name="connsiteX5" fmla="*/ 2612309 w 4565728"/>
              <a:gd name="connsiteY5" fmla="*/ 6554909 h 6556271"/>
              <a:gd name="connsiteX6" fmla="*/ 1024651 w 4565728"/>
              <a:gd name="connsiteY6" fmla="*/ 6039287 h 6556271"/>
              <a:gd name="connsiteX7" fmla="*/ 20715 w 4565728"/>
              <a:gd name="connsiteY7" fmla="*/ 4448077 h 6556271"/>
              <a:gd name="connsiteX0" fmla="*/ 14580 w 4559593"/>
              <a:gd name="connsiteY0" fmla="*/ 4448077 h 6556271"/>
              <a:gd name="connsiteX1" fmla="*/ 1933074 w 4559593"/>
              <a:gd name="connsiteY1" fmla="*/ 0 h 6556271"/>
              <a:gd name="connsiteX2" fmla="*/ 4363061 w 4559593"/>
              <a:gd name="connsiteY2" fmla="*/ 9962 h 6556271"/>
              <a:gd name="connsiteX3" fmla="*/ 4538956 w 4559593"/>
              <a:gd name="connsiteY3" fmla="*/ 198557 h 6556271"/>
              <a:gd name="connsiteX4" fmla="*/ 4559593 w 4559593"/>
              <a:gd name="connsiteY4" fmla="*/ 5676802 h 6556271"/>
              <a:gd name="connsiteX5" fmla="*/ 2606174 w 4559593"/>
              <a:gd name="connsiteY5" fmla="*/ 6554909 h 6556271"/>
              <a:gd name="connsiteX6" fmla="*/ 1018516 w 4559593"/>
              <a:gd name="connsiteY6" fmla="*/ 6039287 h 6556271"/>
              <a:gd name="connsiteX7" fmla="*/ 14580 w 4559593"/>
              <a:gd name="connsiteY7" fmla="*/ 4448077 h 6556271"/>
              <a:gd name="connsiteX0" fmla="*/ 22013 w 4567026"/>
              <a:gd name="connsiteY0" fmla="*/ 4448077 h 6562037"/>
              <a:gd name="connsiteX1" fmla="*/ 1940507 w 4567026"/>
              <a:gd name="connsiteY1" fmla="*/ 0 h 6562037"/>
              <a:gd name="connsiteX2" fmla="*/ 4370494 w 4567026"/>
              <a:gd name="connsiteY2" fmla="*/ 9962 h 6562037"/>
              <a:gd name="connsiteX3" fmla="*/ 4546389 w 4567026"/>
              <a:gd name="connsiteY3" fmla="*/ 198557 h 6562037"/>
              <a:gd name="connsiteX4" fmla="*/ 4567026 w 4567026"/>
              <a:gd name="connsiteY4" fmla="*/ 5676802 h 6562037"/>
              <a:gd name="connsiteX5" fmla="*/ 2613607 w 4567026"/>
              <a:gd name="connsiteY5" fmla="*/ 6554909 h 6562037"/>
              <a:gd name="connsiteX6" fmla="*/ 1005629 w 4567026"/>
              <a:gd name="connsiteY6" fmla="*/ 6039287 h 6562037"/>
              <a:gd name="connsiteX7" fmla="*/ 22013 w 4567026"/>
              <a:gd name="connsiteY7" fmla="*/ 4448077 h 6562037"/>
              <a:gd name="connsiteX0" fmla="*/ 22013 w 4567026"/>
              <a:gd name="connsiteY0" fmla="*/ 4448077 h 6561948"/>
              <a:gd name="connsiteX1" fmla="*/ 1940507 w 4567026"/>
              <a:gd name="connsiteY1" fmla="*/ 0 h 6561948"/>
              <a:gd name="connsiteX2" fmla="*/ 4370494 w 4567026"/>
              <a:gd name="connsiteY2" fmla="*/ 9962 h 6561948"/>
              <a:gd name="connsiteX3" fmla="*/ 4546389 w 4567026"/>
              <a:gd name="connsiteY3" fmla="*/ 198557 h 6561948"/>
              <a:gd name="connsiteX4" fmla="*/ 4567026 w 4567026"/>
              <a:gd name="connsiteY4" fmla="*/ 5676802 h 6561948"/>
              <a:gd name="connsiteX5" fmla="*/ 2613607 w 4567026"/>
              <a:gd name="connsiteY5" fmla="*/ 6554909 h 6561948"/>
              <a:gd name="connsiteX6" fmla="*/ 1005629 w 4567026"/>
              <a:gd name="connsiteY6" fmla="*/ 6039287 h 6561948"/>
              <a:gd name="connsiteX7" fmla="*/ 22013 w 4567026"/>
              <a:gd name="connsiteY7" fmla="*/ 4448077 h 6561948"/>
              <a:gd name="connsiteX0" fmla="*/ 22013 w 4567026"/>
              <a:gd name="connsiteY0" fmla="*/ 4448077 h 6554958"/>
              <a:gd name="connsiteX1" fmla="*/ 1940507 w 4567026"/>
              <a:gd name="connsiteY1" fmla="*/ 0 h 6554958"/>
              <a:gd name="connsiteX2" fmla="*/ 4370494 w 4567026"/>
              <a:gd name="connsiteY2" fmla="*/ 9962 h 6554958"/>
              <a:gd name="connsiteX3" fmla="*/ 4546389 w 4567026"/>
              <a:gd name="connsiteY3" fmla="*/ 198557 h 6554958"/>
              <a:gd name="connsiteX4" fmla="*/ 4567026 w 4567026"/>
              <a:gd name="connsiteY4" fmla="*/ 5676802 h 6554958"/>
              <a:gd name="connsiteX5" fmla="*/ 2613607 w 4567026"/>
              <a:gd name="connsiteY5" fmla="*/ 6554909 h 6554958"/>
              <a:gd name="connsiteX6" fmla="*/ 1005629 w 4567026"/>
              <a:gd name="connsiteY6" fmla="*/ 6039287 h 6554958"/>
              <a:gd name="connsiteX7" fmla="*/ 22013 w 4567026"/>
              <a:gd name="connsiteY7" fmla="*/ 4448077 h 6554958"/>
              <a:gd name="connsiteX0" fmla="*/ 22013 w 4567026"/>
              <a:gd name="connsiteY0" fmla="*/ 4448077 h 6565849"/>
              <a:gd name="connsiteX1" fmla="*/ 1940507 w 4567026"/>
              <a:gd name="connsiteY1" fmla="*/ 0 h 6565849"/>
              <a:gd name="connsiteX2" fmla="*/ 4370494 w 4567026"/>
              <a:gd name="connsiteY2" fmla="*/ 9962 h 6565849"/>
              <a:gd name="connsiteX3" fmla="*/ 4546389 w 4567026"/>
              <a:gd name="connsiteY3" fmla="*/ 198557 h 6565849"/>
              <a:gd name="connsiteX4" fmla="*/ 4567026 w 4567026"/>
              <a:gd name="connsiteY4" fmla="*/ 5676802 h 6565849"/>
              <a:gd name="connsiteX5" fmla="*/ 3682789 w 4567026"/>
              <a:gd name="connsiteY5" fmla="*/ 6333927 h 6565849"/>
              <a:gd name="connsiteX6" fmla="*/ 2613607 w 4567026"/>
              <a:gd name="connsiteY6" fmla="*/ 6554909 h 6565849"/>
              <a:gd name="connsiteX7" fmla="*/ 1005629 w 4567026"/>
              <a:gd name="connsiteY7" fmla="*/ 6039287 h 6565849"/>
              <a:gd name="connsiteX8" fmla="*/ 22013 w 4567026"/>
              <a:gd name="connsiteY8" fmla="*/ 4448077 h 6565849"/>
              <a:gd name="connsiteX0" fmla="*/ 22013 w 4567026"/>
              <a:gd name="connsiteY0" fmla="*/ 4448077 h 6565849"/>
              <a:gd name="connsiteX1" fmla="*/ 1940507 w 4567026"/>
              <a:gd name="connsiteY1" fmla="*/ 0 h 6565849"/>
              <a:gd name="connsiteX2" fmla="*/ 4370494 w 4567026"/>
              <a:gd name="connsiteY2" fmla="*/ 9962 h 6565849"/>
              <a:gd name="connsiteX3" fmla="*/ 4546389 w 4567026"/>
              <a:gd name="connsiteY3" fmla="*/ 198557 h 6565849"/>
              <a:gd name="connsiteX4" fmla="*/ 4567026 w 4567026"/>
              <a:gd name="connsiteY4" fmla="*/ 5676802 h 6565849"/>
              <a:gd name="connsiteX5" fmla="*/ 3682789 w 4567026"/>
              <a:gd name="connsiteY5" fmla="*/ 6333927 h 6565849"/>
              <a:gd name="connsiteX6" fmla="*/ 2613607 w 4567026"/>
              <a:gd name="connsiteY6" fmla="*/ 6554909 h 6565849"/>
              <a:gd name="connsiteX7" fmla="*/ 1005629 w 4567026"/>
              <a:gd name="connsiteY7" fmla="*/ 6039287 h 6565849"/>
              <a:gd name="connsiteX8" fmla="*/ 22013 w 4567026"/>
              <a:gd name="connsiteY8" fmla="*/ 4448077 h 6565849"/>
              <a:gd name="connsiteX0" fmla="*/ 22013 w 4567026"/>
              <a:gd name="connsiteY0" fmla="*/ 4448077 h 6555026"/>
              <a:gd name="connsiteX1" fmla="*/ 1940507 w 4567026"/>
              <a:gd name="connsiteY1" fmla="*/ 0 h 6555026"/>
              <a:gd name="connsiteX2" fmla="*/ 4370494 w 4567026"/>
              <a:gd name="connsiteY2" fmla="*/ 9962 h 6555026"/>
              <a:gd name="connsiteX3" fmla="*/ 4546389 w 4567026"/>
              <a:gd name="connsiteY3" fmla="*/ 198557 h 6555026"/>
              <a:gd name="connsiteX4" fmla="*/ 4567026 w 4567026"/>
              <a:gd name="connsiteY4" fmla="*/ 5676802 h 6555026"/>
              <a:gd name="connsiteX5" fmla="*/ 3682789 w 4567026"/>
              <a:gd name="connsiteY5" fmla="*/ 6333927 h 6555026"/>
              <a:gd name="connsiteX6" fmla="*/ 2613607 w 4567026"/>
              <a:gd name="connsiteY6" fmla="*/ 6554909 h 6555026"/>
              <a:gd name="connsiteX7" fmla="*/ 1005629 w 4567026"/>
              <a:gd name="connsiteY7" fmla="*/ 6039287 h 6555026"/>
              <a:gd name="connsiteX8" fmla="*/ 22013 w 4567026"/>
              <a:gd name="connsiteY8" fmla="*/ 4448077 h 6555026"/>
              <a:gd name="connsiteX0" fmla="*/ 44498 w 4589511"/>
              <a:gd name="connsiteY0" fmla="*/ 4448077 h 6555026"/>
              <a:gd name="connsiteX1" fmla="*/ 1962992 w 4589511"/>
              <a:gd name="connsiteY1" fmla="*/ 0 h 6555026"/>
              <a:gd name="connsiteX2" fmla="*/ 4392979 w 4589511"/>
              <a:gd name="connsiteY2" fmla="*/ 9962 h 6555026"/>
              <a:gd name="connsiteX3" fmla="*/ 4568874 w 4589511"/>
              <a:gd name="connsiteY3" fmla="*/ 198557 h 6555026"/>
              <a:gd name="connsiteX4" fmla="*/ 4589511 w 4589511"/>
              <a:gd name="connsiteY4" fmla="*/ 5676802 h 6555026"/>
              <a:gd name="connsiteX5" fmla="*/ 3705274 w 4589511"/>
              <a:gd name="connsiteY5" fmla="*/ 6333927 h 6555026"/>
              <a:gd name="connsiteX6" fmla="*/ 2636092 w 4589511"/>
              <a:gd name="connsiteY6" fmla="*/ 6554909 h 6555026"/>
              <a:gd name="connsiteX7" fmla="*/ 1028114 w 4589511"/>
              <a:gd name="connsiteY7" fmla="*/ 6039287 h 6555026"/>
              <a:gd name="connsiteX8" fmla="*/ 44498 w 4589511"/>
              <a:gd name="connsiteY8" fmla="*/ 4448077 h 65550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589511" h="6555026">
                <a:moveTo>
                  <a:pt x="44498" y="4448077"/>
                </a:moveTo>
                <a:cubicBezTo>
                  <a:pt x="-165449" y="3431369"/>
                  <a:pt x="350092" y="1272239"/>
                  <a:pt x="1962992" y="0"/>
                </a:cubicBezTo>
                <a:lnTo>
                  <a:pt x="4392979" y="9962"/>
                </a:lnTo>
                <a:cubicBezTo>
                  <a:pt x="4433804" y="-3724"/>
                  <a:pt x="4576547" y="134405"/>
                  <a:pt x="4568874" y="198557"/>
                </a:cubicBezTo>
                <a:cubicBezTo>
                  <a:pt x="4574536" y="2226764"/>
                  <a:pt x="4581441" y="4495702"/>
                  <a:pt x="4589511" y="5676802"/>
                </a:cubicBezTo>
                <a:cubicBezTo>
                  <a:pt x="4428644" y="5983084"/>
                  <a:pt x="4030844" y="6187576"/>
                  <a:pt x="3705274" y="6333927"/>
                </a:cubicBezTo>
                <a:cubicBezTo>
                  <a:pt x="3379704" y="6480278"/>
                  <a:pt x="3148325" y="6548136"/>
                  <a:pt x="2636092" y="6554909"/>
                </a:cubicBezTo>
                <a:cubicBezTo>
                  <a:pt x="2123859" y="6561682"/>
                  <a:pt x="1343206" y="6273586"/>
                  <a:pt x="1028114" y="6039287"/>
                </a:cubicBezTo>
                <a:cubicBezTo>
                  <a:pt x="596182" y="5688148"/>
                  <a:pt x="254445" y="5464785"/>
                  <a:pt x="44498" y="4448077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lIns="182880" tIns="274320" rIns="274320">
            <a:normAutofit/>
          </a:bodyPr>
          <a:lstStyle>
            <a:lvl1pPr marL="0" indent="0" algn="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A893C5-3725-2BF8-B201-6C4123C131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55849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Slid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4D792B1F-855B-FC83-1023-94C0976E98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443266" y="1841812"/>
            <a:ext cx="4748735" cy="5016187"/>
          </a:xfrm>
          <a:custGeom>
            <a:avLst/>
            <a:gdLst>
              <a:gd name="connsiteX0" fmla="*/ 4348134 w 4748735"/>
              <a:gd name="connsiteY0" fmla="*/ 6 h 5016187"/>
              <a:gd name="connsiteX1" fmla="*/ 4379876 w 4748735"/>
              <a:gd name="connsiteY1" fmla="*/ 485 h 5016187"/>
              <a:gd name="connsiteX2" fmla="*/ 4586242 w 4748735"/>
              <a:gd name="connsiteY2" fmla="*/ 19862 h 5016187"/>
              <a:gd name="connsiteX3" fmla="*/ 4748735 w 4748735"/>
              <a:gd name="connsiteY3" fmla="*/ 55250 h 5016187"/>
              <a:gd name="connsiteX4" fmla="*/ 4748735 w 4748735"/>
              <a:gd name="connsiteY4" fmla="*/ 5016187 h 5016187"/>
              <a:gd name="connsiteX5" fmla="*/ 0 w 4748735"/>
              <a:gd name="connsiteY5" fmla="*/ 5016187 h 5016187"/>
              <a:gd name="connsiteX6" fmla="*/ 11442 w 4748735"/>
              <a:gd name="connsiteY6" fmla="*/ 4915227 h 5016187"/>
              <a:gd name="connsiteX7" fmla="*/ 611678 w 4748735"/>
              <a:gd name="connsiteY7" fmla="*/ 3995309 h 5016187"/>
              <a:gd name="connsiteX8" fmla="*/ 1008000 w 4748735"/>
              <a:gd name="connsiteY8" fmla="*/ 3809158 h 5016187"/>
              <a:gd name="connsiteX9" fmla="*/ 1805189 w 4748735"/>
              <a:gd name="connsiteY9" fmla="*/ 3290046 h 5016187"/>
              <a:gd name="connsiteX10" fmla="*/ 2251863 w 4748735"/>
              <a:gd name="connsiteY10" fmla="*/ 2567459 h 5016187"/>
              <a:gd name="connsiteX11" fmla="*/ 2482829 w 4748735"/>
              <a:gd name="connsiteY11" fmla="*/ 1882499 h 5016187"/>
              <a:gd name="connsiteX12" fmla="*/ 3831730 w 4748735"/>
              <a:gd name="connsiteY12" fmla="*/ 80392 h 5016187"/>
              <a:gd name="connsiteX13" fmla="*/ 4348134 w 4748735"/>
              <a:gd name="connsiteY13" fmla="*/ 6 h 5016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748735" h="5016187">
                <a:moveTo>
                  <a:pt x="4348134" y="6"/>
                </a:moveTo>
                <a:cubicBezTo>
                  <a:pt x="4361273" y="42"/>
                  <a:pt x="4371969" y="256"/>
                  <a:pt x="4379876" y="485"/>
                </a:cubicBezTo>
                <a:cubicBezTo>
                  <a:pt x="4449755" y="2533"/>
                  <a:pt x="4518503" y="9177"/>
                  <a:pt x="4586242" y="19862"/>
                </a:cubicBezTo>
                <a:lnTo>
                  <a:pt x="4748735" y="55250"/>
                </a:lnTo>
                <a:lnTo>
                  <a:pt x="4748735" y="5016187"/>
                </a:lnTo>
                <a:lnTo>
                  <a:pt x="0" y="5016187"/>
                </a:lnTo>
                <a:lnTo>
                  <a:pt x="11442" y="4915227"/>
                </a:lnTo>
                <a:cubicBezTo>
                  <a:pt x="77982" y="4517939"/>
                  <a:pt x="283732" y="4213774"/>
                  <a:pt x="611678" y="3995309"/>
                </a:cubicBezTo>
                <a:cubicBezTo>
                  <a:pt x="736981" y="3911859"/>
                  <a:pt x="873130" y="3863258"/>
                  <a:pt x="1008000" y="3809158"/>
                </a:cubicBezTo>
                <a:cubicBezTo>
                  <a:pt x="1299563" y="3692309"/>
                  <a:pt x="1572137" y="3533688"/>
                  <a:pt x="1805189" y="3290046"/>
                </a:cubicBezTo>
                <a:cubicBezTo>
                  <a:pt x="2001471" y="3085000"/>
                  <a:pt x="2142666" y="2838447"/>
                  <a:pt x="2251863" y="2567459"/>
                </a:cubicBezTo>
                <a:cubicBezTo>
                  <a:pt x="2373799" y="2264838"/>
                  <a:pt x="2424949" y="2076601"/>
                  <a:pt x="2482829" y="1882499"/>
                </a:cubicBezTo>
                <a:cubicBezTo>
                  <a:pt x="2547129" y="1666773"/>
                  <a:pt x="2928871" y="386929"/>
                  <a:pt x="3831730" y="80392"/>
                </a:cubicBezTo>
                <a:cubicBezTo>
                  <a:pt x="4044488" y="8167"/>
                  <a:pt x="4256161" y="-249"/>
                  <a:pt x="4348134" y="6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F359D7C-AC03-77FE-CA1D-B96B46B08D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6993339" y="2334664"/>
            <a:ext cx="2225673" cy="7007393"/>
          </a:xfrm>
          <a:custGeom>
            <a:avLst/>
            <a:gdLst>
              <a:gd name="connsiteX0" fmla="*/ 1603804 w 1693993"/>
              <a:gd name="connsiteY0" fmla="*/ 54 h 5462555"/>
              <a:gd name="connsiteX1" fmla="*/ 1693819 w 1693993"/>
              <a:gd name="connsiteY1" fmla="*/ 10532 h 5462555"/>
              <a:gd name="connsiteX2" fmla="*/ 1678579 w 1693993"/>
              <a:gd name="connsiteY2" fmla="*/ 5418828 h 5462555"/>
              <a:gd name="connsiteX3" fmla="*/ 1176667 w 1693993"/>
              <a:gd name="connsiteY3" fmla="*/ 5429928 h 5462555"/>
              <a:gd name="connsiteX4" fmla="*/ 512297 w 1693993"/>
              <a:gd name="connsiteY4" fmla="*/ 5030409 h 5462555"/>
              <a:gd name="connsiteX5" fmla="*/ 314208 w 1693993"/>
              <a:gd name="connsiteY5" fmla="*/ 4179509 h 5462555"/>
              <a:gd name="connsiteX6" fmla="*/ 429138 w 1693993"/>
              <a:gd name="connsiteY6" fmla="*/ 3898280 h 5462555"/>
              <a:gd name="connsiteX7" fmla="*/ 592360 w 1693993"/>
              <a:gd name="connsiteY7" fmla="*/ 3258731 h 5462555"/>
              <a:gd name="connsiteX8" fmla="*/ 481029 w 1693993"/>
              <a:gd name="connsiteY8" fmla="*/ 2679952 h 5462555"/>
              <a:gd name="connsiteX9" fmla="*/ 277230 w 1693993"/>
              <a:gd name="connsiteY9" fmla="*/ 2221719 h 5462555"/>
              <a:gd name="connsiteX10" fmla="*/ 119523 w 1693993"/>
              <a:gd name="connsiteY10" fmla="*/ 667910 h 5462555"/>
              <a:gd name="connsiteX11" fmla="*/ 361880 w 1693993"/>
              <a:gd name="connsiteY11" fmla="*/ 369606 h 5462555"/>
              <a:gd name="connsiteX12" fmla="*/ 864738 w 1693993"/>
              <a:gd name="connsiteY12" fmla="*/ 104615 h 5462555"/>
              <a:gd name="connsiteX13" fmla="*/ 1513718 w 1693993"/>
              <a:gd name="connsiteY13" fmla="*/ 4215 h 5462555"/>
              <a:gd name="connsiteX14" fmla="*/ 1603804 w 1693993"/>
              <a:gd name="connsiteY14" fmla="*/ 54 h 5462555"/>
              <a:gd name="connsiteX0" fmla="*/ 1693819 w 1785259"/>
              <a:gd name="connsiteY0" fmla="*/ 10532 h 5462555"/>
              <a:gd name="connsiteX1" fmla="*/ 1678579 w 1785259"/>
              <a:gd name="connsiteY1" fmla="*/ 5418828 h 5462555"/>
              <a:gd name="connsiteX2" fmla="*/ 1176667 w 1785259"/>
              <a:gd name="connsiteY2" fmla="*/ 5429928 h 5462555"/>
              <a:gd name="connsiteX3" fmla="*/ 512297 w 1785259"/>
              <a:gd name="connsiteY3" fmla="*/ 5030409 h 5462555"/>
              <a:gd name="connsiteX4" fmla="*/ 314208 w 1785259"/>
              <a:gd name="connsiteY4" fmla="*/ 4179509 h 5462555"/>
              <a:gd name="connsiteX5" fmla="*/ 429138 w 1785259"/>
              <a:gd name="connsiteY5" fmla="*/ 3898280 h 5462555"/>
              <a:gd name="connsiteX6" fmla="*/ 592360 w 1785259"/>
              <a:gd name="connsiteY6" fmla="*/ 3258731 h 5462555"/>
              <a:gd name="connsiteX7" fmla="*/ 481029 w 1785259"/>
              <a:gd name="connsiteY7" fmla="*/ 2679952 h 5462555"/>
              <a:gd name="connsiteX8" fmla="*/ 277230 w 1785259"/>
              <a:gd name="connsiteY8" fmla="*/ 2221719 h 5462555"/>
              <a:gd name="connsiteX9" fmla="*/ 119523 w 1785259"/>
              <a:gd name="connsiteY9" fmla="*/ 667910 h 5462555"/>
              <a:gd name="connsiteX10" fmla="*/ 361880 w 1785259"/>
              <a:gd name="connsiteY10" fmla="*/ 369606 h 5462555"/>
              <a:gd name="connsiteX11" fmla="*/ 864738 w 1785259"/>
              <a:gd name="connsiteY11" fmla="*/ 104615 h 5462555"/>
              <a:gd name="connsiteX12" fmla="*/ 1513718 w 1785259"/>
              <a:gd name="connsiteY12" fmla="*/ 4215 h 5462555"/>
              <a:gd name="connsiteX13" fmla="*/ 1603804 w 1785259"/>
              <a:gd name="connsiteY13" fmla="*/ 54 h 5462555"/>
              <a:gd name="connsiteX14" fmla="*/ 1785259 w 1785259"/>
              <a:gd name="connsiteY14" fmla="*/ 101972 h 5462555"/>
              <a:gd name="connsiteX0" fmla="*/ 1678579 w 1785259"/>
              <a:gd name="connsiteY0" fmla="*/ 5418828 h 5462555"/>
              <a:gd name="connsiteX1" fmla="*/ 1176667 w 1785259"/>
              <a:gd name="connsiteY1" fmla="*/ 5429928 h 5462555"/>
              <a:gd name="connsiteX2" fmla="*/ 512297 w 1785259"/>
              <a:gd name="connsiteY2" fmla="*/ 5030409 h 5462555"/>
              <a:gd name="connsiteX3" fmla="*/ 314208 w 1785259"/>
              <a:gd name="connsiteY3" fmla="*/ 4179509 h 5462555"/>
              <a:gd name="connsiteX4" fmla="*/ 429138 w 1785259"/>
              <a:gd name="connsiteY4" fmla="*/ 3898280 h 5462555"/>
              <a:gd name="connsiteX5" fmla="*/ 592360 w 1785259"/>
              <a:gd name="connsiteY5" fmla="*/ 3258731 h 5462555"/>
              <a:gd name="connsiteX6" fmla="*/ 481029 w 1785259"/>
              <a:gd name="connsiteY6" fmla="*/ 2679952 h 5462555"/>
              <a:gd name="connsiteX7" fmla="*/ 277230 w 1785259"/>
              <a:gd name="connsiteY7" fmla="*/ 2221719 h 5462555"/>
              <a:gd name="connsiteX8" fmla="*/ 119523 w 1785259"/>
              <a:gd name="connsiteY8" fmla="*/ 667910 h 5462555"/>
              <a:gd name="connsiteX9" fmla="*/ 361880 w 1785259"/>
              <a:gd name="connsiteY9" fmla="*/ 369606 h 5462555"/>
              <a:gd name="connsiteX10" fmla="*/ 864738 w 1785259"/>
              <a:gd name="connsiteY10" fmla="*/ 104615 h 5462555"/>
              <a:gd name="connsiteX11" fmla="*/ 1513718 w 1785259"/>
              <a:gd name="connsiteY11" fmla="*/ 4215 h 5462555"/>
              <a:gd name="connsiteX12" fmla="*/ 1603804 w 1785259"/>
              <a:gd name="connsiteY12" fmla="*/ 54 h 5462555"/>
              <a:gd name="connsiteX13" fmla="*/ 1785259 w 1785259"/>
              <a:gd name="connsiteY13" fmla="*/ 101972 h 5462555"/>
              <a:gd name="connsiteX0" fmla="*/ 1678579 w 1785259"/>
              <a:gd name="connsiteY0" fmla="*/ 5416834 h 5460561"/>
              <a:gd name="connsiteX1" fmla="*/ 1176667 w 1785259"/>
              <a:gd name="connsiteY1" fmla="*/ 5427934 h 5460561"/>
              <a:gd name="connsiteX2" fmla="*/ 512297 w 1785259"/>
              <a:gd name="connsiteY2" fmla="*/ 5028415 h 5460561"/>
              <a:gd name="connsiteX3" fmla="*/ 314208 w 1785259"/>
              <a:gd name="connsiteY3" fmla="*/ 4177515 h 5460561"/>
              <a:gd name="connsiteX4" fmla="*/ 429138 w 1785259"/>
              <a:gd name="connsiteY4" fmla="*/ 3896286 h 5460561"/>
              <a:gd name="connsiteX5" fmla="*/ 592360 w 1785259"/>
              <a:gd name="connsiteY5" fmla="*/ 3256737 h 5460561"/>
              <a:gd name="connsiteX6" fmla="*/ 481029 w 1785259"/>
              <a:gd name="connsiteY6" fmla="*/ 2677958 h 5460561"/>
              <a:gd name="connsiteX7" fmla="*/ 277230 w 1785259"/>
              <a:gd name="connsiteY7" fmla="*/ 2219725 h 5460561"/>
              <a:gd name="connsiteX8" fmla="*/ 119523 w 1785259"/>
              <a:gd name="connsiteY8" fmla="*/ 665916 h 5460561"/>
              <a:gd name="connsiteX9" fmla="*/ 361880 w 1785259"/>
              <a:gd name="connsiteY9" fmla="*/ 367612 h 5460561"/>
              <a:gd name="connsiteX10" fmla="*/ 864738 w 1785259"/>
              <a:gd name="connsiteY10" fmla="*/ 102621 h 5460561"/>
              <a:gd name="connsiteX11" fmla="*/ 1513718 w 1785259"/>
              <a:gd name="connsiteY11" fmla="*/ 2221 h 5460561"/>
              <a:gd name="connsiteX12" fmla="*/ 1654604 w 1785259"/>
              <a:gd name="connsiteY12" fmla="*/ 600 h 5460561"/>
              <a:gd name="connsiteX13" fmla="*/ 1785259 w 1785259"/>
              <a:gd name="connsiteY13" fmla="*/ 99978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54604 w 1678579"/>
              <a:gd name="connsiteY12" fmla="*/ 600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72384 w 1678579"/>
              <a:gd name="connsiteY12" fmla="*/ 600 h 5460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678579" h="5460561">
                <a:moveTo>
                  <a:pt x="1678579" y="5416834"/>
                </a:moveTo>
                <a:cubicBezTo>
                  <a:pt x="1542915" y="5445979"/>
                  <a:pt x="1371047" y="5492671"/>
                  <a:pt x="1176667" y="5427934"/>
                </a:cubicBezTo>
                <a:cubicBezTo>
                  <a:pt x="982286" y="5363198"/>
                  <a:pt x="693262" y="5251552"/>
                  <a:pt x="512297" y="5028415"/>
                </a:cubicBezTo>
                <a:cubicBezTo>
                  <a:pt x="300079" y="4766790"/>
                  <a:pt x="240107" y="4481064"/>
                  <a:pt x="314208" y="4177515"/>
                </a:cubicBezTo>
                <a:cubicBezTo>
                  <a:pt x="338992" y="4076042"/>
                  <a:pt x="385683" y="3987268"/>
                  <a:pt x="429138" y="3896286"/>
                </a:cubicBezTo>
                <a:cubicBezTo>
                  <a:pt x="523129" y="3699657"/>
                  <a:pt x="587802" y="3490619"/>
                  <a:pt x="592360" y="3256737"/>
                </a:cubicBezTo>
                <a:cubicBezTo>
                  <a:pt x="596271" y="3059835"/>
                  <a:pt x="552558" y="2867619"/>
                  <a:pt x="481029" y="2677958"/>
                </a:cubicBezTo>
                <a:cubicBezTo>
                  <a:pt x="401147" y="2466162"/>
                  <a:pt x="338847" y="2346021"/>
                  <a:pt x="277230" y="2219725"/>
                </a:cubicBezTo>
                <a:cubicBezTo>
                  <a:pt x="208732" y="2079372"/>
                  <a:pt x="-197504" y="1246569"/>
                  <a:pt x="119523" y="665916"/>
                </a:cubicBezTo>
                <a:cubicBezTo>
                  <a:pt x="204910" y="509544"/>
                  <a:pt x="328718" y="396391"/>
                  <a:pt x="361880" y="367612"/>
                </a:cubicBezTo>
                <a:cubicBezTo>
                  <a:pt x="508452" y="240485"/>
                  <a:pt x="680335" y="159399"/>
                  <a:pt x="864738" y="102621"/>
                </a:cubicBezTo>
                <a:cubicBezTo>
                  <a:pt x="1073505" y="38392"/>
                  <a:pt x="1375267" y="15302"/>
                  <a:pt x="1513718" y="2221"/>
                </a:cubicBezTo>
                <a:cubicBezTo>
                  <a:pt x="1550168" y="-1223"/>
                  <a:pt x="1648423" y="285"/>
                  <a:pt x="1672384" y="60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C9AA487F-3729-4692-1A21-35558A2D84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5880649" cy="6075137"/>
          </a:xfrm>
          <a:custGeom>
            <a:avLst/>
            <a:gdLst>
              <a:gd name="connsiteX0" fmla="*/ 0 w 5880649"/>
              <a:gd name="connsiteY0" fmla="*/ 0 h 6075137"/>
              <a:gd name="connsiteX1" fmla="*/ 5331935 w 5880649"/>
              <a:gd name="connsiteY1" fmla="*/ 0 h 6075137"/>
              <a:gd name="connsiteX2" fmla="*/ 5371238 w 5880649"/>
              <a:gd name="connsiteY2" fmla="*/ 36527 h 6075137"/>
              <a:gd name="connsiteX3" fmla="*/ 5506423 w 5880649"/>
              <a:gd name="connsiteY3" fmla="*/ 197526 h 6075137"/>
              <a:gd name="connsiteX4" fmla="*/ 3912768 w 5880649"/>
              <a:gd name="connsiteY4" fmla="*/ 5218398 h 6075137"/>
              <a:gd name="connsiteX5" fmla="*/ 9712 w 5880649"/>
              <a:gd name="connsiteY5" fmla="*/ 5900494 h 6075137"/>
              <a:gd name="connsiteX6" fmla="*/ 0 w 5880649"/>
              <a:gd name="connsiteY6" fmla="*/ 5897200 h 6075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880649" h="6075137">
                <a:moveTo>
                  <a:pt x="0" y="0"/>
                </a:moveTo>
                <a:lnTo>
                  <a:pt x="5331935" y="0"/>
                </a:lnTo>
                <a:lnTo>
                  <a:pt x="5371238" y="36527"/>
                </a:lnTo>
                <a:cubicBezTo>
                  <a:pt x="5420080" y="87726"/>
                  <a:pt x="5465228" y="141386"/>
                  <a:pt x="5506423" y="197526"/>
                </a:cubicBezTo>
                <a:cubicBezTo>
                  <a:pt x="6380367" y="1388506"/>
                  <a:pt x="5672840" y="3964921"/>
                  <a:pt x="3912768" y="5218398"/>
                </a:cubicBezTo>
                <a:cubicBezTo>
                  <a:pt x="2827232" y="5991466"/>
                  <a:pt x="1288114" y="6299252"/>
                  <a:pt x="9712" y="5900494"/>
                </a:cubicBezTo>
                <a:lnTo>
                  <a:pt x="0" y="5897200"/>
                </a:lnTo>
                <a:close/>
              </a:path>
            </a:pathLst>
          </a:custGeom>
          <a:solidFill>
            <a:schemeClr val="accent4">
              <a:alpha val="45000"/>
            </a:schemeClr>
          </a:solidFill>
          <a:ln w="444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84B8E19A-569B-855B-EBF8-C02F2998A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5137691" cy="3723310"/>
          </a:xfrm>
          <a:custGeom>
            <a:avLst/>
            <a:gdLst>
              <a:gd name="connsiteX0" fmla="*/ 659084 w 5137691"/>
              <a:gd name="connsiteY0" fmla="*/ 2921625 h 3723310"/>
              <a:gd name="connsiteX1" fmla="*/ 431178 w 5137691"/>
              <a:gd name="connsiteY1" fmla="*/ 3187332 h 3723310"/>
              <a:gd name="connsiteX2" fmla="*/ 371969 w 5137691"/>
              <a:gd name="connsiteY2" fmla="*/ 3549893 h 3723310"/>
              <a:gd name="connsiteX3" fmla="*/ 393875 w 5137691"/>
              <a:gd name="connsiteY3" fmla="*/ 3555088 h 3723310"/>
              <a:gd name="connsiteX4" fmla="*/ 659084 w 5137691"/>
              <a:gd name="connsiteY4" fmla="*/ 2921625 h 3723310"/>
              <a:gd name="connsiteX5" fmla="*/ 773656 w 5137691"/>
              <a:gd name="connsiteY5" fmla="*/ 2824142 h 3723310"/>
              <a:gd name="connsiteX6" fmla="*/ 683107 w 5137691"/>
              <a:gd name="connsiteY6" fmla="*/ 3035075 h 3723310"/>
              <a:gd name="connsiteX7" fmla="*/ 523193 w 5137691"/>
              <a:gd name="connsiteY7" fmla="*/ 3444488 h 3723310"/>
              <a:gd name="connsiteX8" fmla="*/ 493950 w 5137691"/>
              <a:gd name="connsiteY8" fmla="*/ 3544616 h 3723310"/>
              <a:gd name="connsiteX9" fmla="*/ 773656 w 5137691"/>
              <a:gd name="connsiteY9" fmla="*/ 2824142 h 3723310"/>
              <a:gd name="connsiteX10" fmla="*/ 906895 w 5137691"/>
              <a:gd name="connsiteY10" fmla="*/ 2579229 h 3723310"/>
              <a:gd name="connsiteX11" fmla="*/ 896608 w 5137691"/>
              <a:gd name="connsiteY11" fmla="*/ 2696939 h 3723310"/>
              <a:gd name="connsiteX12" fmla="*/ 906895 w 5137691"/>
              <a:gd name="connsiteY12" fmla="*/ 2579229 h 3723310"/>
              <a:gd name="connsiteX13" fmla="*/ 1003958 w 5137691"/>
              <a:gd name="connsiteY13" fmla="*/ 2517682 h 3723310"/>
              <a:gd name="connsiteX14" fmla="*/ 1054389 w 5137691"/>
              <a:gd name="connsiteY14" fmla="*/ 3079021 h 3723310"/>
              <a:gd name="connsiteX15" fmla="*/ 1003958 w 5137691"/>
              <a:gd name="connsiteY15" fmla="*/ 2517682 h 3723310"/>
              <a:gd name="connsiteX16" fmla="*/ 744142 w 5137691"/>
              <a:gd name="connsiteY16" fmla="*/ 2402290 h 3723310"/>
              <a:gd name="connsiteX17" fmla="*/ 99596 w 5137691"/>
              <a:gd name="connsiteY17" fmla="*/ 2734878 h 3723310"/>
              <a:gd name="connsiteX18" fmla="*/ 744142 w 5137691"/>
              <a:gd name="connsiteY18" fmla="*/ 2402290 h 3723310"/>
              <a:gd name="connsiteX19" fmla="*/ 1068601 w 5137691"/>
              <a:gd name="connsiteY19" fmla="*/ 2384771 h 3723310"/>
              <a:gd name="connsiteX20" fmla="*/ 1147707 w 5137691"/>
              <a:gd name="connsiteY20" fmla="*/ 3076961 h 3723310"/>
              <a:gd name="connsiteX21" fmla="*/ 1068601 w 5137691"/>
              <a:gd name="connsiteY21" fmla="*/ 2384771 h 3723310"/>
              <a:gd name="connsiteX22" fmla="*/ 934540 w 5137691"/>
              <a:gd name="connsiteY22" fmla="*/ 2375130 h 3723310"/>
              <a:gd name="connsiteX23" fmla="*/ 84219 w 5137691"/>
              <a:gd name="connsiteY23" fmla="*/ 2833186 h 3723310"/>
              <a:gd name="connsiteX24" fmla="*/ 269550 w 5137691"/>
              <a:gd name="connsiteY24" fmla="*/ 2841297 h 3723310"/>
              <a:gd name="connsiteX25" fmla="*/ 695816 w 5137691"/>
              <a:gd name="connsiteY25" fmla="*/ 2669005 h 3723310"/>
              <a:gd name="connsiteX26" fmla="*/ 934540 w 5137691"/>
              <a:gd name="connsiteY26" fmla="*/ 2375130 h 3723310"/>
              <a:gd name="connsiteX27" fmla="*/ 2466566 w 5137691"/>
              <a:gd name="connsiteY27" fmla="*/ 1413263 h 3723310"/>
              <a:gd name="connsiteX28" fmla="*/ 2384187 w 5137691"/>
              <a:gd name="connsiteY28" fmla="*/ 1907493 h 3723310"/>
              <a:gd name="connsiteX29" fmla="*/ 2466566 w 5137691"/>
              <a:gd name="connsiteY29" fmla="*/ 1413263 h 3723310"/>
              <a:gd name="connsiteX30" fmla="*/ 2384254 w 5137691"/>
              <a:gd name="connsiteY30" fmla="*/ 1364070 h 3723310"/>
              <a:gd name="connsiteX31" fmla="*/ 2286288 w 5137691"/>
              <a:gd name="connsiteY31" fmla="*/ 1925023 h 3723310"/>
              <a:gd name="connsiteX32" fmla="*/ 2384254 w 5137691"/>
              <a:gd name="connsiteY32" fmla="*/ 1364070 h 3723310"/>
              <a:gd name="connsiteX33" fmla="*/ 2728377 w 5137691"/>
              <a:gd name="connsiteY33" fmla="*/ 1165380 h 3723310"/>
              <a:gd name="connsiteX34" fmla="*/ 3003048 w 5137691"/>
              <a:gd name="connsiteY34" fmla="*/ 1736253 h 3723310"/>
              <a:gd name="connsiteX35" fmla="*/ 2948375 w 5137691"/>
              <a:gd name="connsiteY35" fmla="*/ 1498255 h 3723310"/>
              <a:gd name="connsiteX36" fmla="*/ 2914601 w 5137691"/>
              <a:gd name="connsiteY36" fmla="*/ 1460919 h 3723310"/>
              <a:gd name="connsiteX37" fmla="*/ 2852040 w 5137691"/>
              <a:gd name="connsiteY37" fmla="*/ 1382206 h 3723310"/>
              <a:gd name="connsiteX38" fmla="*/ 2728377 w 5137691"/>
              <a:gd name="connsiteY38" fmla="*/ 1165380 h 3723310"/>
              <a:gd name="connsiteX39" fmla="*/ 2806912 w 5137691"/>
              <a:gd name="connsiteY39" fmla="*/ 1118837 h 3723310"/>
              <a:gd name="connsiteX40" fmla="*/ 2783682 w 5137691"/>
              <a:gd name="connsiteY40" fmla="*/ 1138236 h 3723310"/>
              <a:gd name="connsiteX41" fmla="*/ 2889384 w 5137691"/>
              <a:gd name="connsiteY41" fmla="*/ 1270224 h 3723310"/>
              <a:gd name="connsiteX42" fmla="*/ 2994783 w 5137691"/>
              <a:gd name="connsiteY42" fmla="*/ 1447738 h 3723310"/>
              <a:gd name="connsiteX43" fmla="*/ 3056463 w 5137691"/>
              <a:gd name="connsiteY43" fmla="*/ 1668888 h 3723310"/>
              <a:gd name="connsiteX44" fmla="*/ 3083513 w 5137691"/>
              <a:gd name="connsiteY44" fmla="*/ 1738721 h 3723310"/>
              <a:gd name="connsiteX45" fmla="*/ 3025360 w 5137691"/>
              <a:gd name="connsiteY45" fmla="*/ 1292428 h 3723310"/>
              <a:gd name="connsiteX46" fmla="*/ 2806912 w 5137691"/>
              <a:gd name="connsiteY46" fmla="*/ 1118837 h 3723310"/>
              <a:gd name="connsiteX47" fmla="*/ 2211503 w 5137691"/>
              <a:gd name="connsiteY47" fmla="*/ 1091728 h 3723310"/>
              <a:gd name="connsiteX48" fmla="*/ 2023347 w 5137691"/>
              <a:gd name="connsiteY48" fmla="*/ 1305252 h 3723310"/>
              <a:gd name="connsiteX49" fmla="*/ 2041522 w 5137691"/>
              <a:gd name="connsiteY49" fmla="*/ 1324054 h 3723310"/>
              <a:gd name="connsiteX50" fmla="*/ 2211503 w 5137691"/>
              <a:gd name="connsiteY50" fmla="*/ 1091728 h 3723310"/>
              <a:gd name="connsiteX51" fmla="*/ 2168237 w 5137691"/>
              <a:gd name="connsiteY51" fmla="*/ 1042670 h 3723310"/>
              <a:gd name="connsiteX52" fmla="*/ 2005655 w 5137691"/>
              <a:gd name="connsiteY52" fmla="*/ 1233134 h 3723310"/>
              <a:gd name="connsiteX53" fmla="*/ 2168237 w 5137691"/>
              <a:gd name="connsiteY53" fmla="*/ 1042670 h 3723310"/>
              <a:gd name="connsiteX54" fmla="*/ 4080539 w 5137691"/>
              <a:gd name="connsiteY54" fmla="*/ 827257 h 3723310"/>
              <a:gd name="connsiteX55" fmla="*/ 4092849 w 5137691"/>
              <a:gd name="connsiteY55" fmla="*/ 1108381 h 3723310"/>
              <a:gd name="connsiteX56" fmla="*/ 4132014 w 5137691"/>
              <a:gd name="connsiteY56" fmla="*/ 1381869 h 3723310"/>
              <a:gd name="connsiteX57" fmla="*/ 4082492 w 5137691"/>
              <a:gd name="connsiteY57" fmla="*/ 1357873 h 3723310"/>
              <a:gd name="connsiteX58" fmla="*/ 4009383 w 5137691"/>
              <a:gd name="connsiteY58" fmla="*/ 893112 h 3723310"/>
              <a:gd name="connsiteX59" fmla="*/ 4072306 w 5137691"/>
              <a:gd name="connsiteY59" fmla="*/ 1761300 h 3723310"/>
              <a:gd name="connsiteX60" fmla="*/ 4080539 w 5137691"/>
              <a:gd name="connsiteY60" fmla="*/ 827257 h 3723310"/>
              <a:gd name="connsiteX61" fmla="*/ 4412492 w 5137691"/>
              <a:gd name="connsiteY61" fmla="*/ 559624 h 3723310"/>
              <a:gd name="connsiteX62" fmla="*/ 4617392 w 5137691"/>
              <a:gd name="connsiteY62" fmla="*/ 890611 h 3723310"/>
              <a:gd name="connsiteX63" fmla="*/ 4369105 w 5137691"/>
              <a:gd name="connsiteY63" fmla="*/ 630629 h 3723310"/>
              <a:gd name="connsiteX64" fmla="*/ 4810227 w 5137691"/>
              <a:gd name="connsiteY64" fmla="*/ 1127284 h 3723310"/>
              <a:gd name="connsiteX65" fmla="*/ 4412492 w 5137691"/>
              <a:gd name="connsiteY65" fmla="*/ 559624 h 3723310"/>
              <a:gd name="connsiteX66" fmla="*/ 3754486 w 5137691"/>
              <a:gd name="connsiteY66" fmla="*/ 313872 h 3723310"/>
              <a:gd name="connsiteX67" fmla="*/ 3673942 w 5137691"/>
              <a:gd name="connsiteY67" fmla="*/ 424963 h 3723310"/>
              <a:gd name="connsiteX68" fmla="*/ 3490493 w 5137691"/>
              <a:gd name="connsiteY68" fmla="*/ 701127 h 3723310"/>
              <a:gd name="connsiteX69" fmla="*/ 3439282 w 5137691"/>
              <a:gd name="connsiteY69" fmla="*/ 732600 h 3723310"/>
              <a:gd name="connsiteX70" fmla="*/ 3421532 w 5137691"/>
              <a:gd name="connsiteY70" fmla="*/ 712866 h 3723310"/>
              <a:gd name="connsiteX71" fmla="*/ 3590235 w 5137691"/>
              <a:gd name="connsiteY71" fmla="*/ 449820 h 3723310"/>
              <a:gd name="connsiteX72" fmla="*/ 3307188 w 5137691"/>
              <a:gd name="connsiteY72" fmla="*/ 911899 h 3723310"/>
              <a:gd name="connsiteX73" fmla="*/ 3393054 w 5137691"/>
              <a:gd name="connsiteY73" fmla="*/ 906465 h 3723310"/>
              <a:gd name="connsiteX74" fmla="*/ 3776927 w 5137691"/>
              <a:gd name="connsiteY74" fmla="*/ 442126 h 3723310"/>
              <a:gd name="connsiteX75" fmla="*/ 3754486 w 5137691"/>
              <a:gd name="connsiteY75" fmla="*/ 313872 h 3723310"/>
              <a:gd name="connsiteX76" fmla="*/ 1133888 w 5137691"/>
              <a:gd name="connsiteY76" fmla="*/ 214876 h 3723310"/>
              <a:gd name="connsiteX77" fmla="*/ 660639 w 5137691"/>
              <a:gd name="connsiteY77" fmla="*/ 863910 h 3723310"/>
              <a:gd name="connsiteX78" fmla="*/ 1108084 w 5137691"/>
              <a:gd name="connsiteY78" fmla="*/ 398665 h 3723310"/>
              <a:gd name="connsiteX79" fmla="*/ 975613 w 5137691"/>
              <a:gd name="connsiteY79" fmla="*/ 557099 h 3723310"/>
              <a:gd name="connsiteX80" fmla="*/ 811923 w 5137691"/>
              <a:gd name="connsiteY80" fmla="*/ 657310 h 3723310"/>
              <a:gd name="connsiteX81" fmla="*/ 998135 w 5137691"/>
              <a:gd name="connsiteY81" fmla="*/ 440657 h 3723310"/>
              <a:gd name="connsiteX82" fmla="*/ 1133888 w 5137691"/>
              <a:gd name="connsiteY82" fmla="*/ 214876 h 3723310"/>
              <a:gd name="connsiteX83" fmla="*/ 4685407 w 5137691"/>
              <a:gd name="connsiteY83" fmla="*/ 0 h 3723310"/>
              <a:gd name="connsiteX84" fmla="*/ 4770408 w 5137691"/>
              <a:gd name="connsiteY84" fmla="*/ 0 h 3723310"/>
              <a:gd name="connsiteX85" fmla="*/ 4810333 w 5137691"/>
              <a:gd name="connsiteY85" fmla="*/ 31801 h 3723310"/>
              <a:gd name="connsiteX86" fmla="*/ 5034638 w 5137691"/>
              <a:gd name="connsiteY86" fmla="*/ 141089 h 3723310"/>
              <a:gd name="connsiteX87" fmla="*/ 5039361 w 5137691"/>
              <a:gd name="connsiteY87" fmla="*/ 18254 h 3723310"/>
              <a:gd name="connsiteX88" fmla="*/ 5037438 w 5137691"/>
              <a:gd name="connsiteY88" fmla="*/ 0 h 3723310"/>
              <a:gd name="connsiteX89" fmla="*/ 5107568 w 5137691"/>
              <a:gd name="connsiteY89" fmla="*/ 0 h 3723310"/>
              <a:gd name="connsiteX90" fmla="*/ 5114876 w 5137691"/>
              <a:gd name="connsiteY90" fmla="*/ 38763 h 3723310"/>
              <a:gd name="connsiteX91" fmla="*/ 5127595 w 5137691"/>
              <a:gd name="connsiteY91" fmla="*/ 236940 h 3723310"/>
              <a:gd name="connsiteX92" fmla="*/ 5061109 w 5137691"/>
              <a:gd name="connsiteY92" fmla="*/ 225505 h 3723310"/>
              <a:gd name="connsiteX93" fmla="*/ 4727085 w 5137691"/>
              <a:gd name="connsiteY93" fmla="*/ 33775 h 3723310"/>
              <a:gd name="connsiteX94" fmla="*/ 4003152 w 5137691"/>
              <a:gd name="connsiteY94" fmla="*/ 0 h 3723310"/>
              <a:gd name="connsiteX95" fmla="*/ 4132176 w 5137691"/>
              <a:gd name="connsiteY95" fmla="*/ 0 h 3723310"/>
              <a:gd name="connsiteX96" fmla="*/ 4123986 w 5137691"/>
              <a:gd name="connsiteY96" fmla="*/ 63465 h 3723310"/>
              <a:gd name="connsiteX97" fmla="*/ 4104583 w 5137691"/>
              <a:gd name="connsiteY97" fmla="*/ 239130 h 3723310"/>
              <a:gd name="connsiteX98" fmla="*/ 4153843 w 5137691"/>
              <a:gd name="connsiteY98" fmla="*/ 350960 h 3723310"/>
              <a:gd name="connsiteX99" fmla="*/ 4411323 w 5137691"/>
              <a:gd name="connsiteY99" fmla="*/ 488238 h 3723310"/>
              <a:gd name="connsiteX100" fmla="*/ 4864485 w 5137691"/>
              <a:gd name="connsiteY100" fmla="*/ 991020 h 3723310"/>
              <a:gd name="connsiteX101" fmla="*/ 4905378 w 5137691"/>
              <a:gd name="connsiteY101" fmla="*/ 1217830 h 3723310"/>
              <a:gd name="connsiteX102" fmla="*/ 4640632 w 5137691"/>
              <a:gd name="connsiteY102" fmla="*/ 1136420 h 3723310"/>
              <a:gd name="connsiteX103" fmla="*/ 4377015 w 5137691"/>
              <a:gd name="connsiteY103" fmla="*/ 870623 h 3723310"/>
              <a:gd name="connsiteX104" fmla="*/ 4304571 w 5137691"/>
              <a:gd name="connsiteY104" fmla="*/ 640549 h 3723310"/>
              <a:gd name="connsiteX105" fmla="*/ 4193118 w 5137691"/>
              <a:gd name="connsiteY105" fmla="*/ 452646 h 3723310"/>
              <a:gd name="connsiteX106" fmla="*/ 4094850 w 5137691"/>
              <a:gd name="connsiteY106" fmla="*/ 385207 h 3723310"/>
              <a:gd name="connsiteX107" fmla="*/ 4089643 w 5137691"/>
              <a:gd name="connsiteY107" fmla="*/ 684043 h 3723310"/>
              <a:gd name="connsiteX108" fmla="*/ 4140489 w 5137691"/>
              <a:gd name="connsiteY108" fmla="*/ 765775 h 3723310"/>
              <a:gd name="connsiteX109" fmla="*/ 4328143 w 5137691"/>
              <a:gd name="connsiteY109" fmla="*/ 1340660 h 3723310"/>
              <a:gd name="connsiteX110" fmla="*/ 4211174 w 5137691"/>
              <a:gd name="connsiteY110" fmla="*/ 1692363 h 3723310"/>
              <a:gd name="connsiteX111" fmla="*/ 4096384 w 5137691"/>
              <a:gd name="connsiteY111" fmla="*/ 1871176 h 3723310"/>
              <a:gd name="connsiteX112" fmla="*/ 4073915 w 5137691"/>
              <a:gd name="connsiteY112" fmla="*/ 1868200 h 3723310"/>
              <a:gd name="connsiteX113" fmla="*/ 3830235 w 5137691"/>
              <a:gd name="connsiteY113" fmla="*/ 1467468 h 3723310"/>
              <a:gd name="connsiteX114" fmla="*/ 3928554 w 5137691"/>
              <a:gd name="connsiteY114" fmla="*/ 872709 h 3723310"/>
              <a:gd name="connsiteX115" fmla="*/ 4041572 w 5137691"/>
              <a:gd name="connsiteY115" fmla="*/ 368957 h 3723310"/>
              <a:gd name="connsiteX116" fmla="*/ 3976315 w 5137691"/>
              <a:gd name="connsiteY116" fmla="*/ 278901 h 3723310"/>
              <a:gd name="connsiteX117" fmla="*/ 4052764 w 5137691"/>
              <a:gd name="connsiteY117" fmla="*/ 245809 h 3723310"/>
              <a:gd name="connsiteX118" fmla="*/ 4077058 w 5137691"/>
              <a:gd name="connsiteY118" fmla="*/ 27371 h 3723310"/>
              <a:gd name="connsiteX119" fmla="*/ 3902474 w 5137691"/>
              <a:gd name="connsiteY119" fmla="*/ 171686 h 3723310"/>
              <a:gd name="connsiteX120" fmla="*/ 3839430 w 5137691"/>
              <a:gd name="connsiteY120" fmla="*/ 359757 h 3723310"/>
              <a:gd name="connsiteX121" fmla="*/ 3511342 w 5137691"/>
              <a:gd name="connsiteY121" fmla="*/ 923585 h 3723310"/>
              <a:gd name="connsiteX122" fmla="*/ 3345310 w 5137691"/>
              <a:gd name="connsiteY122" fmla="*/ 978648 h 3723310"/>
              <a:gd name="connsiteX123" fmla="*/ 3251411 w 5137691"/>
              <a:gd name="connsiteY123" fmla="*/ 912962 h 3723310"/>
              <a:gd name="connsiteX124" fmla="*/ 3294880 w 5137691"/>
              <a:gd name="connsiteY124" fmla="*/ 713104 h 3723310"/>
              <a:gd name="connsiteX125" fmla="*/ 3641287 w 5137691"/>
              <a:gd name="connsiteY125" fmla="*/ 316153 h 3723310"/>
              <a:gd name="connsiteX126" fmla="*/ 3873337 w 5137691"/>
              <a:gd name="connsiteY126" fmla="*/ 115305 h 3723310"/>
              <a:gd name="connsiteX127" fmla="*/ 3954827 w 5137691"/>
              <a:gd name="connsiteY127" fmla="*/ 41083 h 3723310"/>
              <a:gd name="connsiteX128" fmla="*/ 3231589 w 5137691"/>
              <a:gd name="connsiteY128" fmla="*/ 0 h 3723310"/>
              <a:gd name="connsiteX129" fmla="*/ 3312011 w 5137691"/>
              <a:gd name="connsiteY129" fmla="*/ 0 h 3723310"/>
              <a:gd name="connsiteX130" fmla="*/ 3310368 w 5137691"/>
              <a:gd name="connsiteY130" fmla="*/ 16057 h 3723310"/>
              <a:gd name="connsiteX131" fmla="*/ 3356599 w 5137691"/>
              <a:gd name="connsiteY131" fmla="*/ 11189 h 3723310"/>
              <a:gd name="connsiteX132" fmla="*/ 3398860 w 5137691"/>
              <a:gd name="connsiteY132" fmla="*/ 0 h 3723310"/>
              <a:gd name="connsiteX133" fmla="*/ 3521426 w 5137691"/>
              <a:gd name="connsiteY133" fmla="*/ 0 h 3723310"/>
              <a:gd name="connsiteX134" fmla="*/ 3450288 w 5137691"/>
              <a:gd name="connsiteY134" fmla="*/ 40946 h 3723310"/>
              <a:gd name="connsiteX135" fmla="*/ 3224898 w 5137691"/>
              <a:gd name="connsiteY135" fmla="*/ 112320 h 3723310"/>
              <a:gd name="connsiteX136" fmla="*/ 3223079 w 5137691"/>
              <a:gd name="connsiteY136" fmla="*/ 40542 h 3723310"/>
              <a:gd name="connsiteX137" fmla="*/ 2713325 w 5137691"/>
              <a:gd name="connsiteY137" fmla="*/ 0 h 3723310"/>
              <a:gd name="connsiteX138" fmla="*/ 2801116 w 5137691"/>
              <a:gd name="connsiteY138" fmla="*/ 0 h 3723310"/>
              <a:gd name="connsiteX139" fmla="*/ 2771239 w 5137691"/>
              <a:gd name="connsiteY139" fmla="*/ 53358 h 3723310"/>
              <a:gd name="connsiteX140" fmla="*/ 2671323 w 5137691"/>
              <a:gd name="connsiteY140" fmla="*/ 281854 h 3723310"/>
              <a:gd name="connsiteX141" fmla="*/ 2609018 w 5137691"/>
              <a:gd name="connsiteY141" fmla="*/ 557536 h 3723310"/>
              <a:gd name="connsiteX142" fmla="*/ 2606274 w 5137691"/>
              <a:gd name="connsiteY142" fmla="*/ 567991 h 3723310"/>
              <a:gd name="connsiteX143" fmla="*/ 2661306 w 5137691"/>
              <a:gd name="connsiteY143" fmla="*/ 921545 h 3723310"/>
              <a:gd name="connsiteX144" fmla="*/ 2755651 w 5137691"/>
              <a:gd name="connsiteY144" fmla="*/ 1007451 h 3723310"/>
              <a:gd name="connsiteX145" fmla="*/ 2854694 w 5137691"/>
              <a:gd name="connsiteY145" fmla="*/ 1055446 h 3723310"/>
              <a:gd name="connsiteX146" fmla="*/ 3129406 w 5137691"/>
              <a:gd name="connsiteY146" fmla="*/ 1372830 h 3723310"/>
              <a:gd name="connsiteX147" fmla="*/ 3143254 w 5137691"/>
              <a:gd name="connsiteY147" fmla="*/ 1892637 h 3723310"/>
              <a:gd name="connsiteX148" fmla="*/ 2672087 w 5137691"/>
              <a:gd name="connsiteY148" fmla="*/ 1393850 h 3723310"/>
              <a:gd name="connsiteX149" fmla="*/ 2645908 w 5137691"/>
              <a:gd name="connsiteY149" fmla="*/ 1047511 h 3723310"/>
              <a:gd name="connsiteX150" fmla="*/ 2570535 w 5137691"/>
              <a:gd name="connsiteY150" fmla="*/ 1015633 h 3723310"/>
              <a:gd name="connsiteX151" fmla="*/ 2610208 w 5137691"/>
              <a:gd name="connsiteY151" fmla="*/ 945870 h 3723310"/>
              <a:gd name="connsiteX152" fmla="*/ 2538036 w 5137691"/>
              <a:gd name="connsiteY152" fmla="*/ 844360 h 3723310"/>
              <a:gd name="connsiteX153" fmla="*/ 2512867 w 5137691"/>
              <a:gd name="connsiteY153" fmla="*/ 1354598 h 3723310"/>
              <a:gd name="connsiteX154" fmla="*/ 2518702 w 5137691"/>
              <a:gd name="connsiteY154" fmla="*/ 1742111 h 3723310"/>
              <a:gd name="connsiteX155" fmla="*/ 2275616 w 5137691"/>
              <a:gd name="connsiteY155" fmla="*/ 2134783 h 3723310"/>
              <a:gd name="connsiteX156" fmla="*/ 2241266 w 5137691"/>
              <a:gd name="connsiteY156" fmla="*/ 2096736 h 3723310"/>
              <a:gd name="connsiteX157" fmla="*/ 2231827 w 5137691"/>
              <a:gd name="connsiteY157" fmla="*/ 1456335 h 3723310"/>
              <a:gd name="connsiteX158" fmla="*/ 2348810 w 5137691"/>
              <a:gd name="connsiteY158" fmla="*/ 1272217 h 3723310"/>
              <a:gd name="connsiteX159" fmla="*/ 2416218 w 5137691"/>
              <a:gd name="connsiteY159" fmla="*/ 1150005 h 3723310"/>
              <a:gd name="connsiteX160" fmla="*/ 2493456 w 5137691"/>
              <a:gd name="connsiteY160" fmla="*/ 706982 h 3723310"/>
              <a:gd name="connsiteX161" fmla="*/ 2313690 w 5137691"/>
              <a:gd name="connsiteY161" fmla="*/ 991337 h 3723310"/>
              <a:gd name="connsiteX162" fmla="*/ 1985609 w 5137691"/>
              <a:gd name="connsiteY162" fmla="*/ 1408731 h 3723310"/>
              <a:gd name="connsiteX163" fmla="*/ 1918730 w 5137691"/>
              <a:gd name="connsiteY163" fmla="*/ 1208846 h 3723310"/>
              <a:gd name="connsiteX164" fmla="*/ 2213019 w 5137691"/>
              <a:gd name="connsiteY164" fmla="*/ 897616 h 3723310"/>
              <a:gd name="connsiteX165" fmla="*/ 2517219 w 5137691"/>
              <a:gd name="connsiteY165" fmla="*/ 563658 h 3723310"/>
              <a:gd name="connsiteX166" fmla="*/ 2539459 w 5137691"/>
              <a:gd name="connsiteY166" fmla="*/ 513894 h 3723310"/>
              <a:gd name="connsiteX167" fmla="*/ 2702456 w 5137691"/>
              <a:gd name="connsiteY167" fmla="*/ 57291 h 3723310"/>
              <a:gd name="connsiteX168" fmla="*/ 2713671 w 5137691"/>
              <a:gd name="connsiteY168" fmla="*/ 17409 h 3723310"/>
              <a:gd name="connsiteX169" fmla="*/ 2615215 w 5137691"/>
              <a:gd name="connsiteY169" fmla="*/ 0 h 3723310"/>
              <a:gd name="connsiteX170" fmla="*/ 2683886 w 5137691"/>
              <a:gd name="connsiteY170" fmla="*/ 0 h 3723310"/>
              <a:gd name="connsiteX171" fmla="*/ 2615765 w 5137691"/>
              <a:gd name="connsiteY171" fmla="*/ 70449 h 3723310"/>
              <a:gd name="connsiteX172" fmla="*/ 2101714 w 5137691"/>
              <a:gd name="connsiteY172" fmla="*/ 677840 h 3723310"/>
              <a:gd name="connsiteX173" fmla="*/ 1647883 w 5137691"/>
              <a:gd name="connsiteY173" fmla="*/ 1269985 h 3723310"/>
              <a:gd name="connsiteX174" fmla="*/ 1520717 w 5137691"/>
              <a:gd name="connsiteY174" fmla="*/ 1759907 h 3723310"/>
              <a:gd name="connsiteX175" fmla="*/ 1543766 w 5137691"/>
              <a:gd name="connsiteY175" fmla="*/ 1830628 h 3723310"/>
              <a:gd name="connsiteX176" fmla="*/ 1614449 w 5137691"/>
              <a:gd name="connsiteY176" fmla="*/ 2214437 h 3723310"/>
              <a:gd name="connsiteX177" fmla="*/ 1518347 w 5137691"/>
              <a:gd name="connsiteY177" fmla="*/ 2480439 h 3723310"/>
              <a:gd name="connsiteX178" fmla="*/ 1333958 w 5137691"/>
              <a:gd name="connsiteY178" fmla="*/ 2228696 h 3723310"/>
              <a:gd name="connsiteX179" fmla="*/ 1393891 w 5137691"/>
              <a:gd name="connsiteY179" fmla="*/ 1917299 h 3723310"/>
              <a:gd name="connsiteX180" fmla="*/ 1444276 w 5137691"/>
              <a:gd name="connsiteY180" fmla="*/ 1597756 h 3723310"/>
              <a:gd name="connsiteX181" fmla="*/ 1398976 w 5137691"/>
              <a:gd name="connsiteY181" fmla="*/ 1656198 h 3723310"/>
              <a:gd name="connsiteX182" fmla="*/ 1126020 w 5137691"/>
              <a:gd name="connsiteY182" fmla="*/ 2136568 h 3723310"/>
              <a:gd name="connsiteX183" fmla="*/ 1129825 w 5137691"/>
              <a:gd name="connsiteY183" fmla="*/ 2320491 h 3723310"/>
              <a:gd name="connsiteX184" fmla="*/ 1143273 w 5137691"/>
              <a:gd name="connsiteY184" fmla="*/ 2337828 h 3723310"/>
              <a:gd name="connsiteX185" fmla="*/ 1156978 w 5137691"/>
              <a:gd name="connsiteY185" fmla="*/ 3218822 h 3723310"/>
              <a:gd name="connsiteX186" fmla="*/ 1116365 w 5137691"/>
              <a:gd name="connsiteY186" fmla="*/ 3269939 h 3723310"/>
              <a:gd name="connsiteX187" fmla="*/ 883236 w 5137691"/>
              <a:gd name="connsiteY187" fmla="*/ 2779510 h 3723310"/>
              <a:gd name="connsiteX188" fmla="*/ 808845 w 5137691"/>
              <a:gd name="connsiteY188" fmla="*/ 3104380 h 3723310"/>
              <a:gd name="connsiteX189" fmla="*/ 488550 w 5137691"/>
              <a:gd name="connsiteY189" fmla="*/ 3634846 h 3723310"/>
              <a:gd name="connsiteX190" fmla="*/ 328509 w 5137691"/>
              <a:gd name="connsiteY190" fmla="*/ 3719164 h 3723310"/>
              <a:gd name="connsiteX191" fmla="*/ 318672 w 5137691"/>
              <a:gd name="connsiteY191" fmla="*/ 3594817 h 3723310"/>
              <a:gd name="connsiteX192" fmla="*/ 358291 w 5137691"/>
              <a:gd name="connsiteY192" fmla="*/ 3266349 h 3723310"/>
              <a:gd name="connsiteX193" fmla="*/ 517362 w 5137691"/>
              <a:gd name="connsiteY193" fmla="*/ 2959353 h 3723310"/>
              <a:gd name="connsiteX194" fmla="*/ 735958 w 5137691"/>
              <a:gd name="connsiteY194" fmla="*/ 2756462 h 3723310"/>
              <a:gd name="connsiteX195" fmla="*/ 772369 w 5137691"/>
              <a:gd name="connsiteY195" fmla="*/ 2692870 h 3723310"/>
              <a:gd name="connsiteX196" fmla="*/ 156545 w 5137691"/>
              <a:gd name="connsiteY196" fmla="*/ 2921045 h 3723310"/>
              <a:gd name="connsiteX197" fmla="*/ 15585 w 5137691"/>
              <a:gd name="connsiteY197" fmla="*/ 2908337 h 3723310"/>
              <a:gd name="connsiteX198" fmla="*/ 0 w 5137691"/>
              <a:gd name="connsiteY198" fmla="*/ 2902697 h 3723310"/>
              <a:gd name="connsiteX199" fmla="*/ 0 w 5137691"/>
              <a:gd name="connsiteY199" fmla="*/ 2765873 h 3723310"/>
              <a:gd name="connsiteX200" fmla="*/ 29795 w 5137691"/>
              <a:gd name="connsiteY200" fmla="*/ 2717847 h 3723310"/>
              <a:gd name="connsiteX201" fmla="*/ 59962 w 5137691"/>
              <a:gd name="connsiteY201" fmla="*/ 2682291 h 3723310"/>
              <a:gd name="connsiteX202" fmla="*/ 645405 w 5137691"/>
              <a:gd name="connsiteY202" fmla="*/ 2342287 h 3723310"/>
              <a:gd name="connsiteX203" fmla="*/ 1059274 w 5137691"/>
              <a:gd name="connsiteY203" fmla="*/ 2164156 h 3723310"/>
              <a:gd name="connsiteX204" fmla="*/ 1341155 w 5137691"/>
              <a:gd name="connsiteY204" fmla="*/ 1664208 h 3723310"/>
              <a:gd name="connsiteX205" fmla="*/ 1766505 w 5137691"/>
              <a:gd name="connsiteY205" fmla="*/ 1018678 h 3723310"/>
              <a:gd name="connsiteX206" fmla="*/ 1793256 w 5137691"/>
              <a:gd name="connsiteY206" fmla="*/ 954087 h 3723310"/>
              <a:gd name="connsiteX207" fmla="*/ 1622366 w 5137691"/>
              <a:gd name="connsiteY207" fmla="*/ 1076005 h 3723310"/>
              <a:gd name="connsiteX208" fmla="*/ 1088015 w 5137691"/>
              <a:gd name="connsiteY208" fmla="*/ 1538117 h 3723310"/>
              <a:gd name="connsiteX209" fmla="*/ 1047011 w 5137691"/>
              <a:gd name="connsiteY209" fmla="*/ 1614249 h 3723310"/>
              <a:gd name="connsiteX210" fmla="*/ 545270 w 5137691"/>
              <a:gd name="connsiteY210" fmla="*/ 1944692 h 3723310"/>
              <a:gd name="connsiteX211" fmla="*/ 470627 w 5137691"/>
              <a:gd name="connsiteY211" fmla="*/ 1817545 h 3723310"/>
              <a:gd name="connsiteX212" fmla="*/ 879648 w 5137691"/>
              <a:gd name="connsiteY212" fmla="*/ 1544544 h 3723310"/>
              <a:gd name="connsiteX213" fmla="*/ 1100842 w 5137691"/>
              <a:gd name="connsiteY213" fmla="*/ 1445401 h 3723310"/>
              <a:gd name="connsiteX214" fmla="*/ 1437652 w 5137691"/>
              <a:gd name="connsiteY214" fmla="*/ 1110911 h 3723310"/>
              <a:gd name="connsiteX215" fmla="*/ 1208853 w 5137691"/>
              <a:gd name="connsiteY215" fmla="*/ 1171520 h 3723310"/>
              <a:gd name="connsiteX216" fmla="*/ 902537 w 5137691"/>
              <a:gd name="connsiteY216" fmla="*/ 1266085 h 3723310"/>
              <a:gd name="connsiteX217" fmla="*/ 781831 w 5137691"/>
              <a:gd name="connsiteY217" fmla="*/ 1350894 h 3723310"/>
              <a:gd name="connsiteX218" fmla="*/ 429373 w 5137691"/>
              <a:gd name="connsiteY218" fmla="*/ 1606317 h 3723310"/>
              <a:gd name="connsiteX219" fmla="*/ 81275 w 5137691"/>
              <a:gd name="connsiteY219" fmla="*/ 1598286 h 3723310"/>
              <a:gd name="connsiteX220" fmla="*/ 96005 w 5137691"/>
              <a:gd name="connsiteY220" fmla="*/ 1548721 h 3723310"/>
              <a:gd name="connsiteX221" fmla="*/ 587023 w 5137691"/>
              <a:gd name="connsiteY221" fmla="*/ 1202853 h 3723310"/>
              <a:gd name="connsiteX222" fmla="*/ 756337 w 5137691"/>
              <a:gd name="connsiteY222" fmla="*/ 1211585 h 3723310"/>
              <a:gd name="connsiteX223" fmla="*/ 870149 w 5137691"/>
              <a:gd name="connsiteY223" fmla="*/ 1218805 h 3723310"/>
              <a:gd name="connsiteX224" fmla="*/ 1590533 w 5137691"/>
              <a:gd name="connsiteY224" fmla="*/ 1008282 h 3723310"/>
              <a:gd name="connsiteX225" fmla="*/ 1747291 w 5137691"/>
              <a:gd name="connsiteY225" fmla="*/ 908980 h 3723310"/>
              <a:gd name="connsiteX226" fmla="*/ 2359623 w 5137691"/>
              <a:gd name="connsiteY226" fmla="*/ 289630 h 3723310"/>
              <a:gd name="connsiteX227" fmla="*/ 2068468 w 5137691"/>
              <a:gd name="connsiteY227" fmla="*/ 400733 h 3723310"/>
              <a:gd name="connsiteX228" fmla="*/ 1585301 w 5137691"/>
              <a:gd name="connsiteY228" fmla="*/ 660856 h 3723310"/>
              <a:gd name="connsiteX229" fmla="*/ 1332281 w 5137691"/>
              <a:gd name="connsiteY229" fmla="*/ 676980 h 3723310"/>
              <a:gd name="connsiteX230" fmla="*/ 1249799 w 5137691"/>
              <a:gd name="connsiteY230" fmla="*/ 638509 h 3723310"/>
              <a:gd name="connsiteX231" fmla="*/ 1271498 w 5137691"/>
              <a:gd name="connsiteY231" fmla="*/ 563307 h 3723310"/>
              <a:gd name="connsiteX232" fmla="*/ 1416744 w 5137691"/>
              <a:gd name="connsiteY232" fmla="*/ 431576 h 3723310"/>
              <a:gd name="connsiteX233" fmla="*/ 2139805 w 5137691"/>
              <a:gd name="connsiteY233" fmla="*/ 244759 h 3723310"/>
              <a:gd name="connsiteX234" fmla="*/ 2367937 w 5137691"/>
              <a:gd name="connsiteY234" fmla="*/ 211741 h 3723310"/>
              <a:gd name="connsiteX235" fmla="*/ 2480293 w 5137691"/>
              <a:gd name="connsiteY235" fmla="*/ 147221 h 3723310"/>
              <a:gd name="connsiteX236" fmla="*/ 1279469 w 5137691"/>
              <a:gd name="connsiteY236" fmla="*/ 0 h 3723310"/>
              <a:gd name="connsiteX237" fmla="*/ 1426070 w 5137691"/>
              <a:gd name="connsiteY237" fmla="*/ 0 h 3723310"/>
              <a:gd name="connsiteX238" fmla="*/ 1350504 w 5137691"/>
              <a:gd name="connsiteY238" fmla="*/ 33583 h 3723310"/>
              <a:gd name="connsiteX239" fmla="*/ 1284284 w 5137691"/>
              <a:gd name="connsiteY239" fmla="*/ 214818 h 3723310"/>
              <a:gd name="connsiteX240" fmla="*/ 900440 w 5137691"/>
              <a:gd name="connsiteY240" fmla="*/ 800862 h 3723310"/>
              <a:gd name="connsiteX241" fmla="*/ 658158 w 5137691"/>
              <a:gd name="connsiteY241" fmla="*/ 951189 h 3723310"/>
              <a:gd name="connsiteX242" fmla="*/ 598449 w 5137691"/>
              <a:gd name="connsiteY242" fmla="*/ 952495 h 3723310"/>
              <a:gd name="connsiteX243" fmla="*/ 583851 w 5137691"/>
              <a:gd name="connsiteY243" fmla="*/ 884927 h 3723310"/>
              <a:gd name="connsiteX244" fmla="*/ 821592 w 5137691"/>
              <a:gd name="connsiteY244" fmla="*/ 414254 h 3723310"/>
              <a:gd name="connsiteX245" fmla="*/ 1021039 w 5137691"/>
              <a:gd name="connsiteY245" fmla="*/ 198645 h 3723310"/>
              <a:gd name="connsiteX246" fmla="*/ 807695 w 5137691"/>
              <a:gd name="connsiteY246" fmla="*/ 343180 h 3723310"/>
              <a:gd name="connsiteX247" fmla="*/ 581023 w 5137691"/>
              <a:gd name="connsiteY247" fmla="*/ 563784 h 3723310"/>
              <a:gd name="connsiteX248" fmla="*/ 231835 w 5137691"/>
              <a:gd name="connsiteY248" fmla="*/ 748932 h 3723310"/>
              <a:gd name="connsiteX249" fmla="*/ 46357 w 5137691"/>
              <a:gd name="connsiteY249" fmla="*/ 772696 h 3723310"/>
              <a:gd name="connsiteX250" fmla="*/ 0 w 5137691"/>
              <a:gd name="connsiteY250" fmla="*/ 772842 h 3723310"/>
              <a:gd name="connsiteX251" fmla="*/ 0 w 5137691"/>
              <a:gd name="connsiteY251" fmla="*/ 708052 h 3723310"/>
              <a:gd name="connsiteX252" fmla="*/ 89067 w 5137691"/>
              <a:gd name="connsiteY252" fmla="*/ 704930 h 3723310"/>
              <a:gd name="connsiteX253" fmla="*/ 710775 w 5137691"/>
              <a:gd name="connsiteY253" fmla="*/ 339334 h 3723310"/>
              <a:gd name="connsiteX254" fmla="*/ 585997 w 5137691"/>
              <a:gd name="connsiteY254" fmla="*/ 392158 h 3723310"/>
              <a:gd name="connsiteX255" fmla="*/ 527576 w 5137691"/>
              <a:gd name="connsiteY255" fmla="*/ 393598 h 3723310"/>
              <a:gd name="connsiteX256" fmla="*/ 425698 w 5137691"/>
              <a:gd name="connsiteY256" fmla="*/ 384358 h 3723310"/>
              <a:gd name="connsiteX257" fmla="*/ 278288 w 5137691"/>
              <a:gd name="connsiteY257" fmla="*/ 429633 h 3723310"/>
              <a:gd name="connsiteX258" fmla="*/ 43518 w 5137691"/>
              <a:gd name="connsiteY258" fmla="*/ 533227 h 3723310"/>
              <a:gd name="connsiteX259" fmla="*/ 0 w 5137691"/>
              <a:gd name="connsiteY259" fmla="*/ 563132 h 3723310"/>
              <a:gd name="connsiteX260" fmla="*/ 0 w 5137691"/>
              <a:gd name="connsiteY260" fmla="*/ 500322 h 3723310"/>
              <a:gd name="connsiteX261" fmla="*/ 116366 w 5137691"/>
              <a:gd name="connsiteY261" fmla="*/ 435129 h 3723310"/>
              <a:gd name="connsiteX262" fmla="*/ 495997 w 5137691"/>
              <a:gd name="connsiteY262" fmla="*/ 302145 h 3723310"/>
              <a:gd name="connsiteX263" fmla="*/ 876112 w 5137691"/>
              <a:gd name="connsiteY263" fmla="*/ 190158 h 3723310"/>
              <a:gd name="connsiteX264" fmla="*/ 1091828 w 5137691"/>
              <a:gd name="connsiteY264" fmla="*/ 81338 h 37233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</a:cxnLst>
            <a:rect l="l" t="t" r="r" b="b"/>
            <a:pathLst>
              <a:path w="5137691" h="3723310">
                <a:moveTo>
                  <a:pt x="659084" y="2921625"/>
                </a:moveTo>
                <a:cubicBezTo>
                  <a:pt x="558607" y="2987700"/>
                  <a:pt x="461032" y="3063187"/>
                  <a:pt x="431178" y="3187332"/>
                </a:cubicBezTo>
                <a:cubicBezTo>
                  <a:pt x="402231" y="3306039"/>
                  <a:pt x="390750" y="3428832"/>
                  <a:pt x="371969" y="3549893"/>
                </a:cubicBezTo>
                <a:cubicBezTo>
                  <a:pt x="379271" y="3551625"/>
                  <a:pt x="386573" y="3553356"/>
                  <a:pt x="393875" y="3555088"/>
                </a:cubicBezTo>
                <a:cubicBezTo>
                  <a:pt x="517397" y="3361559"/>
                  <a:pt x="596137" y="3148430"/>
                  <a:pt x="659084" y="2921625"/>
                </a:cubicBezTo>
                <a:close/>
                <a:moveTo>
                  <a:pt x="773656" y="2824142"/>
                </a:moveTo>
                <a:cubicBezTo>
                  <a:pt x="742422" y="2894127"/>
                  <a:pt x="699379" y="2961915"/>
                  <a:pt x="683107" y="3035075"/>
                </a:cubicBezTo>
                <a:cubicBezTo>
                  <a:pt x="651273" y="3180817"/>
                  <a:pt x="583685" y="3310821"/>
                  <a:pt x="523193" y="3444488"/>
                </a:cubicBezTo>
                <a:cubicBezTo>
                  <a:pt x="509661" y="3473675"/>
                  <a:pt x="481606" y="3501687"/>
                  <a:pt x="493950" y="3544616"/>
                </a:cubicBezTo>
                <a:cubicBezTo>
                  <a:pt x="645605" y="3422985"/>
                  <a:pt x="806238" y="3031218"/>
                  <a:pt x="773656" y="2824142"/>
                </a:cubicBezTo>
                <a:close/>
                <a:moveTo>
                  <a:pt x="906895" y="2579229"/>
                </a:moveTo>
                <a:cubicBezTo>
                  <a:pt x="866845" y="2628127"/>
                  <a:pt x="847366" y="2655072"/>
                  <a:pt x="896608" y="2696939"/>
                </a:cubicBezTo>
                <a:cubicBezTo>
                  <a:pt x="900018" y="2658893"/>
                  <a:pt x="902398" y="2630504"/>
                  <a:pt x="906895" y="2579229"/>
                </a:cubicBezTo>
                <a:close/>
                <a:moveTo>
                  <a:pt x="1003958" y="2517682"/>
                </a:moveTo>
                <a:cubicBezTo>
                  <a:pt x="932650" y="2713033"/>
                  <a:pt x="918244" y="2902882"/>
                  <a:pt x="1054389" y="3079021"/>
                </a:cubicBezTo>
                <a:cubicBezTo>
                  <a:pt x="1094458" y="2886620"/>
                  <a:pt x="1051674" y="2701918"/>
                  <a:pt x="1003958" y="2517682"/>
                </a:cubicBezTo>
                <a:close/>
                <a:moveTo>
                  <a:pt x="744142" y="2402290"/>
                </a:moveTo>
                <a:cubicBezTo>
                  <a:pt x="490541" y="2432998"/>
                  <a:pt x="123652" y="2658944"/>
                  <a:pt x="99596" y="2734878"/>
                </a:cubicBezTo>
                <a:cubicBezTo>
                  <a:pt x="185767" y="2717435"/>
                  <a:pt x="533003" y="2510933"/>
                  <a:pt x="744142" y="2402290"/>
                </a:cubicBezTo>
                <a:close/>
                <a:moveTo>
                  <a:pt x="1068601" y="2384771"/>
                </a:moveTo>
                <a:cubicBezTo>
                  <a:pt x="1096774" y="2630113"/>
                  <a:pt x="1122050" y="2850752"/>
                  <a:pt x="1147707" y="3076961"/>
                </a:cubicBezTo>
                <a:cubicBezTo>
                  <a:pt x="1252303" y="2856418"/>
                  <a:pt x="1223713" y="2547903"/>
                  <a:pt x="1068601" y="2384771"/>
                </a:cubicBezTo>
                <a:close/>
                <a:moveTo>
                  <a:pt x="934540" y="2375130"/>
                </a:moveTo>
                <a:cubicBezTo>
                  <a:pt x="740562" y="2417539"/>
                  <a:pt x="81585" y="2802976"/>
                  <a:pt x="84219" y="2833186"/>
                </a:cubicBezTo>
                <a:cubicBezTo>
                  <a:pt x="160319" y="2818607"/>
                  <a:pt x="205959" y="2854569"/>
                  <a:pt x="269550" y="2841297"/>
                </a:cubicBezTo>
                <a:cubicBezTo>
                  <a:pt x="421737" y="2809209"/>
                  <a:pt x="567559" y="2760516"/>
                  <a:pt x="695816" y="2669005"/>
                </a:cubicBezTo>
                <a:cubicBezTo>
                  <a:pt x="800830" y="2593963"/>
                  <a:pt x="892710" y="2507798"/>
                  <a:pt x="934540" y="2375130"/>
                </a:cubicBezTo>
                <a:close/>
                <a:moveTo>
                  <a:pt x="2466566" y="1413263"/>
                </a:moveTo>
                <a:cubicBezTo>
                  <a:pt x="2409592" y="1517029"/>
                  <a:pt x="2360285" y="1805120"/>
                  <a:pt x="2384187" y="1907493"/>
                </a:cubicBezTo>
                <a:cubicBezTo>
                  <a:pt x="2461718" y="1745326"/>
                  <a:pt x="2525710" y="1594125"/>
                  <a:pt x="2466566" y="1413263"/>
                </a:cubicBezTo>
                <a:close/>
                <a:moveTo>
                  <a:pt x="2384254" y="1364070"/>
                </a:moveTo>
                <a:cubicBezTo>
                  <a:pt x="2255273" y="1486746"/>
                  <a:pt x="2209761" y="1775879"/>
                  <a:pt x="2286288" y="1925023"/>
                </a:cubicBezTo>
                <a:cubicBezTo>
                  <a:pt x="2320549" y="1729094"/>
                  <a:pt x="2352079" y="1546548"/>
                  <a:pt x="2384254" y="1364070"/>
                </a:cubicBezTo>
                <a:close/>
                <a:moveTo>
                  <a:pt x="2728377" y="1165380"/>
                </a:moveTo>
                <a:cubicBezTo>
                  <a:pt x="2703165" y="1468655"/>
                  <a:pt x="2783295" y="1657220"/>
                  <a:pt x="3003048" y="1736253"/>
                </a:cubicBezTo>
                <a:cubicBezTo>
                  <a:pt x="2983797" y="1651282"/>
                  <a:pt x="2967944" y="1574148"/>
                  <a:pt x="2948375" y="1498255"/>
                </a:cubicBezTo>
                <a:cubicBezTo>
                  <a:pt x="2944448" y="1483206"/>
                  <a:pt x="2927767" y="1462606"/>
                  <a:pt x="2914601" y="1460919"/>
                </a:cubicBezTo>
                <a:cubicBezTo>
                  <a:pt x="2865087" y="1455145"/>
                  <a:pt x="2864197" y="1414703"/>
                  <a:pt x="2852040" y="1382206"/>
                </a:cubicBezTo>
                <a:cubicBezTo>
                  <a:pt x="2822951" y="1304027"/>
                  <a:pt x="2795931" y="1224761"/>
                  <a:pt x="2728377" y="1165380"/>
                </a:cubicBezTo>
                <a:close/>
                <a:moveTo>
                  <a:pt x="2806912" y="1118837"/>
                </a:moveTo>
                <a:cubicBezTo>
                  <a:pt x="2799361" y="1125540"/>
                  <a:pt x="2791522" y="1131888"/>
                  <a:pt x="2783682" y="1138236"/>
                </a:cubicBezTo>
                <a:cubicBezTo>
                  <a:pt x="2819346" y="1182277"/>
                  <a:pt x="2857859" y="1224009"/>
                  <a:pt x="2889384" y="1270224"/>
                </a:cubicBezTo>
                <a:cubicBezTo>
                  <a:pt x="2927893" y="1327250"/>
                  <a:pt x="2968978" y="1384542"/>
                  <a:pt x="2994783" y="1447738"/>
                </a:cubicBezTo>
                <a:cubicBezTo>
                  <a:pt x="3023409" y="1518060"/>
                  <a:pt x="3035688" y="1595149"/>
                  <a:pt x="3056463" y="1668888"/>
                </a:cubicBezTo>
                <a:cubicBezTo>
                  <a:pt x="3062346" y="1689998"/>
                  <a:pt x="3072233" y="1710219"/>
                  <a:pt x="3083513" y="1738721"/>
                </a:cubicBezTo>
                <a:cubicBezTo>
                  <a:pt x="3137166" y="1611180"/>
                  <a:pt x="3091191" y="1465523"/>
                  <a:pt x="3025360" y="1292428"/>
                </a:cubicBezTo>
                <a:cubicBezTo>
                  <a:pt x="2986728" y="1190809"/>
                  <a:pt x="2910047" y="1137644"/>
                  <a:pt x="2806912" y="1118837"/>
                </a:cubicBezTo>
                <a:close/>
                <a:moveTo>
                  <a:pt x="2211503" y="1091728"/>
                </a:moveTo>
                <a:cubicBezTo>
                  <a:pt x="2148880" y="1163020"/>
                  <a:pt x="2085901" y="1234603"/>
                  <a:pt x="2023347" y="1305252"/>
                </a:cubicBezTo>
                <a:cubicBezTo>
                  <a:pt x="2029524" y="1311423"/>
                  <a:pt x="2035344" y="1317883"/>
                  <a:pt x="2041522" y="1324054"/>
                </a:cubicBezTo>
                <a:cubicBezTo>
                  <a:pt x="2123089" y="1267411"/>
                  <a:pt x="2189944" y="1199160"/>
                  <a:pt x="2211503" y="1091728"/>
                </a:cubicBezTo>
                <a:close/>
                <a:moveTo>
                  <a:pt x="2168237" y="1042670"/>
                </a:moveTo>
                <a:cubicBezTo>
                  <a:pt x="2064027" y="1088835"/>
                  <a:pt x="1975743" y="1196196"/>
                  <a:pt x="2005655" y="1233134"/>
                </a:cubicBezTo>
                <a:cubicBezTo>
                  <a:pt x="2059945" y="1169764"/>
                  <a:pt x="2113948" y="1106040"/>
                  <a:pt x="2168237" y="1042670"/>
                </a:cubicBezTo>
                <a:close/>
                <a:moveTo>
                  <a:pt x="4080539" y="827257"/>
                </a:moveTo>
                <a:cubicBezTo>
                  <a:pt x="4084837" y="927276"/>
                  <a:pt x="4086520" y="1018239"/>
                  <a:pt x="4092849" y="1108381"/>
                </a:cubicBezTo>
                <a:cubicBezTo>
                  <a:pt x="4098739" y="1196525"/>
                  <a:pt x="4139226" y="1280764"/>
                  <a:pt x="4132014" y="1381869"/>
                </a:cubicBezTo>
                <a:cubicBezTo>
                  <a:pt x="4106287" y="1369772"/>
                  <a:pt x="4083600" y="1365797"/>
                  <a:pt x="4082492" y="1357873"/>
                </a:cubicBezTo>
                <a:cubicBezTo>
                  <a:pt x="4056497" y="1201916"/>
                  <a:pt x="4032572" y="1044872"/>
                  <a:pt x="4009383" y="893112"/>
                </a:cubicBezTo>
                <a:cubicBezTo>
                  <a:pt x="3803072" y="1026659"/>
                  <a:pt x="3783229" y="1462605"/>
                  <a:pt x="4072306" y="1761300"/>
                </a:cubicBezTo>
                <a:cubicBezTo>
                  <a:pt x="4323615" y="1532508"/>
                  <a:pt x="4336833" y="987842"/>
                  <a:pt x="4080539" y="827257"/>
                </a:cubicBezTo>
                <a:close/>
                <a:moveTo>
                  <a:pt x="4412492" y="559624"/>
                </a:moveTo>
                <a:cubicBezTo>
                  <a:pt x="4471574" y="677026"/>
                  <a:pt x="4612948" y="740139"/>
                  <a:pt x="4617392" y="890611"/>
                </a:cubicBezTo>
                <a:cubicBezTo>
                  <a:pt x="4535846" y="803751"/>
                  <a:pt x="4473401" y="702597"/>
                  <a:pt x="4369105" y="630629"/>
                </a:cubicBezTo>
                <a:cubicBezTo>
                  <a:pt x="4414386" y="929157"/>
                  <a:pt x="4538645" y="1085518"/>
                  <a:pt x="4810227" y="1127284"/>
                </a:cubicBezTo>
                <a:cubicBezTo>
                  <a:pt x="4805222" y="799081"/>
                  <a:pt x="4657265" y="587227"/>
                  <a:pt x="4412492" y="559624"/>
                </a:cubicBezTo>
                <a:close/>
                <a:moveTo>
                  <a:pt x="3754486" y="313872"/>
                </a:moveTo>
                <a:cubicBezTo>
                  <a:pt x="3725125" y="354113"/>
                  <a:pt x="3698314" y="388762"/>
                  <a:pt x="3673942" y="424963"/>
                </a:cubicBezTo>
                <a:cubicBezTo>
                  <a:pt x="3612340" y="517188"/>
                  <a:pt x="3553245" y="610323"/>
                  <a:pt x="3490493" y="701127"/>
                </a:cubicBezTo>
                <a:cubicBezTo>
                  <a:pt x="3480117" y="715999"/>
                  <a:pt x="3456974" y="722390"/>
                  <a:pt x="3439282" y="732600"/>
                </a:cubicBezTo>
                <a:cubicBezTo>
                  <a:pt x="3433461" y="726140"/>
                  <a:pt x="3427353" y="719325"/>
                  <a:pt x="3421532" y="712866"/>
                </a:cubicBezTo>
                <a:cubicBezTo>
                  <a:pt x="3477433" y="625258"/>
                  <a:pt x="3533978" y="537716"/>
                  <a:pt x="3590235" y="449820"/>
                </a:cubicBezTo>
                <a:cubicBezTo>
                  <a:pt x="3445501" y="567611"/>
                  <a:pt x="3321917" y="697678"/>
                  <a:pt x="3307188" y="911899"/>
                </a:cubicBezTo>
                <a:cubicBezTo>
                  <a:pt x="3350443" y="909215"/>
                  <a:pt x="3372692" y="911193"/>
                  <a:pt x="3393054" y="906465"/>
                </a:cubicBezTo>
                <a:cubicBezTo>
                  <a:pt x="3586019" y="861349"/>
                  <a:pt x="3761528" y="650421"/>
                  <a:pt x="3776927" y="442126"/>
                </a:cubicBezTo>
                <a:cubicBezTo>
                  <a:pt x="3779544" y="402372"/>
                  <a:pt x="3797794" y="356426"/>
                  <a:pt x="3754486" y="313872"/>
                </a:cubicBezTo>
                <a:close/>
                <a:moveTo>
                  <a:pt x="1133888" y="214876"/>
                </a:moveTo>
                <a:cubicBezTo>
                  <a:pt x="887880" y="363516"/>
                  <a:pt x="748401" y="587609"/>
                  <a:pt x="660639" y="863910"/>
                </a:cubicBezTo>
                <a:cubicBezTo>
                  <a:pt x="834432" y="833731"/>
                  <a:pt x="1048293" y="611152"/>
                  <a:pt x="1108084" y="398665"/>
                </a:cubicBezTo>
                <a:cubicBezTo>
                  <a:pt x="1059427" y="458062"/>
                  <a:pt x="1022910" y="513507"/>
                  <a:pt x="975613" y="557099"/>
                </a:cubicBezTo>
                <a:cubicBezTo>
                  <a:pt x="933375" y="596008"/>
                  <a:pt x="912619" y="674562"/>
                  <a:pt x="811923" y="657310"/>
                </a:cubicBezTo>
                <a:cubicBezTo>
                  <a:pt x="880947" y="577893"/>
                  <a:pt x="943595" y="512460"/>
                  <a:pt x="998135" y="440657"/>
                </a:cubicBezTo>
                <a:cubicBezTo>
                  <a:pt x="1051468" y="371005"/>
                  <a:pt x="1111390" y="303663"/>
                  <a:pt x="1133888" y="214876"/>
                </a:cubicBezTo>
                <a:close/>
                <a:moveTo>
                  <a:pt x="4685407" y="0"/>
                </a:moveTo>
                <a:lnTo>
                  <a:pt x="4770408" y="0"/>
                </a:lnTo>
                <a:lnTo>
                  <a:pt x="4810333" y="31801"/>
                </a:lnTo>
                <a:cubicBezTo>
                  <a:pt x="4876282" y="76585"/>
                  <a:pt x="4951954" y="113661"/>
                  <a:pt x="5034638" y="141089"/>
                </a:cubicBezTo>
                <a:cubicBezTo>
                  <a:pt x="5039118" y="98355"/>
                  <a:pt x="5040613" y="57376"/>
                  <a:pt x="5039361" y="18254"/>
                </a:cubicBezTo>
                <a:lnTo>
                  <a:pt x="5037438" y="0"/>
                </a:lnTo>
                <a:lnTo>
                  <a:pt x="5107568" y="0"/>
                </a:lnTo>
                <a:lnTo>
                  <a:pt x="5114876" y="38763"/>
                </a:lnTo>
                <a:cubicBezTo>
                  <a:pt x="5131015" y="116852"/>
                  <a:pt x="5149658" y="204078"/>
                  <a:pt x="5127595" y="236940"/>
                </a:cubicBezTo>
                <a:cubicBezTo>
                  <a:pt x="5104066" y="253053"/>
                  <a:pt x="5080177" y="235939"/>
                  <a:pt x="5061109" y="225505"/>
                </a:cubicBezTo>
                <a:cubicBezTo>
                  <a:pt x="4948205" y="164036"/>
                  <a:pt x="4831175" y="107673"/>
                  <a:pt x="4727085" y="33775"/>
                </a:cubicBezTo>
                <a:close/>
                <a:moveTo>
                  <a:pt x="4003152" y="0"/>
                </a:moveTo>
                <a:lnTo>
                  <a:pt x="4132176" y="0"/>
                </a:lnTo>
                <a:lnTo>
                  <a:pt x="4123986" y="63465"/>
                </a:lnTo>
                <a:cubicBezTo>
                  <a:pt x="4116445" y="121909"/>
                  <a:pt x="4114343" y="181241"/>
                  <a:pt x="4104583" y="239130"/>
                </a:cubicBezTo>
                <a:cubicBezTo>
                  <a:pt x="4096291" y="289362"/>
                  <a:pt x="4114806" y="320238"/>
                  <a:pt x="4153843" y="350960"/>
                </a:cubicBezTo>
                <a:cubicBezTo>
                  <a:pt x="4231988" y="411761"/>
                  <a:pt x="4309231" y="462707"/>
                  <a:pt x="4411323" y="488238"/>
                </a:cubicBezTo>
                <a:cubicBezTo>
                  <a:pt x="4669771" y="552400"/>
                  <a:pt x="4834954" y="712670"/>
                  <a:pt x="4864485" y="991020"/>
                </a:cubicBezTo>
                <a:cubicBezTo>
                  <a:pt x="4872093" y="1063071"/>
                  <a:pt x="4919109" y="1168486"/>
                  <a:pt x="4905378" y="1217830"/>
                </a:cubicBezTo>
                <a:cubicBezTo>
                  <a:pt x="4862796" y="1259957"/>
                  <a:pt x="4723238" y="1170674"/>
                  <a:pt x="4640632" y="1136420"/>
                </a:cubicBezTo>
                <a:cubicBezTo>
                  <a:pt x="4517477" y="1085606"/>
                  <a:pt x="4422352" y="1000920"/>
                  <a:pt x="4377015" y="870623"/>
                </a:cubicBezTo>
                <a:cubicBezTo>
                  <a:pt x="4350652" y="794353"/>
                  <a:pt x="4311848" y="718748"/>
                  <a:pt x="4304571" y="640549"/>
                </a:cubicBezTo>
                <a:cubicBezTo>
                  <a:pt x="4296254" y="553781"/>
                  <a:pt x="4253045" y="501149"/>
                  <a:pt x="4193118" y="452646"/>
                </a:cubicBezTo>
                <a:cubicBezTo>
                  <a:pt x="4167929" y="432468"/>
                  <a:pt x="4140395" y="415952"/>
                  <a:pt x="4094850" y="385207"/>
                </a:cubicBezTo>
                <a:cubicBezTo>
                  <a:pt x="4091977" y="497501"/>
                  <a:pt x="4085233" y="591171"/>
                  <a:pt x="4089643" y="684043"/>
                </a:cubicBezTo>
                <a:cubicBezTo>
                  <a:pt x="4091196" y="712189"/>
                  <a:pt x="4119287" y="741779"/>
                  <a:pt x="4140489" y="765775"/>
                </a:cubicBezTo>
                <a:cubicBezTo>
                  <a:pt x="4286309" y="930549"/>
                  <a:pt x="4318661" y="1133697"/>
                  <a:pt x="4328143" y="1340660"/>
                </a:cubicBezTo>
                <a:cubicBezTo>
                  <a:pt x="4334062" y="1468181"/>
                  <a:pt x="4280576" y="1585001"/>
                  <a:pt x="4211174" y="1692363"/>
                </a:cubicBezTo>
                <a:cubicBezTo>
                  <a:pt x="4173738" y="1750318"/>
                  <a:pt x="4136658" y="1807983"/>
                  <a:pt x="4096384" y="1871176"/>
                </a:cubicBezTo>
                <a:cubicBezTo>
                  <a:pt x="4093808" y="1870909"/>
                  <a:pt x="4078517" y="1873883"/>
                  <a:pt x="4073915" y="1868200"/>
                </a:cubicBezTo>
                <a:cubicBezTo>
                  <a:pt x="3975404" y="1745092"/>
                  <a:pt x="3876742" y="1620340"/>
                  <a:pt x="3830235" y="1467468"/>
                </a:cubicBezTo>
                <a:cubicBezTo>
                  <a:pt x="3765307" y="1255419"/>
                  <a:pt x="3782431" y="1049255"/>
                  <a:pt x="3928554" y="872709"/>
                </a:cubicBezTo>
                <a:cubicBezTo>
                  <a:pt x="4054117" y="721044"/>
                  <a:pt x="4039186" y="543779"/>
                  <a:pt x="4041572" y="368957"/>
                </a:cubicBezTo>
                <a:cubicBezTo>
                  <a:pt x="4041882" y="341654"/>
                  <a:pt x="4002857" y="313862"/>
                  <a:pt x="3976315" y="278901"/>
                </a:cubicBezTo>
                <a:cubicBezTo>
                  <a:pt x="3999514" y="268935"/>
                  <a:pt x="4020644" y="260059"/>
                  <a:pt x="4052764" y="245809"/>
                </a:cubicBezTo>
                <a:cubicBezTo>
                  <a:pt x="4059291" y="184658"/>
                  <a:pt x="4067206" y="113561"/>
                  <a:pt x="4077058" y="27371"/>
                </a:cubicBezTo>
                <a:cubicBezTo>
                  <a:pt x="3993827" y="63016"/>
                  <a:pt x="3954978" y="125053"/>
                  <a:pt x="3902474" y="171686"/>
                </a:cubicBezTo>
                <a:cubicBezTo>
                  <a:pt x="3842063" y="225311"/>
                  <a:pt x="3836398" y="287528"/>
                  <a:pt x="3839430" y="359757"/>
                </a:cubicBezTo>
                <a:cubicBezTo>
                  <a:pt x="3851062" y="616730"/>
                  <a:pt x="3707776" y="788039"/>
                  <a:pt x="3511342" y="923585"/>
                </a:cubicBezTo>
                <a:cubicBezTo>
                  <a:pt x="3465283" y="955591"/>
                  <a:pt x="3401736" y="962357"/>
                  <a:pt x="3345310" y="978648"/>
                </a:cubicBezTo>
                <a:cubicBezTo>
                  <a:pt x="3288240" y="994870"/>
                  <a:pt x="3262562" y="960974"/>
                  <a:pt x="3251411" y="912962"/>
                </a:cubicBezTo>
                <a:cubicBezTo>
                  <a:pt x="3234431" y="840266"/>
                  <a:pt x="3259676" y="774543"/>
                  <a:pt x="3294880" y="713104"/>
                </a:cubicBezTo>
                <a:cubicBezTo>
                  <a:pt x="3383739" y="557641"/>
                  <a:pt x="3496940" y="424222"/>
                  <a:pt x="3641287" y="316153"/>
                </a:cubicBezTo>
                <a:cubicBezTo>
                  <a:pt x="3722690" y="254938"/>
                  <a:pt x="3796466" y="182847"/>
                  <a:pt x="3873337" y="115305"/>
                </a:cubicBezTo>
                <a:cubicBezTo>
                  <a:pt x="3900980" y="91156"/>
                  <a:pt x="3924089" y="60682"/>
                  <a:pt x="3954827" y="41083"/>
                </a:cubicBezTo>
                <a:close/>
                <a:moveTo>
                  <a:pt x="3231589" y="0"/>
                </a:moveTo>
                <a:lnTo>
                  <a:pt x="3312011" y="0"/>
                </a:lnTo>
                <a:lnTo>
                  <a:pt x="3310368" y="16057"/>
                </a:lnTo>
                <a:cubicBezTo>
                  <a:pt x="3325242" y="15847"/>
                  <a:pt x="3340695" y="14192"/>
                  <a:pt x="3356599" y="11189"/>
                </a:cubicBezTo>
                <a:lnTo>
                  <a:pt x="3398860" y="0"/>
                </a:lnTo>
                <a:lnTo>
                  <a:pt x="3521426" y="0"/>
                </a:lnTo>
                <a:lnTo>
                  <a:pt x="3450288" y="40946"/>
                </a:lnTo>
                <a:cubicBezTo>
                  <a:pt x="3387281" y="73151"/>
                  <a:pt x="3245717" y="130745"/>
                  <a:pt x="3224898" y="112320"/>
                </a:cubicBezTo>
                <a:cubicBezTo>
                  <a:pt x="3217386" y="103408"/>
                  <a:pt x="3217289" y="77060"/>
                  <a:pt x="3223079" y="40542"/>
                </a:cubicBezTo>
                <a:close/>
                <a:moveTo>
                  <a:pt x="2713325" y="0"/>
                </a:moveTo>
                <a:lnTo>
                  <a:pt x="2801116" y="0"/>
                </a:lnTo>
                <a:lnTo>
                  <a:pt x="2771239" y="53358"/>
                </a:lnTo>
                <a:cubicBezTo>
                  <a:pt x="2734532" y="127500"/>
                  <a:pt x="2701305" y="203767"/>
                  <a:pt x="2671323" y="281854"/>
                </a:cubicBezTo>
                <a:cubicBezTo>
                  <a:pt x="2637809" y="370152"/>
                  <a:pt x="2589485" y="456917"/>
                  <a:pt x="2609018" y="557536"/>
                </a:cubicBezTo>
                <a:cubicBezTo>
                  <a:pt x="2609317" y="560821"/>
                  <a:pt x="2608193" y="565261"/>
                  <a:pt x="2606274" y="567991"/>
                </a:cubicBezTo>
                <a:cubicBezTo>
                  <a:pt x="2516682" y="702877"/>
                  <a:pt x="2589179" y="813532"/>
                  <a:pt x="2661306" y="921545"/>
                </a:cubicBezTo>
                <a:cubicBezTo>
                  <a:pt x="2683985" y="956107"/>
                  <a:pt x="2721146" y="983055"/>
                  <a:pt x="2755651" y="1007451"/>
                </a:cubicBezTo>
                <a:cubicBezTo>
                  <a:pt x="2785348" y="1028096"/>
                  <a:pt x="2819609" y="1045633"/>
                  <a:pt x="2854694" y="1055446"/>
                </a:cubicBezTo>
                <a:cubicBezTo>
                  <a:pt x="3017803" y="1100958"/>
                  <a:pt x="3079430" y="1228060"/>
                  <a:pt x="3129406" y="1372830"/>
                </a:cubicBezTo>
                <a:cubicBezTo>
                  <a:pt x="3189306" y="1546613"/>
                  <a:pt x="3179580" y="1875569"/>
                  <a:pt x="3143254" y="1892637"/>
                </a:cubicBezTo>
                <a:cubicBezTo>
                  <a:pt x="2972655" y="1917289"/>
                  <a:pt x="2701922" y="1626674"/>
                  <a:pt x="2672087" y="1393850"/>
                </a:cubicBezTo>
                <a:cubicBezTo>
                  <a:pt x="2657724" y="1281400"/>
                  <a:pt x="2654295" y="1167153"/>
                  <a:pt x="2645908" y="1047511"/>
                </a:cubicBezTo>
                <a:cubicBezTo>
                  <a:pt x="2627207" y="1039719"/>
                  <a:pt x="2601987" y="1028974"/>
                  <a:pt x="2570535" y="1015633"/>
                </a:cubicBezTo>
                <a:cubicBezTo>
                  <a:pt x="2585724" y="989219"/>
                  <a:pt x="2597362" y="968621"/>
                  <a:pt x="2610208" y="945870"/>
                </a:cubicBezTo>
                <a:cubicBezTo>
                  <a:pt x="2591281" y="918855"/>
                  <a:pt x="2572287" y="892485"/>
                  <a:pt x="2538036" y="844360"/>
                </a:cubicBezTo>
                <a:cubicBezTo>
                  <a:pt x="2514095" y="1028992"/>
                  <a:pt x="2431526" y="1183478"/>
                  <a:pt x="2512867" y="1354598"/>
                </a:cubicBezTo>
                <a:cubicBezTo>
                  <a:pt x="2572125" y="1479502"/>
                  <a:pt x="2561684" y="1610863"/>
                  <a:pt x="2518702" y="1742111"/>
                </a:cubicBezTo>
                <a:cubicBezTo>
                  <a:pt x="2469933" y="1890983"/>
                  <a:pt x="2406097" y="2028534"/>
                  <a:pt x="2275616" y="2134783"/>
                </a:cubicBezTo>
                <a:cubicBezTo>
                  <a:pt x="2256225" y="2148722"/>
                  <a:pt x="2245263" y="2111142"/>
                  <a:pt x="2241266" y="2096736"/>
                </a:cubicBezTo>
                <a:cubicBezTo>
                  <a:pt x="2179626" y="1884376"/>
                  <a:pt x="2162240" y="1669110"/>
                  <a:pt x="2231827" y="1456335"/>
                </a:cubicBezTo>
                <a:cubicBezTo>
                  <a:pt x="2253633" y="1389279"/>
                  <a:pt x="2309962" y="1334256"/>
                  <a:pt x="2348810" y="1272217"/>
                </a:cubicBezTo>
                <a:cubicBezTo>
                  <a:pt x="2373883" y="1232508"/>
                  <a:pt x="2406038" y="1193533"/>
                  <a:pt x="2416218" y="1150005"/>
                </a:cubicBezTo>
                <a:cubicBezTo>
                  <a:pt x="2450271" y="1004817"/>
                  <a:pt x="2476378" y="857831"/>
                  <a:pt x="2493456" y="706982"/>
                </a:cubicBezTo>
                <a:cubicBezTo>
                  <a:pt x="2411430" y="789284"/>
                  <a:pt x="2314735" y="853472"/>
                  <a:pt x="2313690" y="991337"/>
                </a:cubicBezTo>
                <a:cubicBezTo>
                  <a:pt x="2311990" y="1208533"/>
                  <a:pt x="2147439" y="1341195"/>
                  <a:pt x="1985609" y="1408731"/>
                </a:cubicBezTo>
                <a:cubicBezTo>
                  <a:pt x="1934853" y="1429839"/>
                  <a:pt x="1817778" y="1346461"/>
                  <a:pt x="1918730" y="1208846"/>
                </a:cubicBezTo>
                <a:cubicBezTo>
                  <a:pt x="1993345" y="1083149"/>
                  <a:pt x="2096531" y="982536"/>
                  <a:pt x="2213019" y="897616"/>
                </a:cubicBezTo>
                <a:cubicBezTo>
                  <a:pt x="2338343" y="806128"/>
                  <a:pt x="2409619" y="669020"/>
                  <a:pt x="2517219" y="563658"/>
                </a:cubicBezTo>
                <a:cubicBezTo>
                  <a:pt x="2529540" y="551917"/>
                  <a:pt x="2533383" y="531163"/>
                  <a:pt x="2539459" y="513894"/>
                </a:cubicBezTo>
                <a:cubicBezTo>
                  <a:pt x="2594147" y="361404"/>
                  <a:pt x="2648124" y="209492"/>
                  <a:pt x="2702456" y="57291"/>
                </a:cubicBezTo>
                <a:cubicBezTo>
                  <a:pt x="2707084" y="44428"/>
                  <a:pt x="2711390" y="31532"/>
                  <a:pt x="2713671" y="17409"/>
                </a:cubicBezTo>
                <a:close/>
                <a:moveTo>
                  <a:pt x="2615215" y="0"/>
                </a:moveTo>
                <a:lnTo>
                  <a:pt x="2683886" y="0"/>
                </a:lnTo>
                <a:lnTo>
                  <a:pt x="2615765" y="70449"/>
                </a:lnTo>
                <a:cubicBezTo>
                  <a:pt x="2443506" y="272276"/>
                  <a:pt x="2268590" y="471551"/>
                  <a:pt x="2101714" y="677840"/>
                </a:cubicBezTo>
                <a:cubicBezTo>
                  <a:pt x="1945364" y="870900"/>
                  <a:pt x="1795836" y="1070198"/>
                  <a:pt x="1647883" y="1269985"/>
                </a:cubicBezTo>
                <a:cubicBezTo>
                  <a:pt x="1540599" y="1415080"/>
                  <a:pt x="1501415" y="1580889"/>
                  <a:pt x="1520717" y="1759907"/>
                </a:cubicBezTo>
                <a:cubicBezTo>
                  <a:pt x="1523326" y="1784258"/>
                  <a:pt x="1527823" y="1815311"/>
                  <a:pt x="1543766" y="1830628"/>
                </a:cubicBezTo>
                <a:cubicBezTo>
                  <a:pt x="1658106" y="1942683"/>
                  <a:pt x="1640044" y="2081390"/>
                  <a:pt x="1614449" y="2214437"/>
                </a:cubicBezTo>
                <a:cubicBezTo>
                  <a:pt x="1596540" y="2305976"/>
                  <a:pt x="1553273" y="2470386"/>
                  <a:pt x="1518347" y="2480439"/>
                </a:cubicBezTo>
                <a:cubicBezTo>
                  <a:pt x="1419917" y="2441945"/>
                  <a:pt x="1340337" y="2330558"/>
                  <a:pt x="1333958" y="2228696"/>
                </a:cubicBezTo>
                <a:cubicBezTo>
                  <a:pt x="1327047" y="2119620"/>
                  <a:pt x="1351988" y="2017093"/>
                  <a:pt x="1393891" y="1917299"/>
                </a:cubicBezTo>
                <a:cubicBezTo>
                  <a:pt x="1435587" y="1819435"/>
                  <a:pt x="1480215" y="1721549"/>
                  <a:pt x="1444276" y="1597756"/>
                </a:cubicBezTo>
                <a:cubicBezTo>
                  <a:pt x="1426211" y="1620618"/>
                  <a:pt x="1409833" y="1636820"/>
                  <a:pt x="1398976" y="1656198"/>
                </a:cubicBezTo>
                <a:cubicBezTo>
                  <a:pt x="1307990" y="1816321"/>
                  <a:pt x="1221595" y="1979197"/>
                  <a:pt x="1126020" y="2136568"/>
                </a:cubicBezTo>
                <a:cubicBezTo>
                  <a:pt x="1084909" y="2204555"/>
                  <a:pt x="1102743" y="2260093"/>
                  <a:pt x="1129825" y="2320491"/>
                </a:cubicBezTo>
                <a:cubicBezTo>
                  <a:pt x="1132714" y="2326973"/>
                  <a:pt x="1139384" y="2331569"/>
                  <a:pt x="1143273" y="2337828"/>
                </a:cubicBezTo>
                <a:cubicBezTo>
                  <a:pt x="1331962" y="2640780"/>
                  <a:pt x="1296787" y="2906252"/>
                  <a:pt x="1156978" y="3218822"/>
                </a:cubicBezTo>
                <a:cubicBezTo>
                  <a:pt x="1147627" y="3239331"/>
                  <a:pt x="1135596" y="3284945"/>
                  <a:pt x="1116365" y="3269939"/>
                </a:cubicBezTo>
                <a:cubicBezTo>
                  <a:pt x="984182" y="3132933"/>
                  <a:pt x="898820" y="2975065"/>
                  <a:pt x="883236" y="2779510"/>
                </a:cubicBezTo>
                <a:cubicBezTo>
                  <a:pt x="858965" y="2887963"/>
                  <a:pt x="842858" y="2999213"/>
                  <a:pt x="808845" y="3104380"/>
                </a:cubicBezTo>
                <a:cubicBezTo>
                  <a:pt x="744139" y="3304970"/>
                  <a:pt x="661597" y="3498832"/>
                  <a:pt x="488550" y="3634846"/>
                </a:cubicBezTo>
                <a:cubicBezTo>
                  <a:pt x="446643" y="3667606"/>
                  <a:pt x="346628" y="3741539"/>
                  <a:pt x="328509" y="3719164"/>
                </a:cubicBezTo>
                <a:cubicBezTo>
                  <a:pt x="308952" y="3695012"/>
                  <a:pt x="315042" y="3631863"/>
                  <a:pt x="318672" y="3594817"/>
                </a:cubicBezTo>
                <a:cubicBezTo>
                  <a:pt x="329065" y="3485254"/>
                  <a:pt x="343678" y="3375801"/>
                  <a:pt x="358291" y="3266349"/>
                </a:cubicBezTo>
                <a:cubicBezTo>
                  <a:pt x="375072" y="3145733"/>
                  <a:pt x="425539" y="3041943"/>
                  <a:pt x="517362" y="2959353"/>
                </a:cubicBezTo>
                <a:cubicBezTo>
                  <a:pt x="591164" y="2893121"/>
                  <a:pt x="664171" y="2825180"/>
                  <a:pt x="735958" y="2756462"/>
                </a:cubicBezTo>
                <a:cubicBezTo>
                  <a:pt x="752980" y="2740327"/>
                  <a:pt x="764113" y="2718374"/>
                  <a:pt x="772369" y="2692870"/>
                </a:cubicBezTo>
                <a:cubicBezTo>
                  <a:pt x="587814" y="2829971"/>
                  <a:pt x="370516" y="2871268"/>
                  <a:pt x="156545" y="2921045"/>
                </a:cubicBezTo>
                <a:cubicBezTo>
                  <a:pt x="135273" y="2925922"/>
                  <a:pt x="71447" y="2922918"/>
                  <a:pt x="15585" y="2908337"/>
                </a:cubicBezTo>
                <a:lnTo>
                  <a:pt x="0" y="2902697"/>
                </a:lnTo>
                <a:lnTo>
                  <a:pt x="0" y="2765873"/>
                </a:lnTo>
                <a:lnTo>
                  <a:pt x="29795" y="2717847"/>
                </a:lnTo>
                <a:cubicBezTo>
                  <a:pt x="40849" y="2702583"/>
                  <a:pt x="51469" y="2690198"/>
                  <a:pt x="59962" y="2682291"/>
                </a:cubicBezTo>
                <a:cubicBezTo>
                  <a:pt x="228768" y="2525013"/>
                  <a:pt x="418389" y="2401453"/>
                  <a:pt x="645405" y="2342287"/>
                </a:cubicBezTo>
                <a:cubicBezTo>
                  <a:pt x="879032" y="2306584"/>
                  <a:pt x="1032240" y="2213098"/>
                  <a:pt x="1059274" y="2164156"/>
                </a:cubicBezTo>
                <a:cubicBezTo>
                  <a:pt x="1151084" y="1996307"/>
                  <a:pt x="1239879" y="1826195"/>
                  <a:pt x="1341155" y="1664208"/>
                </a:cubicBezTo>
                <a:cubicBezTo>
                  <a:pt x="1477441" y="1445642"/>
                  <a:pt x="1624124" y="1233359"/>
                  <a:pt x="1766505" y="1018678"/>
                </a:cubicBezTo>
                <a:cubicBezTo>
                  <a:pt x="1778156" y="1001010"/>
                  <a:pt x="1791027" y="984119"/>
                  <a:pt x="1793256" y="954087"/>
                </a:cubicBezTo>
                <a:cubicBezTo>
                  <a:pt x="1736220" y="994393"/>
                  <a:pt x="1675663" y="1031081"/>
                  <a:pt x="1622366" y="1076005"/>
                </a:cubicBezTo>
                <a:cubicBezTo>
                  <a:pt x="1442738" y="1227933"/>
                  <a:pt x="1264479" y="1382281"/>
                  <a:pt x="1088015" y="1538117"/>
                </a:cubicBezTo>
                <a:cubicBezTo>
                  <a:pt x="1067855" y="1556206"/>
                  <a:pt x="1060774" y="1588991"/>
                  <a:pt x="1047011" y="1614249"/>
                </a:cubicBezTo>
                <a:cubicBezTo>
                  <a:pt x="939107" y="1813950"/>
                  <a:pt x="771972" y="1928122"/>
                  <a:pt x="545270" y="1944692"/>
                </a:cubicBezTo>
                <a:cubicBezTo>
                  <a:pt x="441606" y="1952189"/>
                  <a:pt x="416671" y="1908283"/>
                  <a:pt x="470627" y="1817545"/>
                </a:cubicBezTo>
                <a:cubicBezTo>
                  <a:pt x="562706" y="1662415"/>
                  <a:pt x="679164" y="1538119"/>
                  <a:pt x="879648" y="1544544"/>
                </a:cubicBezTo>
                <a:cubicBezTo>
                  <a:pt x="970485" y="1547433"/>
                  <a:pt x="1036974" y="1510057"/>
                  <a:pt x="1100842" y="1445401"/>
                </a:cubicBezTo>
                <a:cubicBezTo>
                  <a:pt x="1210992" y="1334445"/>
                  <a:pt x="1329909" y="1232856"/>
                  <a:pt x="1437652" y="1110911"/>
                </a:cubicBezTo>
                <a:cubicBezTo>
                  <a:pt x="1361289" y="1130996"/>
                  <a:pt x="1284490" y="1149082"/>
                  <a:pt x="1208853" y="1171520"/>
                </a:cubicBezTo>
                <a:cubicBezTo>
                  <a:pt x="1106003" y="1201880"/>
                  <a:pt x="1005248" y="1237013"/>
                  <a:pt x="902537" y="1266085"/>
                </a:cubicBezTo>
                <a:cubicBezTo>
                  <a:pt x="850537" y="1280555"/>
                  <a:pt x="815167" y="1303904"/>
                  <a:pt x="781831" y="1350894"/>
                </a:cubicBezTo>
                <a:cubicBezTo>
                  <a:pt x="694187" y="1473616"/>
                  <a:pt x="568919" y="1561531"/>
                  <a:pt x="429373" y="1606317"/>
                </a:cubicBezTo>
                <a:cubicBezTo>
                  <a:pt x="322179" y="1640784"/>
                  <a:pt x="200254" y="1642487"/>
                  <a:pt x="81275" y="1598286"/>
                </a:cubicBezTo>
                <a:cubicBezTo>
                  <a:pt x="88037" y="1574581"/>
                  <a:pt x="87604" y="1557289"/>
                  <a:pt x="96005" y="1548721"/>
                </a:cubicBezTo>
                <a:cubicBezTo>
                  <a:pt x="237899" y="1402652"/>
                  <a:pt x="389584" y="1271587"/>
                  <a:pt x="587023" y="1202853"/>
                </a:cubicBezTo>
                <a:cubicBezTo>
                  <a:pt x="647862" y="1181814"/>
                  <a:pt x="704352" y="1180174"/>
                  <a:pt x="756337" y="1211585"/>
                </a:cubicBezTo>
                <a:cubicBezTo>
                  <a:pt x="796419" y="1235581"/>
                  <a:pt x="829151" y="1230833"/>
                  <a:pt x="870149" y="1218805"/>
                </a:cubicBezTo>
                <a:cubicBezTo>
                  <a:pt x="1110131" y="1147964"/>
                  <a:pt x="1351782" y="1082828"/>
                  <a:pt x="1590533" y="1008282"/>
                </a:cubicBezTo>
                <a:cubicBezTo>
                  <a:pt x="1647452" y="990416"/>
                  <a:pt x="1692710" y="938477"/>
                  <a:pt x="1747291" y="908980"/>
                </a:cubicBezTo>
                <a:cubicBezTo>
                  <a:pt x="2010423" y="767643"/>
                  <a:pt x="2156926" y="514341"/>
                  <a:pt x="2359623" y="289630"/>
                </a:cubicBezTo>
                <a:cubicBezTo>
                  <a:pt x="2236423" y="294129"/>
                  <a:pt x="2139898" y="298787"/>
                  <a:pt x="2068468" y="400733"/>
                </a:cubicBezTo>
                <a:cubicBezTo>
                  <a:pt x="1952834" y="566116"/>
                  <a:pt x="1774030" y="627991"/>
                  <a:pt x="1585301" y="660856"/>
                </a:cubicBezTo>
                <a:cubicBezTo>
                  <a:pt x="1502406" y="675057"/>
                  <a:pt x="1416597" y="676917"/>
                  <a:pt x="1332281" y="676980"/>
                </a:cubicBezTo>
                <a:cubicBezTo>
                  <a:pt x="1303960" y="676978"/>
                  <a:pt x="1266699" y="660107"/>
                  <a:pt x="1249799" y="638509"/>
                </a:cubicBezTo>
                <a:cubicBezTo>
                  <a:pt x="1239732" y="626078"/>
                  <a:pt x="1254627" y="581086"/>
                  <a:pt x="1271498" y="563307"/>
                </a:cubicBezTo>
                <a:cubicBezTo>
                  <a:pt x="1315987" y="515520"/>
                  <a:pt x="1364996" y="471128"/>
                  <a:pt x="1416744" y="431576"/>
                </a:cubicBezTo>
                <a:cubicBezTo>
                  <a:pt x="1631217" y="267308"/>
                  <a:pt x="1881706" y="244413"/>
                  <a:pt x="2139805" y="244759"/>
                </a:cubicBezTo>
                <a:cubicBezTo>
                  <a:pt x="2215969" y="244830"/>
                  <a:pt x="2293713" y="230095"/>
                  <a:pt x="2367937" y="211741"/>
                </a:cubicBezTo>
                <a:cubicBezTo>
                  <a:pt x="2408728" y="201645"/>
                  <a:pt x="2451963" y="177807"/>
                  <a:pt x="2480293" y="147221"/>
                </a:cubicBezTo>
                <a:close/>
                <a:moveTo>
                  <a:pt x="1279469" y="0"/>
                </a:moveTo>
                <a:lnTo>
                  <a:pt x="1426070" y="0"/>
                </a:lnTo>
                <a:lnTo>
                  <a:pt x="1350504" y="33583"/>
                </a:lnTo>
                <a:cubicBezTo>
                  <a:pt x="1327260" y="98863"/>
                  <a:pt x="1310717" y="159304"/>
                  <a:pt x="1284284" y="214818"/>
                </a:cubicBezTo>
                <a:cubicBezTo>
                  <a:pt x="1183157" y="427258"/>
                  <a:pt x="1090002" y="647358"/>
                  <a:pt x="900440" y="800862"/>
                </a:cubicBezTo>
                <a:cubicBezTo>
                  <a:pt x="827038" y="860301"/>
                  <a:pt x="740694" y="903758"/>
                  <a:pt x="658158" y="951189"/>
                </a:cubicBezTo>
                <a:cubicBezTo>
                  <a:pt x="642179" y="960600"/>
                  <a:pt x="606501" y="962440"/>
                  <a:pt x="598449" y="952495"/>
                </a:cubicBezTo>
                <a:cubicBezTo>
                  <a:pt x="585218" y="936157"/>
                  <a:pt x="576639" y="903706"/>
                  <a:pt x="583851" y="884927"/>
                </a:cubicBezTo>
                <a:cubicBezTo>
                  <a:pt x="646997" y="720296"/>
                  <a:pt x="702254" y="550293"/>
                  <a:pt x="821592" y="414254"/>
                </a:cubicBezTo>
                <a:cubicBezTo>
                  <a:pt x="883927" y="342607"/>
                  <a:pt x="950426" y="274644"/>
                  <a:pt x="1021039" y="198645"/>
                </a:cubicBezTo>
                <a:cubicBezTo>
                  <a:pt x="925878" y="221015"/>
                  <a:pt x="852512" y="255727"/>
                  <a:pt x="807695" y="343180"/>
                </a:cubicBezTo>
                <a:cubicBezTo>
                  <a:pt x="757627" y="440178"/>
                  <a:pt x="677425" y="514533"/>
                  <a:pt x="581023" y="563784"/>
                </a:cubicBezTo>
                <a:cubicBezTo>
                  <a:pt x="463285" y="623842"/>
                  <a:pt x="365880" y="722125"/>
                  <a:pt x="231835" y="748932"/>
                </a:cubicBezTo>
                <a:cubicBezTo>
                  <a:pt x="170601" y="761470"/>
                  <a:pt x="108423" y="770657"/>
                  <a:pt x="46357" y="772696"/>
                </a:cubicBezTo>
                <a:lnTo>
                  <a:pt x="0" y="772842"/>
                </a:lnTo>
                <a:lnTo>
                  <a:pt x="0" y="708052"/>
                </a:lnTo>
                <a:lnTo>
                  <a:pt x="89067" y="704930"/>
                </a:lnTo>
                <a:cubicBezTo>
                  <a:pt x="352860" y="675038"/>
                  <a:pt x="632363" y="525002"/>
                  <a:pt x="710775" y="339334"/>
                </a:cubicBezTo>
                <a:cubicBezTo>
                  <a:pt x="664377" y="359265"/>
                  <a:pt x="626200" y="378419"/>
                  <a:pt x="585997" y="392158"/>
                </a:cubicBezTo>
                <a:cubicBezTo>
                  <a:pt x="568074" y="398439"/>
                  <a:pt x="536629" y="403320"/>
                  <a:pt x="527576" y="393598"/>
                </a:cubicBezTo>
                <a:cubicBezTo>
                  <a:pt x="494376" y="356971"/>
                  <a:pt x="459131" y="376102"/>
                  <a:pt x="425698" y="384358"/>
                </a:cubicBezTo>
                <a:cubicBezTo>
                  <a:pt x="375905" y="396453"/>
                  <a:pt x="327713" y="414896"/>
                  <a:pt x="278288" y="429633"/>
                </a:cubicBezTo>
                <a:cubicBezTo>
                  <a:pt x="194259" y="454455"/>
                  <a:pt x="116406" y="489273"/>
                  <a:pt x="43518" y="533227"/>
                </a:cubicBezTo>
                <a:lnTo>
                  <a:pt x="0" y="563132"/>
                </a:lnTo>
                <a:lnTo>
                  <a:pt x="0" y="500322"/>
                </a:lnTo>
                <a:lnTo>
                  <a:pt x="116366" y="435129"/>
                </a:lnTo>
                <a:cubicBezTo>
                  <a:pt x="236099" y="377351"/>
                  <a:pt x="362902" y="333769"/>
                  <a:pt x="495997" y="302145"/>
                </a:cubicBezTo>
                <a:cubicBezTo>
                  <a:pt x="624522" y="272163"/>
                  <a:pt x="751940" y="234257"/>
                  <a:pt x="876112" y="190158"/>
                </a:cubicBezTo>
                <a:cubicBezTo>
                  <a:pt x="951230" y="163437"/>
                  <a:pt x="1018312" y="114407"/>
                  <a:pt x="1091828" y="81338"/>
                </a:cubicBezTo>
                <a:close/>
              </a:path>
            </a:pathLst>
          </a:custGeom>
          <a:solidFill>
            <a:schemeClr val="tx1">
              <a:alpha val="17000"/>
            </a:schemeClr>
          </a:solidFill>
          <a:ln w="4569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EEA626-63D9-B376-D5C7-F7B224767D9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5924" y="914400"/>
            <a:ext cx="10360152" cy="5029200"/>
          </a:xfrm>
        </p:spPr>
        <p:txBody>
          <a:bodyPr anchor="ctr"/>
          <a:lstStyle>
            <a:lvl1pPr algn="ctr"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50882554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Picture with Caption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06890132-DB42-A903-1EAB-CA29D3F043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5641848" cy="5029200"/>
          </a:xfrm>
        </p:spPr>
        <p:txBody>
          <a:bodyPr anchor="ctr"/>
          <a:lstStyle>
            <a:lvl1pPr>
              <a:lnSpc>
                <a:spcPct val="75000"/>
              </a:lnSpc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5ED90D1-D640-D115-6711-35DE812FC0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/>
          </a:blip>
          <a:srcRect r="30186" b="9728"/>
          <a:stretch/>
        </p:blipFill>
        <p:spPr>
          <a:xfrm>
            <a:off x="6768197" y="1875319"/>
            <a:ext cx="4727117" cy="4998132"/>
          </a:xfrm>
          <a:prstGeom prst="rect">
            <a:avLst/>
          </a:prstGeom>
        </p:spPr>
      </p:pic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8D9EAE4-01F5-6C99-C91E-BF0FD0CD1C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867286" y="1"/>
            <a:ext cx="5324716" cy="6417732"/>
          </a:xfrm>
          <a:custGeom>
            <a:avLst/>
            <a:gdLst>
              <a:gd name="connsiteX0" fmla="*/ 81117 w 5113309"/>
              <a:gd name="connsiteY0" fmla="*/ 0 h 6162929"/>
              <a:gd name="connsiteX1" fmla="*/ 3634645 w 5113309"/>
              <a:gd name="connsiteY1" fmla="*/ 0 h 6162929"/>
              <a:gd name="connsiteX2" fmla="*/ 3705129 w 5113309"/>
              <a:gd name="connsiteY2" fmla="*/ 216937 h 6162929"/>
              <a:gd name="connsiteX3" fmla="*/ 3956833 w 5113309"/>
              <a:gd name="connsiteY3" fmla="*/ 694220 h 6162929"/>
              <a:gd name="connsiteX4" fmla="*/ 4645418 w 5113309"/>
              <a:gd name="connsiteY4" fmla="*/ 1338790 h 6162929"/>
              <a:gd name="connsiteX5" fmla="*/ 5031903 w 5113309"/>
              <a:gd name="connsiteY5" fmla="*/ 1574625 h 6162929"/>
              <a:gd name="connsiteX6" fmla="*/ 5113309 w 5113309"/>
              <a:gd name="connsiteY6" fmla="*/ 1618978 h 6162929"/>
              <a:gd name="connsiteX7" fmla="*/ 5113309 w 5113309"/>
              <a:gd name="connsiteY7" fmla="*/ 6102719 h 6162929"/>
              <a:gd name="connsiteX8" fmla="*/ 5056297 w 5113309"/>
              <a:gd name="connsiteY8" fmla="*/ 6116431 h 6162929"/>
              <a:gd name="connsiteX9" fmla="*/ 4521806 w 5113309"/>
              <a:gd name="connsiteY9" fmla="*/ 6162795 h 6162929"/>
              <a:gd name="connsiteX10" fmla="*/ 3411736 w 5113309"/>
              <a:gd name="connsiteY10" fmla="*/ 5966394 h 6162929"/>
              <a:gd name="connsiteX11" fmla="*/ 2974881 w 5113309"/>
              <a:gd name="connsiteY11" fmla="*/ 5797150 h 6162929"/>
              <a:gd name="connsiteX12" fmla="*/ 1160053 w 5113309"/>
              <a:gd name="connsiteY12" fmla="*/ 4395025 h 6162929"/>
              <a:gd name="connsiteX13" fmla="*/ 186404 w 5113309"/>
              <a:gd name="connsiteY13" fmla="*/ 2488624 h 6162929"/>
              <a:gd name="connsiteX14" fmla="*/ 35878 w 5113309"/>
              <a:gd name="connsiteY14" fmla="*/ 360546 h 6162929"/>
              <a:gd name="connsiteX15" fmla="*/ 77715 w 5113309"/>
              <a:gd name="connsiteY15" fmla="*/ 19675 h 6162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113309" h="6162929">
                <a:moveTo>
                  <a:pt x="81117" y="0"/>
                </a:moveTo>
                <a:lnTo>
                  <a:pt x="3634645" y="0"/>
                </a:lnTo>
                <a:lnTo>
                  <a:pt x="3705129" y="216937"/>
                </a:lnTo>
                <a:cubicBezTo>
                  <a:pt x="3768027" y="381054"/>
                  <a:pt x="3849780" y="540685"/>
                  <a:pt x="3956833" y="694220"/>
                </a:cubicBezTo>
                <a:cubicBezTo>
                  <a:pt x="4136988" y="952807"/>
                  <a:pt x="4374398" y="1160535"/>
                  <a:pt x="4645418" y="1338790"/>
                </a:cubicBezTo>
                <a:cubicBezTo>
                  <a:pt x="4796746" y="1438318"/>
                  <a:pt x="4920829" y="1512316"/>
                  <a:pt x="5031903" y="1574625"/>
                </a:cubicBezTo>
                <a:lnTo>
                  <a:pt x="5113309" y="1618978"/>
                </a:lnTo>
                <a:lnTo>
                  <a:pt x="5113309" y="6102719"/>
                </a:lnTo>
                <a:lnTo>
                  <a:pt x="5056297" y="6116431"/>
                </a:lnTo>
                <a:cubicBezTo>
                  <a:pt x="4886403" y="6150062"/>
                  <a:pt x="4707722" y="6164497"/>
                  <a:pt x="4521806" y="6162795"/>
                </a:cubicBezTo>
                <a:cubicBezTo>
                  <a:pt x="4146032" y="6159370"/>
                  <a:pt x="3776369" y="6088419"/>
                  <a:pt x="3411736" y="5966394"/>
                </a:cubicBezTo>
                <a:cubicBezTo>
                  <a:pt x="3263463" y="5916738"/>
                  <a:pt x="3117320" y="5862607"/>
                  <a:pt x="2974881" y="5797150"/>
                </a:cubicBezTo>
                <a:cubicBezTo>
                  <a:pt x="2249814" y="5463847"/>
                  <a:pt x="1648791" y="4992377"/>
                  <a:pt x="1160053" y="4395025"/>
                </a:cubicBezTo>
                <a:cubicBezTo>
                  <a:pt x="682889" y="3811744"/>
                  <a:pt x="369553" y="3172420"/>
                  <a:pt x="186404" y="2488624"/>
                </a:cubicBezTo>
                <a:cubicBezTo>
                  <a:pt x="-4956" y="1773998"/>
                  <a:pt x="-36839" y="1065081"/>
                  <a:pt x="35878" y="360546"/>
                </a:cubicBezTo>
                <a:cubicBezTo>
                  <a:pt x="47653" y="246483"/>
                  <a:pt x="60608" y="132589"/>
                  <a:pt x="77715" y="19675"/>
                </a:cubicBezTo>
                <a:close/>
              </a:path>
            </a:pathLst>
          </a:custGeom>
          <a:solidFill>
            <a:schemeClr val="accent4">
              <a:alpha val="52000"/>
            </a:schemeClr>
          </a:solidFill>
          <a:ln w="224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D2E95AC0-BA60-4FFD-E9E7-F2F12ACF68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401941" y="0"/>
            <a:ext cx="4790059" cy="6587067"/>
          </a:xfrm>
          <a:custGeom>
            <a:avLst/>
            <a:gdLst>
              <a:gd name="connsiteX0" fmla="*/ 1022042 w 4376530"/>
              <a:gd name="connsiteY0" fmla="*/ 0 h 6018401"/>
              <a:gd name="connsiteX1" fmla="*/ 4326419 w 4376530"/>
              <a:gd name="connsiteY1" fmla="*/ 0 h 6018401"/>
              <a:gd name="connsiteX2" fmla="*/ 4374794 w 4376530"/>
              <a:gd name="connsiteY2" fmla="*/ 46177 h 6018401"/>
              <a:gd name="connsiteX3" fmla="*/ 4376530 w 4376530"/>
              <a:gd name="connsiteY3" fmla="*/ 48166 h 6018401"/>
              <a:gd name="connsiteX4" fmla="*/ 4376530 w 4376530"/>
              <a:gd name="connsiteY4" fmla="*/ 5243073 h 6018401"/>
              <a:gd name="connsiteX5" fmla="*/ 4234907 w 4376530"/>
              <a:gd name="connsiteY5" fmla="*/ 5384674 h 6018401"/>
              <a:gd name="connsiteX6" fmla="*/ 2811527 w 4376530"/>
              <a:gd name="connsiteY6" fmla="*/ 6014016 h 6018401"/>
              <a:gd name="connsiteX7" fmla="*/ 2673962 w 4376530"/>
              <a:gd name="connsiteY7" fmla="*/ 6018401 h 6018401"/>
              <a:gd name="connsiteX8" fmla="*/ 2673892 w 4376530"/>
              <a:gd name="connsiteY8" fmla="*/ 6018401 h 6018401"/>
              <a:gd name="connsiteX9" fmla="*/ 2536327 w 4376530"/>
              <a:gd name="connsiteY9" fmla="*/ 6014016 h 6018401"/>
              <a:gd name="connsiteX10" fmla="*/ 0 w 4376530"/>
              <a:gd name="connsiteY10" fmla="*/ 2647403 h 6018401"/>
              <a:gd name="connsiteX11" fmla="*/ 973061 w 4376530"/>
              <a:gd name="connsiteY11" fmla="*/ 46176 h 60184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376530" h="6018401">
                <a:moveTo>
                  <a:pt x="1022042" y="0"/>
                </a:moveTo>
                <a:lnTo>
                  <a:pt x="4326419" y="0"/>
                </a:lnTo>
                <a:lnTo>
                  <a:pt x="4374794" y="46177"/>
                </a:lnTo>
                <a:lnTo>
                  <a:pt x="4376530" y="48166"/>
                </a:lnTo>
                <a:lnTo>
                  <a:pt x="4376530" y="5243073"/>
                </a:lnTo>
                <a:lnTo>
                  <a:pt x="4234907" y="5384674"/>
                </a:lnTo>
                <a:cubicBezTo>
                  <a:pt x="3830459" y="5751892"/>
                  <a:pt x="3341336" y="5980159"/>
                  <a:pt x="2811527" y="6014016"/>
                </a:cubicBezTo>
                <a:lnTo>
                  <a:pt x="2673962" y="6018401"/>
                </a:lnTo>
                <a:lnTo>
                  <a:pt x="2673892" y="6018401"/>
                </a:lnTo>
                <a:lnTo>
                  <a:pt x="2536327" y="6014016"/>
                </a:lnTo>
                <a:cubicBezTo>
                  <a:pt x="1123504" y="5923730"/>
                  <a:pt x="0" y="4450975"/>
                  <a:pt x="0" y="2647403"/>
                </a:cubicBezTo>
                <a:cubicBezTo>
                  <a:pt x="0" y="1600168"/>
                  <a:pt x="378788" y="664467"/>
                  <a:pt x="973061" y="46176"/>
                </a:cubicBezTo>
                <a:close/>
              </a:path>
            </a:pathLst>
          </a:custGeom>
          <a:solidFill>
            <a:schemeClr val="bg2">
              <a:lumMod val="75000"/>
            </a:schemeClr>
          </a:solidFill>
        </p:spPr>
        <p:txBody>
          <a:bodyPr wrap="square" anchor="t">
            <a:noAutofit/>
          </a:bodyPr>
          <a:lstStyle>
            <a:lvl1pPr marL="0" indent="0" algn="r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557109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 7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98639877-C4A6-4E44-C600-FE3C6CD5F1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8970744" y="5209684"/>
            <a:ext cx="3221255" cy="1682471"/>
            <a:chOff x="-1483620" y="3988558"/>
            <a:chExt cx="4239452" cy="2903598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F0439AA5-A7EE-A20E-BB67-D356776D0B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25717" y="5597818"/>
              <a:ext cx="2430115" cy="1294338"/>
            </a:xfrm>
            <a:custGeom>
              <a:avLst/>
              <a:gdLst>
                <a:gd name="connsiteX0" fmla="*/ 945169 w 2445355"/>
                <a:gd name="connsiteY0" fmla="*/ 789 h 1315293"/>
                <a:gd name="connsiteX1" fmla="*/ 1083192 w 2445355"/>
                <a:gd name="connsiteY1" fmla="*/ 15575 h 1315293"/>
                <a:gd name="connsiteX2" fmla="*/ 1778340 w 2445355"/>
                <a:gd name="connsiteY2" fmla="*/ 301396 h 1315293"/>
                <a:gd name="connsiteX3" fmla="*/ 2419558 w 2445355"/>
                <a:gd name="connsiteY3" fmla="*/ 1243748 h 1315293"/>
                <a:gd name="connsiteX4" fmla="*/ 2445355 w 2445355"/>
                <a:gd name="connsiteY4" fmla="*/ 1315293 h 1315293"/>
                <a:gd name="connsiteX5" fmla="*/ 0 w 2445355"/>
                <a:gd name="connsiteY5" fmla="*/ 1315293 h 1315293"/>
                <a:gd name="connsiteX6" fmla="*/ 18759 w 2445355"/>
                <a:gd name="connsiteY6" fmla="*/ 1065812 h 1315293"/>
                <a:gd name="connsiteX7" fmla="*/ 421385 w 2445355"/>
                <a:gd name="connsiteY7" fmla="*/ 160260 h 1315293"/>
                <a:gd name="connsiteX8" fmla="*/ 945169 w 2445355"/>
                <a:gd name="connsiteY8" fmla="*/ 789 h 1315293"/>
                <a:gd name="connsiteX0" fmla="*/ 2445355 w 2536795"/>
                <a:gd name="connsiteY0" fmla="*/ 1315293 h 1406733"/>
                <a:gd name="connsiteX1" fmla="*/ 0 w 2536795"/>
                <a:gd name="connsiteY1" fmla="*/ 1315293 h 1406733"/>
                <a:gd name="connsiteX2" fmla="*/ 18759 w 2536795"/>
                <a:gd name="connsiteY2" fmla="*/ 1065812 h 1406733"/>
                <a:gd name="connsiteX3" fmla="*/ 421385 w 2536795"/>
                <a:gd name="connsiteY3" fmla="*/ 160260 h 1406733"/>
                <a:gd name="connsiteX4" fmla="*/ 945169 w 2536795"/>
                <a:gd name="connsiteY4" fmla="*/ 789 h 1406733"/>
                <a:gd name="connsiteX5" fmla="*/ 1083192 w 2536795"/>
                <a:gd name="connsiteY5" fmla="*/ 15575 h 1406733"/>
                <a:gd name="connsiteX6" fmla="*/ 1778340 w 2536795"/>
                <a:gd name="connsiteY6" fmla="*/ 301396 h 1406733"/>
                <a:gd name="connsiteX7" fmla="*/ 2419558 w 2536795"/>
                <a:gd name="connsiteY7" fmla="*/ 1243748 h 1406733"/>
                <a:gd name="connsiteX8" fmla="*/ 2536795 w 2536795"/>
                <a:gd name="connsiteY8" fmla="*/ 1406733 h 140673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0 w 2430115"/>
                <a:gd name="connsiteY0" fmla="*/ 1315293 h 1315293"/>
                <a:gd name="connsiteX1" fmla="*/ 18759 w 2430115"/>
                <a:gd name="connsiteY1" fmla="*/ 1065812 h 1315293"/>
                <a:gd name="connsiteX2" fmla="*/ 421385 w 2430115"/>
                <a:gd name="connsiteY2" fmla="*/ 160260 h 1315293"/>
                <a:gd name="connsiteX3" fmla="*/ 945169 w 2430115"/>
                <a:gd name="connsiteY3" fmla="*/ 789 h 1315293"/>
                <a:gd name="connsiteX4" fmla="*/ 1083192 w 2430115"/>
                <a:gd name="connsiteY4" fmla="*/ 15575 h 1315293"/>
                <a:gd name="connsiteX5" fmla="*/ 1778340 w 2430115"/>
                <a:gd name="connsiteY5" fmla="*/ 301396 h 1315293"/>
                <a:gd name="connsiteX6" fmla="*/ 2419558 w 2430115"/>
                <a:gd name="connsiteY6" fmla="*/ 1243748 h 1315293"/>
                <a:gd name="connsiteX7" fmla="*/ 2430115 w 2430115"/>
                <a:gd name="connsiteY7" fmla="*/ 1294338 h 1315293"/>
                <a:gd name="connsiteX0" fmla="*/ 0 w 2430115"/>
                <a:gd name="connsiteY0" fmla="*/ 1281003 h 1294338"/>
                <a:gd name="connsiteX1" fmla="*/ 18759 w 2430115"/>
                <a:gd name="connsiteY1" fmla="*/ 1065812 h 1294338"/>
                <a:gd name="connsiteX2" fmla="*/ 421385 w 2430115"/>
                <a:gd name="connsiteY2" fmla="*/ 160260 h 1294338"/>
                <a:gd name="connsiteX3" fmla="*/ 945169 w 2430115"/>
                <a:gd name="connsiteY3" fmla="*/ 789 h 1294338"/>
                <a:gd name="connsiteX4" fmla="*/ 1083192 w 2430115"/>
                <a:gd name="connsiteY4" fmla="*/ 15575 h 1294338"/>
                <a:gd name="connsiteX5" fmla="*/ 1778340 w 2430115"/>
                <a:gd name="connsiteY5" fmla="*/ 301396 h 1294338"/>
                <a:gd name="connsiteX6" fmla="*/ 2419558 w 2430115"/>
                <a:gd name="connsiteY6" fmla="*/ 1243748 h 1294338"/>
                <a:gd name="connsiteX7" fmla="*/ 2430115 w 2430115"/>
                <a:gd name="connsiteY7" fmla="*/ 1294338 h 1294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30115" h="1294338">
                  <a:moveTo>
                    <a:pt x="0" y="1281003"/>
                  </a:moveTo>
                  <a:lnTo>
                    <a:pt x="18759" y="1065812"/>
                  </a:lnTo>
                  <a:cubicBezTo>
                    <a:pt x="68103" y="677825"/>
                    <a:pt x="196828" y="335497"/>
                    <a:pt x="421385" y="160260"/>
                  </a:cubicBezTo>
                  <a:cubicBezTo>
                    <a:pt x="597747" y="22631"/>
                    <a:pt x="791587" y="-5390"/>
                    <a:pt x="945169" y="789"/>
                  </a:cubicBezTo>
                  <a:cubicBezTo>
                    <a:pt x="996362" y="2849"/>
                    <a:pt x="1043083" y="8708"/>
                    <a:pt x="1083192" y="15575"/>
                  </a:cubicBezTo>
                  <a:cubicBezTo>
                    <a:pt x="1244041" y="37412"/>
                    <a:pt x="1507299" y="98636"/>
                    <a:pt x="1778340" y="301396"/>
                  </a:cubicBezTo>
                  <a:cubicBezTo>
                    <a:pt x="2076448" y="524423"/>
                    <a:pt x="2262092" y="827463"/>
                    <a:pt x="2419558" y="1243748"/>
                  </a:cubicBezTo>
                  <a:cubicBezTo>
                    <a:pt x="2428157" y="1267596"/>
                    <a:pt x="2430115" y="1294338"/>
                    <a:pt x="2430115" y="1294338"/>
                  </a:cubicBezTo>
                </a:path>
              </a:pathLst>
            </a:custGeom>
            <a:noFill/>
            <a:ln w="381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39E752F7-61F0-6779-9E8E-3541BFF7D2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-1483620" y="3988558"/>
              <a:ext cx="2469462" cy="2893553"/>
            </a:xfrm>
            <a:custGeom>
              <a:avLst/>
              <a:gdLst>
                <a:gd name="connsiteX0" fmla="*/ 194658 w 2477082"/>
                <a:gd name="connsiteY0" fmla="*/ 123 h 2924552"/>
                <a:gd name="connsiteX1" fmla="*/ 1254757 w 2477082"/>
                <a:gd name="connsiteY1" fmla="*/ 251792 h 2924552"/>
                <a:gd name="connsiteX2" fmla="*/ 2447922 w 2477082"/>
                <a:gd name="connsiteY2" fmla="*/ 2893553 h 2924552"/>
                <a:gd name="connsiteX3" fmla="*/ 2441508 w 2477082"/>
                <a:gd name="connsiteY3" fmla="*/ 2924552 h 2924552"/>
                <a:gd name="connsiteX4" fmla="*/ 0 w 2477082"/>
                <a:gd name="connsiteY4" fmla="*/ 2924552 h 2924552"/>
                <a:gd name="connsiteX5" fmla="*/ 0 w 2477082"/>
                <a:gd name="connsiteY5" fmla="*/ 13617 h 2924552"/>
                <a:gd name="connsiteX6" fmla="*/ 59230 w 2477082"/>
                <a:gd name="connsiteY6" fmla="*/ 6396 h 2924552"/>
                <a:gd name="connsiteX7" fmla="*/ 194658 w 2477082"/>
                <a:gd name="connsiteY7" fmla="*/ 123 h 2924552"/>
                <a:gd name="connsiteX0" fmla="*/ 2441508 w 2532948"/>
                <a:gd name="connsiteY0" fmla="*/ 2924552 h 3015992"/>
                <a:gd name="connsiteX1" fmla="*/ 0 w 2532948"/>
                <a:gd name="connsiteY1" fmla="*/ 2924552 h 3015992"/>
                <a:gd name="connsiteX2" fmla="*/ 0 w 2532948"/>
                <a:gd name="connsiteY2" fmla="*/ 13617 h 3015992"/>
                <a:gd name="connsiteX3" fmla="*/ 59230 w 2532948"/>
                <a:gd name="connsiteY3" fmla="*/ 6396 h 3015992"/>
                <a:gd name="connsiteX4" fmla="*/ 194658 w 2532948"/>
                <a:gd name="connsiteY4" fmla="*/ 123 h 3015992"/>
                <a:gd name="connsiteX5" fmla="*/ 1254757 w 2532948"/>
                <a:gd name="connsiteY5" fmla="*/ 251792 h 3015992"/>
                <a:gd name="connsiteX6" fmla="*/ 2447922 w 2532948"/>
                <a:gd name="connsiteY6" fmla="*/ 2893553 h 3015992"/>
                <a:gd name="connsiteX7" fmla="*/ 2532948 w 2532948"/>
                <a:gd name="connsiteY7" fmla="*/ 3015992 h 3015992"/>
                <a:gd name="connsiteX0" fmla="*/ 0 w 2532948"/>
                <a:gd name="connsiteY0" fmla="*/ 2924552 h 3015992"/>
                <a:gd name="connsiteX1" fmla="*/ 0 w 2532948"/>
                <a:gd name="connsiteY1" fmla="*/ 13617 h 3015992"/>
                <a:gd name="connsiteX2" fmla="*/ 59230 w 2532948"/>
                <a:gd name="connsiteY2" fmla="*/ 6396 h 3015992"/>
                <a:gd name="connsiteX3" fmla="*/ 194658 w 2532948"/>
                <a:gd name="connsiteY3" fmla="*/ 123 h 3015992"/>
                <a:gd name="connsiteX4" fmla="*/ 1254757 w 2532948"/>
                <a:gd name="connsiteY4" fmla="*/ 251792 h 3015992"/>
                <a:gd name="connsiteX5" fmla="*/ 2447922 w 2532948"/>
                <a:gd name="connsiteY5" fmla="*/ 2893553 h 3015992"/>
                <a:gd name="connsiteX6" fmla="*/ 2532948 w 2532948"/>
                <a:gd name="connsiteY6" fmla="*/ 3015992 h 3015992"/>
                <a:gd name="connsiteX0" fmla="*/ 0 w 2532948"/>
                <a:gd name="connsiteY0" fmla="*/ 13617 h 3015992"/>
                <a:gd name="connsiteX1" fmla="*/ 59230 w 2532948"/>
                <a:gd name="connsiteY1" fmla="*/ 6396 h 3015992"/>
                <a:gd name="connsiteX2" fmla="*/ 194658 w 2532948"/>
                <a:gd name="connsiteY2" fmla="*/ 123 h 3015992"/>
                <a:gd name="connsiteX3" fmla="*/ 1254757 w 2532948"/>
                <a:gd name="connsiteY3" fmla="*/ 251792 h 3015992"/>
                <a:gd name="connsiteX4" fmla="*/ 2447922 w 2532948"/>
                <a:gd name="connsiteY4" fmla="*/ 2893553 h 3015992"/>
                <a:gd name="connsiteX5" fmla="*/ 2532948 w 2532948"/>
                <a:gd name="connsiteY5" fmla="*/ 3015992 h 3015992"/>
                <a:gd name="connsiteX0" fmla="*/ 0 w 2538663"/>
                <a:gd name="connsiteY0" fmla="*/ 25047 h 3015992"/>
                <a:gd name="connsiteX1" fmla="*/ 64945 w 2538663"/>
                <a:gd name="connsiteY1" fmla="*/ 6396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38663"/>
                <a:gd name="connsiteY0" fmla="*/ 25047 h 3015992"/>
                <a:gd name="connsiteX1" fmla="*/ 63040 w 2538663"/>
                <a:gd name="connsiteY1" fmla="*/ 15921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25328"/>
                <a:gd name="connsiteY0" fmla="*/ 28857 h 3015992"/>
                <a:gd name="connsiteX1" fmla="*/ 49705 w 2525328"/>
                <a:gd name="connsiteY1" fmla="*/ 15921 h 3015992"/>
                <a:gd name="connsiteX2" fmla="*/ 187038 w 2525328"/>
                <a:gd name="connsiteY2" fmla="*/ 123 h 3015992"/>
                <a:gd name="connsiteX3" fmla="*/ 1247137 w 2525328"/>
                <a:gd name="connsiteY3" fmla="*/ 251792 h 3015992"/>
                <a:gd name="connsiteX4" fmla="*/ 2440302 w 2525328"/>
                <a:gd name="connsiteY4" fmla="*/ 2893553 h 3015992"/>
                <a:gd name="connsiteX5" fmla="*/ 2525328 w 2525328"/>
                <a:gd name="connsiteY5" fmla="*/ 3015992 h 3015992"/>
                <a:gd name="connsiteX0" fmla="*/ 0 w 2469462"/>
                <a:gd name="connsiteY0" fmla="*/ 28857 h 2893553"/>
                <a:gd name="connsiteX1" fmla="*/ 49705 w 2469462"/>
                <a:gd name="connsiteY1" fmla="*/ 15921 h 2893553"/>
                <a:gd name="connsiteX2" fmla="*/ 187038 w 2469462"/>
                <a:gd name="connsiteY2" fmla="*/ 123 h 2893553"/>
                <a:gd name="connsiteX3" fmla="*/ 1247137 w 2469462"/>
                <a:gd name="connsiteY3" fmla="*/ 251792 h 2893553"/>
                <a:gd name="connsiteX4" fmla="*/ 2440302 w 2469462"/>
                <a:gd name="connsiteY4" fmla="*/ 2893553 h 2893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69462" h="2893553">
                  <a:moveTo>
                    <a:pt x="0" y="28857"/>
                  </a:moveTo>
                  <a:lnTo>
                    <a:pt x="49705" y="15921"/>
                  </a:lnTo>
                  <a:cubicBezTo>
                    <a:pt x="94327" y="12220"/>
                    <a:pt x="141445" y="627"/>
                    <a:pt x="187038" y="123"/>
                  </a:cubicBezTo>
                  <a:cubicBezTo>
                    <a:pt x="551780" y="-3908"/>
                    <a:pt x="940882" y="92105"/>
                    <a:pt x="1247137" y="251792"/>
                  </a:cubicBezTo>
                  <a:cubicBezTo>
                    <a:pt x="2215986" y="756901"/>
                    <a:pt x="2581199" y="2010367"/>
                    <a:pt x="2440302" y="2893553"/>
                  </a:cubicBezTo>
                </a:path>
              </a:pathLst>
            </a:custGeom>
            <a:noFill/>
            <a:ln w="635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6" name="Title 1">
            <a:extLst>
              <a:ext uri="{FF2B5EF4-FFF2-40B4-BE49-F238E27FC236}">
                <a16:creationId xmlns:a16="http://schemas.microsoft.com/office/drawing/2014/main" id="{FA7EBEDF-950A-F10B-DA20-24FB521457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7534656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FD0E545-8D0D-B848-836A-23CEBCD6B0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-1" y="5010313"/>
            <a:ext cx="3307890" cy="1876021"/>
          </a:xfrm>
          <a:custGeom>
            <a:avLst/>
            <a:gdLst>
              <a:gd name="connsiteX0" fmla="*/ 3307890 w 3307890"/>
              <a:gd name="connsiteY0" fmla="*/ 1876021 h 1876021"/>
              <a:gd name="connsiteX1" fmla="*/ 3062737 w 3307890"/>
              <a:gd name="connsiteY1" fmla="*/ 1792455 h 1876021"/>
              <a:gd name="connsiteX2" fmla="*/ 56315 w 3307890"/>
              <a:gd name="connsiteY2" fmla="*/ 110172 h 1876021"/>
              <a:gd name="connsiteX3" fmla="*/ 0 w 3307890"/>
              <a:gd name="connsiteY3" fmla="*/ 0 h 1876021"/>
              <a:gd name="connsiteX4" fmla="*/ 3307890 w 3307890"/>
              <a:gd name="connsiteY4" fmla="*/ 0 h 1876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07890" h="1876021">
                <a:moveTo>
                  <a:pt x="3307890" y="1876021"/>
                </a:moveTo>
                <a:lnTo>
                  <a:pt x="3062737" y="1792455"/>
                </a:lnTo>
                <a:cubicBezTo>
                  <a:pt x="1499256" y="1257872"/>
                  <a:pt x="548396" y="895598"/>
                  <a:pt x="56315" y="110172"/>
                </a:cubicBezTo>
                <a:lnTo>
                  <a:pt x="0" y="0"/>
                </a:lnTo>
                <a:lnTo>
                  <a:pt x="3307890" y="0"/>
                </a:lnTo>
                <a:close/>
              </a:path>
            </a:pathLst>
          </a:custGeom>
          <a:solidFill>
            <a:schemeClr val="accent2">
              <a:alpha val="60000"/>
            </a:schemeClr>
          </a:solidFill>
          <a:ln w="7620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7114E853-6F7C-9899-77FD-0E77D0A862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9394047" y="4650286"/>
            <a:ext cx="1859768" cy="2207713"/>
          </a:xfrm>
          <a:custGeom>
            <a:avLst/>
            <a:gdLst>
              <a:gd name="connsiteX0" fmla="*/ 0 w 1859768"/>
              <a:gd name="connsiteY0" fmla="*/ 118614 h 2207713"/>
              <a:gd name="connsiteX1" fmla="*/ 0 w 1859768"/>
              <a:gd name="connsiteY1" fmla="*/ 29419 h 2207713"/>
              <a:gd name="connsiteX2" fmla="*/ 16244 w 1859768"/>
              <a:gd name="connsiteY2" fmla="*/ 0 h 2207713"/>
              <a:gd name="connsiteX3" fmla="*/ 68915 w 1859768"/>
              <a:gd name="connsiteY3" fmla="*/ 0 h 2207713"/>
              <a:gd name="connsiteX4" fmla="*/ 1715656 w 1859768"/>
              <a:gd name="connsiteY4" fmla="*/ 494800 h 2207713"/>
              <a:gd name="connsiteX5" fmla="*/ 1683714 w 1859768"/>
              <a:gd name="connsiteY5" fmla="*/ 491216 h 2207713"/>
              <a:gd name="connsiteX6" fmla="*/ 1337678 w 1859768"/>
              <a:gd name="connsiteY6" fmla="*/ 431097 h 2207713"/>
              <a:gd name="connsiteX7" fmla="*/ 950852 w 1859768"/>
              <a:gd name="connsiteY7" fmla="*/ 31845 h 2207713"/>
              <a:gd name="connsiteX8" fmla="*/ 938957 w 1859768"/>
              <a:gd name="connsiteY8" fmla="*/ 0 h 2207713"/>
              <a:gd name="connsiteX9" fmla="*/ 1152830 w 1859768"/>
              <a:gd name="connsiteY9" fmla="*/ 0 h 2207713"/>
              <a:gd name="connsiteX10" fmla="*/ 1267279 w 1859768"/>
              <a:gd name="connsiteY10" fmla="*/ 105940 h 2207713"/>
              <a:gd name="connsiteX11" fmla="*/ 1390620 w 1859768"/>
              <a:gd name="connsiteY11" fmla="*/ 219990 h 2207713"/>
              <a:gd name="connsiteX12" fmla="*/ 1376706 w 1859768"/>
              <a:gd name="connsiteY12" fmla="*/ 237482 h 2207713"/>
              <a:gd name="connsiteX13" fmla="*/ 1213653 w 1859768"/>
              <a:gd name="connsiteY13" fmla="*/ 110730 h 2207713"/>
              <a:gd name="connsiteX14" fmla="*/ 1013214 w 1859768"/>
              <a:gd name="connsiteY14" fmla="*/ 4927 h 2207713"/>
              <a:gd name="connsiteX15" fmla="*/ 1634702 w 1859768"/>
              <a:gd name="connsiteY15" fmla="*/ 427133 h 2207713"/>
              <a:gd name="connsiteX16" fmla="*/ 1297389 w 1859768"/>
              <a:gd name="connsiteY16" fmla="*/ 8655 h 2207713"/>
              <a:gd name="connsiteX17" fmla="*/ 1259059 w 1859768"/>
              <a:gd name="connsiteY17" fmla="*/ 0 h 2207713"/>
              <a:gd name="connsiteX18" fmla="*/ 1410415 w 1859768"/>
              <a:gd name="connsiteY18" fmla="*/ 0 h 2207713"/>
              <a:gd name="connsiteX19" fmla="*/ 1499716 w 1859768"/>
              <a:gd name="connsiteY19" fmla="*/ 66646 h 2207713"/>
              <a:gd name="connsiteX20" fmla="*/ 1637128 w 1859768"/>
              <a:gd name="connsiteY20" fmla="*/ 256403 h 2207713"/>
              <a:gd name="connsiteX21" fmla="*/ 1744255 w 1859768"/>
              <a:gd name="connsiteY21" fmla="*/ 480278 h 2207713"/>
              <a:gd name="connsiteX22" fmla="*/ 1715656 w 1859768"/>
              <a:gd name="connsiteY22" fmla="*/ 494800 h 2207713"/>
              <a:gd name="connsiteX23" fmla="*/ 118121 w 1859768"/>
              <a:gd name="connsiteY23" fmla="*/ 857786 h 2207713"/>
              <a:gd name="connsiteX24" fmla="*/ 433985 w 1859768"/>
              <a:gd name="connsiteY24" fmla="*/ 43220 h 2207713"/>
              <a:gd name="connsiteX25" fmla="*/ 374233 w 1859768"/>
              <a:gd name="connsiteY25" fmla="*/ 191214 h 2207713"/>
              <a:gd name="connsiteX26" fmla="*/ 330862 w 1859768"/>
              <a:gd name="connsiteY26" fmla="*/ 340269 h 2207713"/>
              <a:gd name="connsiteX27" fmla="*/ 304211 w 1859768"/>
              <a:gd name="connsiteY27" fmla="*/ 324744 h 2207713"/>
              <a:gd name="connsiteX28" fmla="*/ 328152 w 1859768"/>
              <a:gd name="connsiteY28" fmla="*/ 127918 h 2207713"/>
              <a:gd name="connsiteX29" fmla="*/ 118121 w 1859768"/>
              <a:gd name="connsiteY29" fmla="*/ 857786 h 2207713"/>
              <a:gd name="connsiteX30" fmla="*/ 74903 w 1859768"/>
              <a:gd name="connsiteY30" fmla="*/ 966935 h 2207713"/>
              <a:gd name="connsiteX31" fmla="*/ 69491 w 1859768"/>
              <a:gd name="connsiteY31" fmla="*/ 504187 h 2207713"/>
              <a:gd name="connsiteX32" fmla="*/ 326258 w 1859768"/>
              <a:gd name="connsiteY32" fmla="*/ 28833 h 2207713"/>
              <a:gd name="connsiteX33" fmla="*/ 351236 w 1859768"/>
              <a:gd name="connsiteY33" fmla="*/ 0 h 2207713"/>
              <a:gd name="connsiteX34" fmla="*/ 500166 w 1859768"/>
              <a:gd name="connsiteY34" fmla="*/ 0 h 2207713"/>
              <a:gd name="connsiteX35" fmla="*/ 501007 w 1859768"/>
              <a:gd name="connsiteY35" fmla="*/ 11785 h 2207713"/>
              <a:gd name="connsiteX36" fmla="*/ 245786 w 1859768"/>
              <a:gd name="connsiteY36" fmla="*/ 835475 h 2207713"/>
              <a:gd name="connsiteX37" fmla="*/ 74903 w 1859768"/>
              <a:gd name="connsiteY37" fmla="*/ 966935 h 2207713"/>
              <a:gd name="connsiteX38" fmla="*/ 1661942 w 1859768"/>
              <a:gd name="connsiteY38" fmla="*/ 1353812 h 2207713"/>
              <a:gd name="connsiteX39" fmla="*/ 1749989 w 1859768"/>
              <a:gd name="connsiteY39" fmla="*/ 1342230 h 2207713"/>
              <a:gd name="connsiteX40" fmla="*/ 1312677 w 1859768"/>
              <a:gd name="connsiteY40" fmla="*/ 968809 h 2207713"/>
              <a:gd name="connsiteX41" fmla="*/ 1232104 w 1859768"/>
              <a:gd name="connsiteY41" fmla="*/ 979836 h 2207713"/>
              <a:gd name="connsiteX42" fmla="*/ 1510925 w 1859768"/>
              <a:gd name="connsiteY42" fmla="*/ 1199562 h 2207713"/>
              <a:gd name="connsiteX43" fmla="*/ 1217072 w 1859768"/>
              <a:gd name="connsiteY43" fmla="*/ 1054216 h 2207713"/>
              <a:gd name="connsiteX44" fmla="*/ 1661942 w 1859768"/>
              <a:gd name="connsiteY44" fmla="*/ 1353812 h 2207713"/>
              <a:gd name="connsiteX45" fmla="*/ 394807 w 1859768"/>
              <a:gd name="connsiteY45" fmla="*/ 1626455 h 2207713"/>
              <a:gd name="connsiteX46" fmla="*/ 466693 w 1859768"/>
              <a:gd name="connsiteY46" fmla="*/ 1595017 h 2207713"/>
              <a:gd name="connsiteX47" fmla="*/ 650821 w 1859768"/>
              <a:gd name="connsiteY47" fmla="*/ 1077380 h 2207713"/>
              <a:gd name="connsiteX48" fmla="*/ 591587 w 1859768"/>
              <a:gd name="connsiteY48" fmla="*/ 974474 h 2207713"/>
              <a:gd name="connsiteX49" fmla="*/ 557216 w 1859768"/>
              <a:gd name="connsiteY49" fmla="*/ 1094794 h 2207713"/>
              <a:gd name="connsiteX50" fmla="*/ 486148 w 1859768"/>
              <a:gd name="connsiteY50" fmla="*/ 1388665 h 2207713"/>
              <a:gd name="connsiteX51" fmla="*/ 452079 w 1859768"/>
              <a:gd name="connsiteY51" fmla="*/ 1431607 h 2207713"/>
              <a:gd name="connsiteX52" fmla="*/ 430714 w 1859768"/>
              <a:gd name="connsiteY52" fmla="*/ 1420233 h 2207713"/>
              <a:gd name="connsiteX53" fmla="*/ 493238 w 1859768"/>
              <a:gd name="connsiteY53" fmla="*/ 1142201 h 2207713"/>
              <a:gd name="connsiteX54" fmla="*/ 394807 w 1859768"/>
              <a:gd name="connsiteY54" fmla="*/ 1626455 h 2207713"/>
              <a:gd name="connsiteX55" fmla="*/ 1315388 w 1859768"/>
              <a:gd name="connsiteY55" fmla="*/ 2115696 h 2207713"/>
              <a:gd name="connsiteX56" fmla="*/ 1031118 w 1859768"/>
              <a:gd name="connsiteY56" fmla="*/ 1312715 h 2207713"/>
              <a:gd name="connsiteX57" fmla="*/ 1129348 w 1859768"/>
              <a:gd name="connsiteY57" fmla="*/ 1549780 h 2207713"/>
              <a:gd name="connsiteX58" fmla="*/ 1248211 w 1859768"/>
              <a:gd name="connsiteY58" fmla="*/ 1771927 h 2207713"/>
              <a:gd name="connsiteX59" fmla="*/ 1198290 w 1859768"/>
              <a:gd name="connsiteY59" fmla="*/ 1766808 h 2207713"/>
              <a:gd name="connsiteX60" fmla="*/ 990681 w 1859768"/>
              <a:gd name="connsiteY60" fmla="*/ 1391341 h 2207713"/>
              <a:gd name="connsiteX61" fmla="*/ 1315388 w 1859768"/>
              <a:gd name="connsiteY61" fmla="*/ 2115696 h 2207713"/>
              <a:gd name="connsiteX62" fmla="*/ 1350109 w 1859768"/>
              <a:gd name="connsiteY62" fmla="*/ 2206800 h 2207713"/>
              <a:gd name="connsiteX63" fmla="*/ 1016305 w 1859768"/>
              <a:gd name="connsiteY63" fmla="*/ 1939402 h 2207713"/>
              <a:gd name="connsiteX64" fmla="*/ 915052 w 1859768"/>
              <a:gd name="connsiteY64" fmla="*/ 1399068 h 2207713"/>
              <a:gd name="connsiteX65" fmla="*/ 854782 w 1859768"/>
              <a:gd name="connsiteY65" fmla="*/ 932137 h 2207713"/>
              <a:gd name="connsiteX66" fmla="*/ 770773 w 1859768"/>
              <a:gd name="connsiteY66" fmla="*/ 875318 h 2207713"/>
              <a:gd name="connsiteX67" fmla="*/ 825964 w 1859768"/>
              <a:gd name="connsiteY67" fmla="*/ 823117 h 2207713"/>
              <a:gd name="connsiteX68" fmla="*/ 778651 w 1859768"/>
              <a:gd name="connsiteY68" fmla="*/ 628353 h 2207713"/>
              <a:gd name="connsiteX69" fmla="*/ 674057 w 1859768"/>
              <a:gd name="connsiteY69" fmla="*/ 806473 h 2207713"/>
              <a:gd name="connsiteX70" fmla="*/ 678691 w 1859768"/>
              <a:gd name="connsiteY70" fmla="*/ 987300 h 2207713"/>
              <a:gd name="connsiteX71" fmla="*/ 573399 w 1859768"/>
              <a:gd name="connsiteY71" fmla="*/ 1572793 h 2207713"/>
              <a:gd name="connsiteX72" fmla="*/ 448294 w 1859768"/>
              <a:gd name="connsiteY72" fmla="*/ 1671763 h 2207713"/>
              <a:gd name="connsiteX73" fmla="*/ 347341 w 1859768"/>
              <a:gd name="connsiteY73" fmla="*/ 1644762 h 2207713"/>
              <a:gd name="connsiteX74" fmla="*/ 322256 w 1859768"/>
              <a:gd name="connsiteY74" fmla="*/ 1459939 h 2207713"/>
              <a:gd name="connsiteX75" fmla="*/ 495295 w 1859768"/>
              <a:gd name="connsiteY75" fmla="*/ 1011735 h 2207713"/>
              <a:gd name="connsiteX76" fmla="*/ 631502 w 1859768"/>
              <a:gd name="connsiteY76" fmla="*/ 767246 h 2207713"/>
              <a:gd name="connsiteX77" fmla="*/ 678184 w 1859768"/>
              <a:gd name="connsiteY77" fmla="*/ 678226 h 2207713"/>
              <a:gd name="connsiteX78" fmla="*/ 718531 w 1859768"/>
              <a:gd name="connsiteY78" fmla="*/ 365894 h 2207713"/>
              <a:gd name="connsiteX79" fmla="*/ 669080 w 1859768"/>
              <a:gd name="connsiteY79" fmla="*/ 150213 h 2207713"/>
              <a:gd name="connsiteX80" fmla="*/ 639037 w 1859768"/>
              <a:gd name="connsiteY80" fmla="*/ 0 h 2207713"/>
              <a:gd name="connsiteX81" fmla="*/ 685477 w 1859768"/>
              <a:gd name="connsiteY81" fmla="*/ 0 h 2207713"/>
              <a:gd name="connsiteX82" fmla="*/ 830123 w 1859768"/>
              <a:gd name="connsiteY82" fmla="*/ 644646 h 2207713"/>
              <a:gd name="connsiteX83" fmla="*/ 868286 w 1859768"/>
              <a:gd name="connsiteY83" fmla="*/ 801231 h 2207713"/>
              <a:gd name="connsiteX84" fmla="*/ 945378 w 1859768"/>
              <a:gd name="connsiteY84" fmla="*/ 881698 h 2207713"/>
              <a:gd name="connsiteX85" fmla="*/ 1208838 w 1859768"/>
              <a:gd name="connsiteY85" fmla="*/ 919029 h 2207713"/>
              <a:gd name="connsiteX86" fmla="*/ 1753984 w 1859768"/>
              <a:gd name="connsiteY86" fmla="*/ 1208539 h 2207713"/>
              <a:gd name="connsiteX87" fmla="*/ 1859768 w 1859768"/>
              <a:gd name="connsiteY87" fmla="*/ 1390144 h 2207713"/>
              <a:gd name="connsiteX88" fmla="*/ 1607507 w 1859768"/>
              <a:gd name="connsiteY88" fmla="*/ 1402956 h 2207713"/>
              <a:gd name="connsiteX89" fmla="*/ 1298703 w 1859768"/>
              <a:gd name="connsiteY89" fmla="*/ 1257406 h 2207713"/>
              <a:gd name="connsiteX90" fmla="*/ 1164863 w 1859768"/>
              <a:gd name="connsiteY90" fmla="*/ 1082843 h 2207713"/>
              <a:gd name="connsiteX91" fmla="*/ 1010750 w 1859768"/>
              <a:gd name="connsiteY91" fmla="*/ 956586 h 2207713"/>
              <a:gd name="connsiteX92" fmla="*/ 905506 w 1859768"/>
              <a:gd name="connsiteY92" fmla="*/ 929445 h 2207713"/>
              <a:gd name="connsiteX93" fmla="*/ 994250 w 1859768"/>
              <a:gd name="connsiteY93" fmla="*/ 1187151 h 2207713"/>
              <a:gd name="connsiteX94" fmla="*/ 1063313 w 1859768"/>
              <a:gd name="connsiteY94" fmla="*/ 1241331 h 2207713"/>
              <a:gd name="connsiteX95" fmla="*/ 1403427 w 1859768"/>
              <a:gd name="connsiteY95" fmla="*/ 1675440 h 2207713"/>
              <a:gd name="connsiteX96" fmla="*/ 1412888 w 1859768"/>
              <a:gd name="connsiteY96" fmla="*/ 2013308 h 2207713"/>
              <a:gd name="connsiteX97" fmla="*/ 1370292 w 1859768"/>
              <a:gd name="connsiteY97" fmla="*/ 2202341 h 2207713"/>
              <a:gd name="connsiteX98" fmla="*/ 1350109 w 1859768"/>
              <a:gd name="connsiteY98" fmla="*/ 2206800 h 2207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</a:cxnLst>
            <a:rect l="l" t="t" r="r" b="b"/>
            <a:pathLst>
              <a:path w="1859768" h="2207713">
                <a:moveTo>
                  <a:pt x="0" y="118614"/>
                </a:moveTo>
                <a:lnTo>
                  <a:pt x="0" y="29419"/>
                </a:lnTo>
                <a:lnTo>
                  <a:pt x="16244" y="0"/>
                </a:lnTo>
                <a:lnTo>
                  <a:pt x="68915" y="0"/>
                </a:lnTo>
                <a:close/>
                <a:moveTo>
                  <a:pt x="1715656" y="494800"/>
                </a:moveTo>
                <a:cubicBezTo>
                  <a:pt x="1704862" y="495265"/>
                  <a:pt x="1693511" y="492713"/>
                  <a:pt x="1683714" y="491216"/>
                </a:cubicBezTo>
                <a:cubicBezTo>
                  <a:pt x="1567792" y="473756"/>
                  <a:pt x="1449925" y="461958"/>
                  <a:pt x="1337678" y="431097"/>
                </a:cubicBezTo>
                <a:cubicBezTo>
                  <a:pt x="1134061" y="375091"/>
                  <a:pt x="1009028" y="231185"/>
                  <a:pt x="950852" y="31845"/>
                </a:cubicBezTo>
                <a:lnTo>
                  <a:pt x="938957" y="0"/>
                </a:lnTo>
                <a:lnTo>
                  <a:pt x="1152830" y="0"/>
                </a:lnTo>
                <a:lnTo>
                  <a:pt x="1267279" y="105940"/>
                </a:lnTo>
                <a:cubicBezTo>
                  <a:pt x="1308707" y="144308"/>
                  <a:pt x="1349638" y="182194"/>
                  <a:pt x="1390620" y="219990"/>
                </a:cubicBezTo>
                <a:cubicBezTo>
                  <a:pt x="1386245" y="225654"/>
                  <a:pt x="1381298" y="231460"/>
                  <a:pt x="1376706" y="237482"/>
                </a:cubicBezTo>
                <a:cubicBezTo>
                  <a:pt x="1304559" y="222422"/>
                  <a:pt x="1267575" y="152885"/>
                  <a:pt x="1213653" y="110730"/>
                </a:cubicBezTo>
                <a:cubicBezTo>
                  <a:pt x="1155161" y="64853"/>
                  <a:pt x="1098884" y="19331"/>
                  <a:pt x="1013214" y="4927"/>
                </a:cubicBezTo>
                <a:cubicBezTo>
                  <a:pt x="1047417" y="278154"/>
                  <a:pt x="1317065" y="436272"/>
                  <a:pt x="1634702" y="427133"/>
                </a:cubicBezTo>
                <a:cubicBezTo>
                  <a:pt x="1577765" y="199027"/>
                  <a:pt x="1448459" y="58590"/>
                  <a:pt x="1297389" y="8655"/>
                </a:cubicBezTo>
                <a:lnTo>
                  <a:pt x="1259059" y="0"/>
                </a:lnTo>
                <a:lnTo>
                  <a:pt x="1410415" y="0"/>
                </a:lnTo>
                <a:lnTo>
                  <a:pt x="1499716" y="66646"/>
                </a:lnTo>
                <a:cubicBezTo>
                  <a:pt x="1554948" y="119466"/>
                  <a:pt x="1598789" y="185076"/>
                  <a:pt x="1637128" y="256403"/>
                </a:cubicBezTo>
                <a:cubicBezTo>
                  <a:pt x="1675184" y="326584"/>
                  <a:pt x="1755798" y="433557"/>
                  <a:pt x="1744255" y="480278"/>
                </a:cubicBezTo>
                <a:cubicBezTo>
                  <a:pt x="1736686" y="490852"/>
                  <a:pt x="1726450" y="494335"/>
                  <a:pt x="1715656" y="494800"/>
                </a:cubicBezTo>
                <a:close/>
                <a:moveTo>
                  <a:pt x="118121" y="857786"/>
                </a:moveTo>
                <a:cubicBezTo>
                  <a:pt x="321011" y="780677"/>
                  <a:pt x="535523" y="340321"/>
                  <a:pt x="433985" y="43220"/>
                </a:cubicBezTo>
                <a:cubicBezTo>
                  <a:pt x="410330" y="101200"/>
                  <a:pt x="389994" y="145563"/>
                  <a:pt x="374233" y="191214"/>
                </a:cubicBezTo>
                <a:cubicBezTo>
                  <a:pt x="357538" y="239229"/>
                  <a:pt x="345560" y="289103"/>
                  <a:pt x="330862" y="340269"/>
                </a:cubicBezTo>
                <a:cubicBezTo>
                  <a:pt x="314214" y="330754"/>
                  <a:pt x="303849" y="326966"/>
                  <a:pt x="304211" y="324744"/>
                </a:cubicBezTo>
                <a:cubicBezTo>
                  <a:pt x="311428" y="259327"/>
                  <a:pt x="319790" y="193622"/>
                  <a:pt x="328152" y="127918"/>
                </a:cubicBezTo>
                <a:cubicBezTo>
                  <a:pt x="110186" y="438886"/>
                  <a:pt x="47314" y="643052"/>
                  <a:pt x="118121" y="857786"/>
                </a:cubicBezTo>
                <a:close/>
                <a:moveTo>
                  <a:pt x="74903" y="966935"/>
                </a:moveTo>
                <a:cubicBezTo>
                  <a:pt x="38034" y="945758"/>
                  <a:pt x="15827" y="648523"/>
                  <a:pt x="69491" y="504187"/>
                </a:cubicBezTo>
                <a:cubicBezTo>
                  <a:pt x="133206" y="333209"/>
                  <a:pt x="216093" y="172655"/>
                  <a:pt x="326258" y="28833"/>
                </a:cubicBezTo>
                <a:lnTo>
                  <a:pt x="351236" y="0"/>
                </a:lnTo>
                <a:lnTo>
                  <a:pt x="500166" y="0"/>
                </a:lnTo>
                <a:lnTo>
                  <a:pt x="501007" y="11785"/>
                </a:lnTo>
                <a:cubicBezTo>
                  <a:pt x="557150" y="329413"/>
                  <a:pt x="461159" y="602456"/>
                  <a:pt x="245786" y="835475"/>
                </a:cubicBezTo>
                <a:cubicBezTo>
                  <a:pt x="201837" y="882723"/>
                  <a:pt x="98490" y="976231"/>
                  <a:pt x="74903" y="966935"/>
                </a:cubicBezTo>
                <a:close/>
                <a:moveTo>
                  <a:pt x="1661942" y="1353812"/>
                </a:moveTo>
                <a:cubicBezTo>
                  <a:pt x="1689964" y="1352207"/>
                  <a:pt x="1719270" y="1348345"/>
                  <a:pt x="1749989" y="1342230"/>
                </a:cubicBezTo>
                <a:cubicBezTo>
                  <a:pt x="1656665" y="1097504"/>
                  <a:pt x="1497337" y="963250"/>
                  <a:pt x="1312677" y="968809"/>
                </a:cubicBezTo>
                <a:cubicBezTo>
                  <a:pt x="1286297" y="969603"/>
                  <a:pt x="1259399" y="973250"/>
                  <a:pt x="1232104" y="979836"/>
                </a:cubicBezTo>
                <a:cubicBezTo>
                  <a:pt x="1319351" y="1062014"/>
                  <a:pt x="1460184" y="1072004"/>
                  <a:pt x="1510925" y="1199562"/>
                </a:cubicBezTo>
                <a:cubicBezTo>
                  <a:pt x="1413953" y="1150563"/>
                  <a:pt x="1328893" y="1083357"/>
                  <a:pt x="1217072" y="1054216"/>
                </a:cubicBezTo>
                <a:cubicBezTo>
                  <a:pt x="1332495" y="1265699"/>
                  <a:pt x="1465786" y="1365048"/>
                  <a:pt x="1661942" y="1353812"/>
                </a:cubicBezTo>
                <a:close/>
                <a:moveTo>
                  <a:pt x="394807" y="1626455"/>
                </a:moveTo>
                <a:cubicBezTo>
                  <a:pt x="431036" y="1610664"/>
                  <a:pt x="450719" y="1605418"/>
                  <a:pt x="466693" y="1595017"/>
                </a:cubicBezTo>
                <a:cubicBezTo>
                  <a:pt x="617981" y="1496170"/>
                  <a:pt x="702592" y="1260677"/>
                  <a:pt x="650821" y="1077380"/>
                </a:cubicBezTo>
                <a:cubicBezTo>
                  <a:pt x="640663" y="1042498"/>
                  <a:pt x="641972" y="997433"/>
                  <a:pt x="591587" y="974474"/>
                </a:cubicBezTo>
                <a:cubicBezTo>
                  <a:pt x="578978" y="1018116"/>
                  <a:pt x="566810" y="1056169"/>
                  <a:pt x="557216" y="1094794"/>
                </a:cubicBezTo>
                <a:cubicBezTo>
                  <a:pt x="533192" y="1193037"/>
                  <a:pt x="511601" y="1291280"/>
                  <a:pt x="486148" y="1388665"/>
                </a:cubicBezTo>
                <a:cubicBezTo>
                  <a:pt x="481894" y="1404645"/>
                  <a:pt x="464055" y="1417340"/>
                  <a:pt x="452079" y="1431607"/>
                </a:cubicBezTo>
                <a:cubicBezTo>
                  <a:pt x="445076" y="1427887"/>
                  <a:pt x="437717" y="1423952"/>
                  <a:pt x="430714" y="1420233"/>
                </a:cubicBezTo>
                <a:cubicBezTo>
                  <a:pt x="451292" y="1327723"/>
                  <a:pt x="472444" y="1235070"/>
                  <a:pt x="493238" y="1142201"/>
                </a:cubicBezTo>
                <a:cubicBezTo>
                  <a:pt x="405949" y="1288283"/>
                  <a:pt x="340614" y="1438288"/>
                  <a:pt x="394807" y="1626455"/>
                </a:cubicBezTo>
                <a:close/>
                <a:moveTo>
                  <a:pt x="1315388" y="2115696"/>
                </a:moveTo>
                <a:cubicBezTo>
                  <a:pt x="1459383" y="1841253"/>
                  <a:pt x="1300831" y="1370388"/>
                  <a:pt x="1031118" y="1312715"/>
                </a:cubicBezTo>
                <a:cubicBezTo>
                  <a:pt x="1065996" y="1397084"/>
                  <a:pt x="1095810" y="1474508"/>
                  <a:pt x="1129348" y="1549780"/>
                </a:cubicBezTo>
                <a:cubicBezTo>
                  <a:pt x="1161888" y="1623476"/>
                  <a:pt x="1222856" y="1683035"/>
                  <a:pt x="1248211" y="1771927"/>
                </a:cubicBezTo>
                <a:cubicBezTo>
                  <a:pt x="1222391" y="1769583"/>
                  <a:pt x="1201710" y="1773253"/>
                  <a:pt x="1198290" y="1766808"/>
                </a:cubicBezTo>
                <a:cubicBezTo>
                  <a:pt x="1127371" y="1641272"/>
                  <a:pt x="1057886" y="1514158"/>
                  <a:pt x="990681" y="1391341"/>
                </a:cubicBezTo>
                <a:cubicBezTo>
                  <a:pt x="855540" y="1570131"/>
                  <a:pt x="974506" y="1949897"/>
                  <a:pt x="1315388" y="2115696"/>
                </a:cubicBezTo>
                <a:close/>
                <a:moveTo>
                  <a:pt x="1350109" y="2206800"/>
                </a:moveTo>
                <a:cubicBezTo>
                  <a:pt x="1227294" y="2132029"/>
                  <a:pt x="1103839" y="2055898"/>
                  <a:pt x="1016305" y="1939402"/>
                </a:cubicBezTo>
                <a:cubicBezTo>
                  <a:pt x="894527" y="1777942"/>
                  <a:pt x="844899" y="1595932"/>
                  <a:pt x="915052" y="1399068"/>
                </a:cubicBezTo>
                <a:cubicBezTo>
                  <a:pt x="975348" y="1229938"/>
                  <a:pt x="907264" y="1082692"/>
                  <a:pt x="854782" y="932137"/>
                </a:cubicBezTo>
                <a:cubicBezTo>
                  <a:pt x="846533" y="908644"/>
                  <a:pt x="804422" y="896999"/>
                  <a:pt x="770773" y="875318"/>
                </a:cubicBezTo>
                <a:cubicBezTo>
                  <a:pt x="787545" y="859543"/>
                  <a:pt x="802883" y="845346"/>
                  <a:pt x="825964" y="823117"/>
                </a:cubicBezTo>
                <a:cubicBezTo>
                  <a:pt x="812484" y="768678"/>
                  <a:pt x="797092" y="705284"/>
                  <a:pt x="778651" y="628353"/>
                </a:cubicBezTo>
                <a:cubicBezTo>
                  <a:pt x="718445" y="684857"/>
                  <a:pt x="704504" y="750136"/>
                  <a:pt x="674057" y="806473"/>
                </a:cubicBezTo>
                <a:cubicBezTo>
                  <a:pt x="639013" y="871268"/>
                  <a:pt x="653565" y="926351"/>
                  <a:pt x="678691" y="987300"/>
                </a:cubicBezTo>
                <a:cubicBezTo>
                  <a:pt x="768807" y="1203882"/>
                  <a:pt x="699453" y="1395372"/>
                  <a:pt x="573399" y="1572793"/>
                </a:cubicBezTo>
                <a:cubicBezTo>
                  <a:pt x="543911" y="1614586"/>
                  <a:pt x="491566" y="1640205"/>
                  <a:pt x="448294" y="1671763"/>
                </a:cubicBezTo>
                <a:cubicBezTo>
                  <a:pt x="404448" y="1703465"/>
                  <a:pt x="371872" y="1682427"/>
                  <a:pt x="347341" y="1644762"/>
                </a:cubicBezTo>
                <a:cubicBezTo>
                  <a:pt x="310117" y="1587763"/>
                  <a:pt x="311251" y="1523568"/>
                  <a:pt x="322256" y="1459939"/>
                </a:cubicBezTo>
                <a:cubicBezTo>
                  <a:pt x="349914" y="1299003"/>
                  <a:pt x="405306" y="1149365"/>
                  <a:pt x="495295" y="1011735"/>
                </a:cubicBezTo>
                <a:cubicBezTo>
                  <a:pt x="545960" y="933888"/>
                  <a:pt x="586695" y="849101"/>
                  <a:pt x="631502" y="767246"/>
                </a:cubicBezTo>
                <a:cubicBezTo>
                  <a:pt x="647658" y="737930"/>
                  <a:pt x="657956" y="704608"/>
                  <a:pt x="678184" y="678226"/>
                </a:cubicBezTo>
                <a:cubicBezTo>
                  <a:pt x="752638" y="581017"/>
                  <a:pt x="749272" y="478997"/>
                  <a:pt x="718531" y="365894"/>
                </a:cubicBezTo>
                <a:cubicBezTo>
                  <a:pt x="699256" y="294803"/>
                  <a:pt x="683666" y="222633"/>
                  <a:pt x="669080" y="150213"/>
                </a:cubicBezTo>
                <a:lnTo>
                  <a:pt x="639037" y="0"/>
                </a:lnTo>
                <a:lnTo>
                  <a:pt x="685477" y="0"/>
                </a:lnTo>
                <a:lnTo>
                  <a:pt x="830123" y="644646"/>
                </a:lnTo>
                <a:cubicBezTo>
                  <a:pt x="841889" y="697081"/>
                  <a:pt x="858594" y="748580"/>
                  <a:pt x="868286" y="801231"/>
                </a:cubicBezTo>
                <a:cubicBezTo>
                  <a:pt x="876847" y="846862"/>
                  <a:pt x="902344" y="867547"/>
                  <a:pt x="945378" y="881698"/>
                </a:cubicBezTo>
                <a:cubicBezTo>
                  <a:pt x="1031306" y="909427"/>
                  <a:pt x="1113389" y="928992"/>
                  <a:pt x="1208838" y="919029"/>
                </a:cubicBezTo>
                <a:cubicBezTo>
                  <a:pt x="1450323" y="893401"/>
                  <a:pt x="1641860" y="979221"/>
                  <a:pt x="1753984" y="1208539"/>
                </a:cubicBezTo>
                <a:cubicBezTo>
                  <a:pt x="1782977" y="1267908"/>
                  <a:pt x="1856145" y="1343578"/>
                  <a:pt x="1859768" y="1390144"/>
                </a:cubicBezTo>
                <a:cubicBezTo>
                  <a:pt x="1836417" y="1439526"/>
                  <a:pt x="1688979" y="1406544"/>
                  <a:pt x="1607507" y="1402956"/>
                </a:cubicBezTo>
                <a:cubicBezTo>
                  <a:pt x="1486122" y="1397822"/>
                  <a:pt x="1378192" y="1354922"/>
                  <a:pt x="1298703" y="1257406"/>
                </a:cubicBezTo>
                <a:cubicBezTo>
                  <a:pt x="1252324" y="1200270"/>
                  <a:pt x="1195489" y="1147586"/>
                  <a:pt x="1164863" y="1082843"/>
                </a:cubicBezTo>
                <a:cubicBezTo>
                  <a:pt x="1130674" y="1011083"/>
                  <a:pt x="1077231" y="979459"/>
                  <a:pt x="1010750" y="956586"/>
                </a:cubicBezTo>
                <a:cubicBezTo>
                  <a:pt x="982871" y="947151"/>
                  <a:pt x="954125" y="941586"/>
                  <a:pt x="905506" y="929445"/>
                </a:cubicBezTo>
                <a:cubicBezTo>
                  <a:pt x="938069" y="1026569"/>
                  <a:pt x="961505" y="1108942"/>
                  <a:pt x="994250" y="1187151"/>
                </a:cubicBezTo>
                <a:cubicBezTo>
                  <a:pt x="1004360" y="1210786"/>
                  <a:pt x="1037660" y="1227381"/>
                  <a:pt x="1063313" y="1241331"/>
                </a:cubicBezTo>
                <a:cubicBezTo>
                  <a:pt x="1239665" y="1337051"/>
                  <a:pt x="1330749" y="1501044"/>
                  <a:pt x="1403427" y="1675440"/>
                </a:cubicBezTo>
                <a:cubicBezTo>
                  <a:pt x="1448273" y="1782871"/>
                  <a:pt x="1438875" y="1899660"/>
                  <a:pt x="1412888" y="2013308"/>
                </a:cubicBezTo>
                <a:cubicBezTo>
                  <a:pt x="1398883" y="2074648"/>
                  <a:pt x="1385094" y="2135629"/>
                  <a:pt x="1370292" y="2202341"/>
                </a:cubicBezTo>
                <a:cubicBezTo>
                  <a:pt x="1368001" y="2202917"/>
                  <a:pt x="1355826" y="2210234"/>
                  <a:pt x="1350109" y="2206800"/>
                </a:cubicBez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69002426-033B-400A-C519-AF4C659C4F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>
            <a:off x="8812879" y="2130044"/>
            <a:ext cx="5509165" cy="1249078"/>
          </a:xfrm>
          <a:custGeom>
            <a:avLst/>
            <a:gdLst>
              <a:gd name="connsiteX0" fmla="*/ 5509165 w 5509165"/>
              <a:gd name="connsiteY0" fmla="*/ 1249078 h 1249078"/>
              <a:gd name="connsiteX1" fmla="*/ 0 w 5509165"/>
              <a:gd name="connsiteY1" fmla="*/ 1249078 h 1249078"/>
              <a:gd name="connsiteX2" fmla="*/ 0 w 5509165"/>
              <a:gd name="connsiteY2" fmla="*/ 376649 h 1249078"/>
              <a:gd name="connsiteX3" fmla="*/ 124275 w 5509165"/>
              <a:gd name="connsiteY3" fmla="*/ 338434 h 1249078"/>
              <a:gd name="connsiteX4" fmla="*/ 2337339 w 5509165"/>
              <a:gd name="connsiteY4" fmla="*/ 1263 h 1249078"/>
              <a:gd name="connsiteX5" fmla="*/ 4747463 w 5509165"/>
              <a:gd name="connsiteY5" fmla="*/ 509094 h 1249078"/>
              <a:gd name="connsiteX6" fmla="*/ 5475419 w 5509165"/>
              <a:gd name="connsiteY6" fmla="*/ 1196657 h 1249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509165" h="1249078">
                <a:moveTo>
                  <a:pt x="5509165" y="1249078"/>
                </a:moveTo>
                <a:lnTo>
                  <a:pt x="0" y="1249078"/>
                </a:lnTo>
                <a:lnTo>
                  <a:pt x="0" y="376649"/>
                </a:lnTo>
                <a:lnTo>
                  <a:pt x="124275" y="338434"/>
                </a:lnTo>
                <a:cubicBezTo>
                  <a:pt x="840589" y="132976"/>
                  <a:pt x="1609226" y="14590"/>
                  <a:pt x="2337339" y="1263"/>
                </a:cubicBezTo>
                <a:cubicBezTo>
                  <a:pt x="3273483" y="-15871"/>
                  <a:pt x="4142637" y="140664"/>
                  <a:pt x="4747463" y="509094"/>
                </a:cubicBezTo>
                <a:cubicBezTo>
                  <a:pt x="5039841" y="687195"/>
                  <a:pt x="5284004" y="923072"/>
                  <a:pt x="5475419" y="1196657"/>
                </a:cubicBezTo>
                <a:close/>
              </a:path>
            </a:pathLst>
          </a:custGeom>
          <a:solidFill>
            <a:schemeClr val="accent4">
              <a:alpha val="50000"/>
            </a:schemeClr>
          </a:solidFill>
          <a:ln w="3774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3980755-170E-8438-DC1B-7B3283F2A49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400" y="2039112"/>
            <a:ext cx="7150608" cy="3356576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933C021B-6AA4-3C5D-099F-96D113A149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401185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Quot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90FA743D-BDB5-4069-7325-E91CA7BC3E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1"/>
            <a:ext cx="3216357" cy="3480449"/>
          </a:xfrm>
          <a:custGeom>
            <a:avLst/>
            <a:gdLst>
              <a:gd name="connsiteX0" fmla="*/ 0 w 3216357"/>
              <a:gd name="connsiteY0" fmla="*/ 0 h 3480449"/>
              <a:gd name="connsiteX1" fmla="*/ 3216357 w 3216357"/>
              <a:gd name="connsiteY1" fmla="*/ 0 h 3480449"/>
              <a:gd name="connsiteX2" fmla="*/ 3215555 w 3216357"/>
              <a:gd name="connsiteY2" fmla="*/ 37372 h 3480449"/>
              <a:gd name="connsiteX3" fmla="*/ 1743546 w 3216357"/>
              <a:gd name="connsiteY3" fmla="*/ 3185195 h 3480449"/>
              <a:gd name="connsiteX4" fmla="*/ 112171 w 3216357"/>
              <a:gd name="connsiteY4" fmla="*/ 3438794 h 3480449"/>
              <a:gd name="connsiteX5" fmla="*/ 0 w 3216357"/>
              <a:gd name="connsiteY5" fmla="*/ 3408770 h 3480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16357" h="3480449">
                <a:moveTo>
                  <a:pt x="0" y="0"/>
                </a:moveTo>
                <a:lnTo>
                  <a:pt x="3216357" y="0"/>
                </a:lnTo>
                <a:lnTo>
                  <a:pt x="3215555" y="37372"/>
                </a:lnTo>
                <a:cubicBezTo>
                  <a:pt x="3204137" y="529564"/>
                  <a:pt x="3121634" y="2470682"/>
                  <a:pt x="1743546" y="3185195"/>
                </a:cubicBezTo>
                <a:cubicBezTo>
                  <a:pt x="1289330" y="3420695"/>
                  <a:pt x="636456" y="3552958"/>
                  <a:pt x="112171" y="3438794"/>
                </a:cubicBezTo>
                <a:lnTo>
                  <a:pt x="0" y="3408770"/>
                </a:lnTo>
                <a:close/>
              </a:path>
            </a:pathLst>
          </a:custGeom>
          <a:solidFill>
            <a:schemeClr val="accent4">
              <a:alpha val="79000"/>
            </a:schemeClr>
          </a:solidFill>
          <a:ln w="3531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2FE03F25-D589-68A8-30C7-175547B6A9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037474" y="1618811"/>
            <a:ext cx="3154526" cy="5229819"/>
          </a:xfrm>
          <a:custGeom>
            <a:avLst/>
            <a:gdLst>
              <a:gd name="connsiteX0" fmla="*/ 2984957 w 3154526"/>
              <a:gd name="connsiteY0" fmla="*/ 4764199 h 5229819"/>
              <a:gd name="connsiteX1" fmla="*/ 3085247 w 3154526"/>
              <a:gd name="connsiteY1" fmla="*/ 4783935 h 5229819"/>
              <a:gd name="connsiteX2" fmla="*/ 3154526 w 3154526"/>
              <a:gd name="connsiteY2" fmla="*/ 4805985 h 5229819"/>
              <a:gd name="connsiteX3" fmla="*/ 3154526 w 3154526"/>
              <a:gd name="connsiteY3" fmla="*/ 4854317 h 5229819"/>
              <a:gd name="connsiteX4" fmla="*/ 3077489 w 3154526"/>
              <a:gd name="connsiteY4" fmla="*/ 4835342 h 5229819"/>
              <a:gd name="connsiteX5" fmla="*/ 2943802 w 3154526"/>
              <a:gd name="connsiteY5" fmla="*/ 4819637 h 5229819"/>
              <a:gd name="connsiteX6" fmla="*/ 2790751 w 3154526"/>
              <a:gd name="connsiteY6" fmla="*/ 4847576 h 5229819"/>
              <a:gd name="connsiteX7" fmla="*/ 2434897 w 3154526"/>
              <a:gd name="connsiteY7" fmla="*/ 5031577 h 5229819"/>
              <a:gd name="connsiteX8" fmla="*/ 2951768 w 3154526"/>
              <a:gd name="connsiteY8" fmla="*/ 4976098 h 5229819"/>
              <a:gd name="connsiteX9" fmla="*/ 3154526 w 3154526"/>
              <a:gd name="connsiteY9" fmla="*/ 4968709 h 5229819"/>
              <a:gd name="connsiteX10" fmla="*/ 3154526 w 3154526"/>
              <a:gd name="connsiteY10" fmla="*/ 5031765 h 5229819"/>
              <a:gd name="connsiteX11" fmla="*/ 3014835 w 3154526"/>
              <a:gd name="connsiteY11" fmla="*/ 5034301 h 5229819"/>
              <a:gd name="connsiteX12" fmla="*/ 2393353 w 3154526"/>
              <a:gd name="connsiteY12" fmla="*/ 5115550 h 5229819"/>
              <a:gd name="connsiteX13" fmla="*/ 2867479 w 3154526"/>
              <a:gd name="connsiteY13" fmla="*/ 5174972 h 5229819"/>
              <a:gd name="connsiteX14" fmla="*/ 3154526 w 3154526"/>
              <a:gd name="connsiteY14" fmla="*/ 5146324 h 5229819"/>
              <a:gd name="connsiteX15" fmla="*/ 3154526 w 3154526"/>
              <a:gd name="connsiteY15" fmla="*/ 5195560 h 5229819"/>
              <a:gd name="connsiteX16" fmla="*/ 2893424 w 3154526"/>
              <a:gd name="connsiteY16" fmla="*/ 5222073 h 5229819"/>
              <a:gd name="connsiteX17" fmla="*/ 2386859 w 3154526"/>
              <a:gd name="connsiteY17" fmla="*/ 5181967 h 5229819"/>
              <a:gd name="connsiteX18" fmla="*/ 2246076 w 3154526"/>
              <a:gd name="connsiteY18" fmla="*/ 5123402 h 5229819"/>
              <a:gd name="connsiteX19" fmla="*/ 2334992 w 3154526"/>
              <a:gd name="connsiteY19" fmla="*/ 5028470 h 5229819"/>
              <a:gd name="connsiteX20" fmla="*/ 2693848 w 3154526"/>
              <a:gd name="connsiteY20" fmla="*/ 4824451 h 5229819"/>
              <a:gd name="connsiteX21" fmla="*/ 2984957 w 3154526"/>
              <a:gd name="connsiteY21" fmla="*/ 4764199 h 5229819"/>
              <a:gd name="connsiteX22" fmla="*/ 2257356 w 3154526"/>
              <a:gd name="connsiteY22" fmla="*/ 4262588 h 5229819"/>
              <a:gd name="connsiteX23" fmla="*/ 2122814 w 3154526"/>
              <a:gd name="connsiteY23" fmla="*/ 4273357 h 5229819"/>
              <a:gd name="connsiteX24" fmla="*/ 2427819 w 3154526"/>
              <a:gd name="connsiteY24" fmla="*/ 4316623 h 5229819"/>
              <a:gd name="connsiteX25" fmla="*/ 2495745 w 3154526"/>
              <a:gd name="connsiteY25" fmla="*/ 4323417 h 5229819"/>
              <a:gd name="connsiteX26" fmla="*/ 2842012 w 3154526"/>
              <a:gd name="connsiteY26" fmla="*/ 4396980 h 5229819"/>
              <a:gd name="connsiteX27" fmla="*/ 2946172 w 3154526"/>
              <a:gd name="connsiteY27" fmla="*/ 4417967 h 5229819"/>
              <a:gd name="connsiteX28" fmla="*/ 2257356 w 3154526"/>
              <a:gd name="connsiteY28" fmla="*/ 4262588 h 5229819"/>
              <a:gd name="connsiteX29" fmla="*/ 2658537 w 3154526"/>
              <a:gd name="connsiteY29" fmla="*/ 3869558 h 5229819"/>
              <a:gd name="connsiteX30" fmla="*/ 2641175 w 3154526"/>
              <a:gd name="connsiteY30" fmla="*/ 3888643 h 5229819"/>
              <a:gd name="connsiteX31" fmla="*/ 3126479 w 3154526"/>
              <a:gd name="connsiteY31" fmla="*/ 4335544 h 5229819"/>
              <a:gd name="connsiteX32" fmla="*/ 3143670 w 3154526"/>
              <a:gd name="connsiteY32" fmla="*/ 4314908 h 5229819"/>
              <a:gd name="connsiteX33" fmla="*/ 2658537 w 3154526"/>
              <a:gd name="connsiteY33" fmla="*/ 3869558 h 5229819"/>
              <a:gd name="connsiteX34" fmla="*/ 2629101 w 3154526"/>
              <a:gd name="connsiteY34" fmla="*/ 3729983 h 5229819"/>
              <a:gd name="connsiteX35" fmla="*/ 2725377 w 3154526"/>
              <a:gd name="connsiteY35" fmla="*/ 3746294 h 5229819"/>
              <a:gd name="connsiteX36" fmla="*/ 3013384 w 3154526"/>
              <a:gd name="connsiteY36" fmla="*/ 3891324 h 5229819"/>
              <a:gd name="connsiteX37" fmla="*/ 3154526 w 3154526"/>
              <a:gd name="connsiteY37" fmla="*/ 3990464 h 5229819"/>
              <a:gd name="connsiteX38" fmla="*/ 3154526 w 3154526"/>
              <a:gd name="connsiteY38" fmla="*/ 4060395 h 5229819"/>
              <a:gd name="connsiteX39" fmla="*/ 3036403 w 3154526"/>
              <a:gd name="connsiteY39" fmla="*/ 3972021 h 5229819"/>
              <a:gd name="connsiteX40" fmla="*/ 2688997 w 3154526"/>
              <a:gd name="connsiteY40" fmla="*/ 3810128 h 5229819"/>
              <a:gd name="connsiteX41" fmla="*/ 3092476 w 3154526"/>
              <a:gd name="connsiteY41" fmla="*/ 4164235 h 5229819"/>
              <a:gd name="connsiteX42" fmla="*/ 3154526 w 3154526"/>
              <a:gd name="connsiteY42" fmla="*/ 4207256 h 5229819"/>
              <a:gd name="connsiteX43" fmla="*/ 3154526 w 3154526"/>
              <a:gd name="connsiteY43" fmla="*/ 4417507 h 5229819"/>
              <a:gd name="connsiteX44" fmla="*/ 3087942 w 3154526"/>
              <a:gd name="connsiteY44" fmla="*/ 4378606 h 5229819"/>
              <a:gd name="connsiteX45" fmla="*/ 3130359 w 3154526"/>
              <a:gd name="connsiteY45" fmla="*/ 4425849 h 5229819"/>
              <a:gd name="connsiteX46" fmla="*/ 3154526 w 3154526"/>
              <a:gd name="connsiteY46" fmla="*/ 4447989 h 5229819"/>
              <a:gd name="connsiteX47" fmla="*/ 3154526 w 3154526"/>
              <a:gd name="connsiteY47" fmla="*/ 4543354 h 5229819"/>
              <a:gd name="connsiteX48" fmla="*/ 3094526 w 3154526"/>
              <a:gd name="connsiteY48" fmla="*/ 4521621 h 5229819"/>
              <a:gd name="connsiteX49" fmla="*/ 2985083 w 3154526"/>
              <a:gd name="connsiteY49" fmla="*/ 4485238 h 5229819"/>
              <a:gd name="connsiteX50" fmla="*/ 2708626 w 3154526"/>
              <a:gd name="connsiteY50" fmla="*/ 4418017 h 5229819"/>
              <a:gd name="connsiteX51" fmla="*/ 2620844 w 3154526"/>
              <a:gd name="connsiteY51" fmla="*/ 4430706 h 5229819"/>
              <a:gd name="connsiteX52" fmla="*/ 2540001 w 3154526"/>
              <a:gd name="connsiteY52" fmla="*/ 4424025 h 5229819"/>
              <a:gd name="connsiteX53" fmla="*/ 1907604 w 3154526"/>
              <a:gd name="connsiteY53" fmla="*/ 4339664 h 5229819"/>
              <a:gd name="connsiteX54" fmla="*/ 1879113 w 3154526"/>
              <a:gd name="connsiteY54" fmla="*/ 4342926 h 5229819"/>
              <a:gd name="connsiteX55" fmla="*/ 1921270 w 3154526"/>
              <a:gd name="connsiteY55" fmla="*/ 4376988 h 5229819"/>
              <a:gd name="connsiteX56" fmla="*/ 2647281 w 3154526"/>
              <a:gd name="connsiteY56" fmla="*/ 4614572 h 5229819"/>
              <a:gd name="connsiteX57" fmla="*/ 3060973 w 3154526"/>
              <a:gd name="connsiteY57" fmla="*/ 4624283 h 5229819"/>
              <a:gd name="connsiteX58" fmla="*/ 3154526 w 3154526"/>
              <a:gd name="connsiteY58" fmla="*/ 4599347 h 5229819"/>
              <a:gd name="connsiteX59" fmla="*/ 3154526 w 3154526"/>
              <a:gd name="connsiteY59" fmla="*/ 4661496 h 5229819"/>
              <a:gd name="connsiteX60" fmla="*/ 3124590 w 3154526"/>
              <a:gd name="connsiteY60" fmla="*/ 4670972 h 5229819"/>
              <a:gd name="connsiteX61" fmla="*/ 2657957 w 3154526"/>
              <a:gd name="connsiteY61" fmla="*/ 4674486 h 5229819"/>
              <a:gd name="connsiteX62" fmla="*/ 1891952 w 3154526"/>
              <a:gd name="connsiteY62" fmla="*/ 4426992 h 5229819"/>
              <a:gd name="connsiteX63" fmla="*/ 1839998 w 3154526"/>
              <a:gd name="connsiteY63" fmla="*/ 4399458 h 5229819"/>
              <a:gd name="connsiteX64" fmla="*/ 1897411 w 3154526"/>
              <a:gd name="connsiteY64" fmla="*/ 4275071 h 5229819"/>
              <a:gd name="connsiteX65" fmla="*/ 2271660 w 3154526"/>
              <a:gd name="connsiteY65" fmla="*/ 4202654 h 5229819"/>
              <a:gd name="connsiteX66" fmla="*/ 2860369 w 3154526"/>
              <a:gd name="connsiteY66" fmla="*/ 4283351 h 5229819"/>
              <a:gd name="connsiteX67" fmla="*/ 2986729 w 3154526"/>
              <a:gd name="connsiteY67" fmla="*/ 4338210 h 5229819"/>
              <a:gd name="connsiteX68" fmla="*/ 2815025 w 3154526"/>
              <a:gd name="connsiteY68" fmla="*/ 4191559 h 5229819"/>
              <a:gd name="connsiteX69" fmla="*/ 2550431 w 3154526"/>
              <a:gd name="connsiteY69" fmla="*/ 3844543 h 5229819"/>
              <a:gd name="connsiteX70" fmla="*/ 2629101 w 3154526"/>
              <a:gd name="connsiteY70" fmla="*/ 3729983 h 5229819"/>
              <a:gd name="connsiteX71" fmla="*/ 2911098 w 3154526"/>
              <a:gd name="connsiteY71" fmla="*/ 3440435 h 5229819"/>
              <a:gd name="connsiteX72" fmla="*/ 2828048 w 3154526"/>
              <a:gd name="connsiteY72" fmla="*/ 3443932 h 5229819"/>
              <a:gd name="connsiteX73" fmla="*/ 2509409 w 3154526"/>
              <a:gd name="connsiteY73" fmla="*/ 3495655 h 5229819"/>
              <a:gd name="connsiteX74" fmla="*/ 2147895 w 3154526"/>
              <a:gd name="connsiteY74" fmla="*/ 3514483 h 5229819"/>
              <a:gd name="connsiteX75" fmla="*/ 2003552 w 3154526"/>
              <a:gd name="connsiteY75" fmla="*/ 3520439 h 5229819"/>
              <a:gd name="connsiteX76" fmla="*/ 2246830 w 3154526"/>
              <a:gd name="connsiteY76" fmla="*/ 3622276 h 5229819"/>
              <a:gd name="connsiteX77" fmla="*/ 2835671 w 3154526"/>
              <a:gd name="connsiteY77" fmla="*/ 3548747 h 5229819"/>
              <a:gd name="connsiteX78" fmla="*/ 2998953 w 3154526"/>
              <a:gd name="connsiteY78" fmla="*/ 3464237 h 5229819"/>
              <a:gd name="connsiteX79" fmla="*/ 2995075 w 3154526"/>
              <a:gd name="connsiteY79" fmla="*/ 3442088 h 5229819"/>
              <a:gd name="connsiteX80" fmla="*/ 2911098 w 3154526"/>
              <a:gd name="connsiteY80" fmla="*/ 3440435 h 5229819"/>
              <a:gd name="connsiteX81" fmla="*/ 2690666 w 3154526"/>
              <a:gd name="connsiteY81" fmla="*/ 3299672 h 5229819"/>
              <a:gd name="connsiteX82" fmla="*/ 2476905 w 3154526"/>
              <a:gd name="connsiteY82" fmla="*/ 3324782 h 5229819"/>
              <a:gd name="connsiteX83" fmla="*/ 2094849 w 3154526"/>
              <a:gd name="connsiteY83" fmla="*/ 3447220 h 5229819"/>
              <a:gd name="connsiteX84" fmla="*/ 2483888 w 3154526"/>
              <a:gd name="connsiteY84" fmla="*/ 3440295 h 5229819"/>
              <a:gd name="connsiteX85" fmla="*/ 3014076 w 3154526"/>
              <a:gd name="connsiteY85" fmla="*/ 3366305 h 5229819"/>
              <a:gd name="connsiteX86" fmla="*/ 2904378 w 3154526"/>
              <a:gd name="connsiteY86" fmla="*/ 3324561 h 5229819"/>
              <a:gd name="connsiteX87" fmla="*/ 2690666 w 3154526"/>
              <a:gd name="connsiteY87" fmla="*/ 3299672 h 5229819"/>
              <a:gd name="connsiteX88" fmla="*/ 2600173 w 3154526"/>
              <a:gd name="connsiteY88" fmla="*/ 3247414 h 5229819"/>
              <a:gd name="connsiteX89" fmla="*/ 3008079 w 3154526"/>
              <a:gd name="connsiteY89" fmla="*/ 3291395 h 5229819"/>
              <a:gd name="connsiteX90" fmla="*/ 3154526 w 3154526"/>
              <a:gd name="connsiteY90" fmla="*/ 3354047 h 5229819"/>
              <a:gd name="connsiteX91" fmla="*/ 3154526 w 3154526"/>
              <a:gd name="connsiteY91" fmla="*/ 3464030 h 5229819"/>
              <a:gd name="connsiteX92" fmla="*/ 3150012 w 3154526"/>
              <a:gd name="connsiteY92" fmla="*/ 3464430 h 5229819"/>
              <a:gd name="connsiteX93" fmla="*/ 3006185 w 3154526"/>
              <a:gd name="connsiteY93" fmla="*/ 3521395 h 5229819"/>
              <a:gd name="connsiteX94" fmla="*/ 2745224 w 3154526"/>
              <a:gd name="connsiteY94" fmla="*/ 3629721 h 5229819"/>
              <a:gd name="connsiteX95" fmla="*/ 2266244 w 3154526"/>
              <a:gd name="connsiteY95" fmla="*/ 3673727 h 5229819"/>
              <a:gd name="connsiteX96" fmla="*/ 1968615 w 3154526"/>
              <a:gd name="connsiteY96" fmla="*/ 3585320 h 5229819"/>
              <a:gd name="connsiteX97" fmla="*/ 1898396 w 3154526"/>
              <a:gd name="connsiteY97" fmla="*/ 3500287 h 5229819"/>
              <a:gd name="connsiteX98" fmla="*/ 1989083 w 3154526"/>
              <a:gd name="connsiteY98" fmla="*/ 3427016 h 5229819"/>
              <a:gd name="connsiteX99" fmla="*/ 2389567 w 3154526"/>
              <a:gd name="connsiteY99" fmla="*/ 3290809 h 5229819"/>
              <a:gd name="connsiteX100" fmla="*/ 2600173 w 3154526"/>
              <a:gd name="connsiteY100" fmla="*/ 3247414 h 5229819"/>
              <a:gd name="connsiteX101" fmla="*/ 2319352 w 3154526"/>
              <a:gd name="connsiteY101" fmla="*/ 2601737 h 5229819"/>
              <a:gd name="connsiteX102" fmla="*/ 2766163 w 3154526"/>
              <a:gd name="connsiteY102" fmla="*/ 2737145 h 5229819"/>
              <a:gd name="connsiteX103" fmla="*/ 2974746 w 3154526"/>
              <a:gd name="connsiteY103" fmla="*/ 2866399 h 5229819"/>
              <a:gd name="connsiteX104" fmla="*/ 3121568 w 3154526"/>
              <a:gd name="connsiteY104" fmla="*/ 2982134 h 5229819"/>
              <a:gd name="connsiteX105" fmla="*/ 3154526 w 3154526"/>
              <a:gd name="connsiteY105" fmla="*/ 3011886 h 5229819"/>
              <a:gd name="connsiteX106" fmla="*/ 3154526 w 3154526"/>
              <a:gd name="connsiteY106" fmla="*/ 3160319 h 5229819"/>
              <a:gd name="connsiteX107" fmla="*/ 3067546 w 3154526"/>
              <a:gd name="connsiteY107" fmla="*/ 3110720 h 5229819"/>
              <a:gd name="connsiteX108" fmla="*/ 2232937 w 3154526"/>
              <a:gd name="connsiteY108" fmla="*/ 2769088 h 5229819"/>
              <a:gd name="connsiteX109" fmla="*/ 2352619 w 3154526"/>
              <a:gd name="connsiteY109" fmla="*/ 2743180 h 5229819"/>
              <a:gd name="connsiteX110" fmla="*/ 2721589 w 3154526"/>
              <a:gd name="connsiteY110" fmla="*/ 2876160 h 5229819"/>
              <a:gd name="connsiteX111" fmla="*/ 3060914 w 3154526"/>
              <a:gd name="connsiteY111" fmla="*/ 3014259 h 5229819"/>
              <a:gd name="connsiteX112" fmla="*/ 2965264 w 3154526"/>
              <a:gd name="connsiteY112" fmla="*/ 2935323 h 5229819"/>
              <a:gd name="connsiteX113" fmla="*/ 2367226 w 3154526"/>
              <a:gd name="connsiteY113" fmla="*/ 2661486 h 5229819"/>
              <a:gd name="connsiteX114" fmla="*/ 2207259 w 3154526"/>
              <a:gd name="connsiteY114" fmla="*/ 2694665 h 5229819"/>
              <a:gd name="connsiteX115" fmla="*/ 2179723 w 3154526"/>
              <a:gd name="connsiteY115" fmla="*/ 2818255 h 5229819"/>
              <a:gd name="connsiteX116" fmla="*/ 2514888 w 3154526"/>
              <a:gd name="connsiteY116" fmla="*/ 3048475 h 5229819"/>
              <a:gd name="connsiteX117" fmla="*/ 3016861 w 3154526"/>
              <a:gd name="connsiteY117" fmla="*/ 3160740 h 5229819"/>
              <a:gd name="connsiteX118" fmla="*/ 3154526 w 3154526"/>
              <a:gd name="connsiteY118" fmla="*/ 3176279 h 5229819"/>
              <a:gd name="connsiteX119" fmla="*/ 3154526 w 3154526"/>
              <a:gd name="connsiteY119" fmla="*/ 3250361 h 5229819"/>
              <a:gd name="connsiteX120" fmla="*/ 3091307 w 3154526"/>
              <a:gd name="connsiteY120" fmla="*/ 3229805 h 5229819"/>
              <a:gd name="connsiteX121" fmla="*/ 2723879 w 3154526"/>
              <a:gd name="connsiteY121" fmla="*/ 3162709 h 5229819"/>
              <a:gd name="connsiteX122" fmla="*/ 2203034 w 3154526"/>
              <a:gd name="connsiteY122" fmla="*/ 2922890 h 5229819"/>
              <a:gd name="connsiteX123" fmla="*/ 2101110 w 3154526"/>
              <a:gd name="connsiteY123" fmla="*/ 2793332 h 5229819"/>
              <a:gd name="connsiteX124" fmla="*/ 2116325 w 3154526"/>
              <a:gd name="connsiteY124" fmla="*/ 2687419 h 5229819"/>
              <a:gd name="connsiteX125" fmla="*/ 2319352 w 3154526"/>
              <a:gd name="connsiteY125" fmla="*/ 2601737 h 5229819"/>
              <a:gd name="connsiteX126" fmla="*/ 1350946 w 3154526"/>
              <a:gd name="connsiteY126" fmla="*/ 1631006 h 5229819"/>
              <a:gd name="connsiteX127" fmla="*/ 1004901 w 3154526"/>
              <a:gd name="connsiteY127" fmla="*/ 1697258 h 5229819"/>
              <a:gd name="connsiteX128" fmla="*/ 955407 w 3154526"/>
              <a:gd name="connsiteY128" fmla="*/ 1725240 h 5229819"/>
              <a:gd name="connsiteX129" fmla="*/ 1056827 w 3154526"/>
              <a:gd name="connsiteY129" fmla="*/ 1829253 h 5229819"/>
              <a:gd name="connsiteX130" fmla="*/ 1626585 w 3154526"/>
              <a:gd name="connsiteY130" fmla="*/ 2030287 h 5229819"/>
              <a:gd name="connsiteX131" fmla="*/ 2214811 w 3154526"/>
              <a:gd name="connsiteY131" fmla="*/ 2140743 h 5229819"/>
              <a:gd name="connsiteX132" fmla="*/ 2475442 w 3154526"/>
              <a:gd name="connsiteY132" fmla="*/ 2220115 h 5229819"/>
              <a:gd name="connsiteX133" fmla="*/ 1255641 w 3154526"/>
              <a:gd name="connsiteY133" fmla="*/ 1766864 h 5229819"/>
              <a:gd name="connsiteX134" fmla="*/ 1305929 w 3154526"/>
              <a:gd name="connsiteY134" fmla="*/ 1722974 h 5229819"/>
              <a:gd name="connsiteX135" fmla="*/ 2002915 w 3154526"/>
              <a:gd name="connsiteY135" fmla="*/ 1923946 h 5229819"/>
              <a:gd name="connsiteX136" fmla="*/ 2449662 w 3154526"/>
              <a:gd name="connsiteY136" fmla="*/ 2126020 h 5229819"/>
              <a:gd name="connsiteX137" fmla="*/ 2505028 w 3154526"/>
              <a:gd name="connsiteY137" fmla="*/ 2142789 h 5229819"/>
              <a:gd name="connsiteX138" fmla="*/ 2446175 w 3154526"/>
              <a:gd name="connsiteY138" fmla="*/ 2082091 h 5229819"/>
              <a:gd name="connsiteX139" fmla="*/ 2312648 w 3154526"/>
              <a:gd name="connsiteY139" fmla="*/ 1997116 h 5229819"/>
              <a:gd name="connsiteX140" fmla="*/ 1350946 w 3154526"/>
              <a:gd name="connsiteY140" fmla="*/ 1631006 h 5229819"/>
              <a:gd name="connsiteX141" fmla="*/ 2656659 w 3154526"/>
              <a:gd name="connsiteY141" fmla="*/ 1238775 h 5229819"/>
              <a:gd name="connsiteX142" fmla="*/ 2625436 w 3154526"/>
              <a:gd name="connsiteY142" fmla="*/ 1397072 h 5229819"/>
              <a:gd name="connsiteX143" fmla="*/ 2875161 w 3154526"/>
              <a:gd name="connsiteY143" fmla="*/ 2321650 h 5229819"/>
              <a:gd name="connsiteX144" fmla="*/ 2925722 w 3154526"/>
              <a:gd name="connsiteY144" fmla="*/ 2392692 h 5229819"/>
              <a:gd name="connsiteX145" fmla="*/ 2811462 w 3154526"/>
              <a:gd name="connsiteY145" fmla="*/ 1947758 h 5229819"/>
              <a:gd name="connsiteX146" fmla="*/ 2718919 w 3154526"/>
              <a:gd name="connsiteY146" fmla="*/ 1497019 h 5229819"/>
              <a:gd name="connsiteX147" fmla="*/ 2753255 w 3154526"/>
              <a:gd name="connsiteY147" fmla="*/ 1529176 h 5229819"/>
              <a:gd name="connsiteX148" fmla="*/ 2881379 w 3154526"/>
              <a:gd name="connsiteY148" fmla="*/ 2022317 h 5229819"/>
              <a:gd name="connsiteX149" fmla="*/ 2996393 w 3154526"/>
              <a:gd name="connsiteY149" fmla="*/ 2365005 h 5229819"/>
              <a:gd name="connsiteX150" fmla="*/ 3100133 w 3154526"/>
              <a:gd name="connsiteY150" fmla="*/ 2512233 h 5229819"/>
              <a:gd name="connsiteX151" fmla="*/ 3079545 w 3154526"/>
              <a:gd name="connsiteY151" fmla="*/ 1967247 h 5229819"/>
              <a:gd name="connsiteX152" fmla="*/ 2899475 w 3154526"/>
              <a:gd name="connsiteY152" fmla="*/ 1449951 h 5229819"/>
              <a:gd name="connsiteX153" fmla="*/ 2656659 w 3154526"/>
              <a:gd name="connsiteY153" fmla="*/ 1238775 h 5229819"/>
              <a:gd name="connsiteX154" fmla="*/ 1367798 w 3154526"/>
              <a:gd name="connsiteY154" fmla="*/ 807514 h 5229819"/>
              <a:gd name="connsiteX155" fmla="*/ 1321670 w 3154526"/>
              <a:gd name="connsiteY155" fmla="*/ 812743 h 5229819"/>
              <a:gd name="connsiteX156" fmla="*/ 1326427 w 3154526"/>
              <a:gd name="connsiteY156" fmla="*/ 995044 h 5229819"/>
              <a:gd name="connsiteX157" fmla="*/ 1646715 w 3154526"/>
              <a:gd name="connsiteY157" fmla="*/ 1403714 h 5229819"/>
              <a:gd name="connsiteX158" fmla="*/ 1699020 w 3154526"/>
              <a:gd name="connsiteY158" fmla="*/ 1462003 h 5229819"/>
              <a:gd name="connsiteX159" fmla="*/ 2128129 w 3154526"/>
              <a:gd name="connsiteY159" fmla="*/ 1776540 h 5229819"/>
              <a:gd name="connsiteX160" fmla="*/ 2153908 w 3154526"/>
              <a:gd name="connsiteY160" fmla="*/ 1776925 h 5229819"/>
              <a:gd name="connsiteX161" fmla="*/ 1447891 w 3154526"/>
              <a:gd name="connsiteY161" fmla="*/ 949010 h 5229819"/>
              <a:gd name="connsiteX162" fmla="*/ 1451500 w 3154526"/>
              <a:gd name="connsiteY162" fmla="*/ 904772 h 5229819"/>
              <a:gd name="connsiteX163" fmla="*/ 1824226 w 3154526"/>
              <a:gd name="connsiteY163" fmla="*/ 1311217 h 5229819"/>
              <a:gd name="connsiteX164" fmla="*/ 2204689 w 3154526"/>
              <a:gd name="connsiteY164" fmla="*/ 1730927 h 5229819"/>
              <a:gd name="connsiteX165" fmla="*/ 1890667 w 3154526"/>
              <a:gd name="connsiteY165" fmla="*/ 1206353 h 5229819"/>
              <a:gd name="connsiteX166" fmla="*/ 1627192 w 3154526"/>
              <a:gd name="connsiteY166" fmla="*/ 933479 h 5229819"/>
              <a:gd name="connsiteX167" fmla="*/ 1367798 w 3154526"/>
              <a:gd name="connsiteY167" fmla="*/ 807514 h 5229819"/>
              <a:gd name="connsiteX168" fmla="*/ 283580 w 3154526"/>
              <a:gd name="connsiteY168" fmla="*/ 681216 h 5229819"/>
              <a:gd name="connsiteX169" fmla="*/ 110348 w 3154526"/>
              <a:gd name="connsiteY169" fmla="*/ 708025 h 5229819"/>
              <a:gd name="connsiteX170" fmla="*/ 85723 w 3154526"/>
              <a:gd name="connsiteY170" fmla="*/ 819576 h 5229819"/>
              <a:gd name="connsiteX171" fmla="*/ 199932 w 3154526"/>
              <a:gd name="connsiteY171" fmla="*/ 893664 h 5229819"/>
              <a:gd name="connsiteX172" fmla="*/ 740736 w 3154526"/>
              <a:gd name="connsiteY172" fmla="*/ 1064235 h 5229819"/>
              <a:gd name="connsiteX173" fmla="*/ 1110528 w 3154526"/>
              <a:gd name="connsiteY173" fmla="*/ 1146285 h 5229819"/>
              <a:gd name="connsiteX174" fmla="*/ 459412 w 3154526"/>
              <a:gd name="connsiteY174" fmla="*/ 885372 h 5229819"/>
              <a:gd name="connsiteX175" fmla="*/ 543138 w 3154526"/>
              <a:gd name="connsiteY175" fmla="*/ 845601 h 5229819"/>
              <a:gd name="connsiteX176" fmla="*/ 910153 w 3154526"/>
              <a:gd name="connsiteY176" fmla="*/ 948610 h 5229819"/>
              <a:gd name="connsiteX177" fmla="*/ 966399 w 3154526"/>
              <a:gd name="connsiteY177" fmla="*/ 962382 h 5229819"/>
              <a:gd name="connsiteX178" fmla="*/ 283580 w 3154526"/>
              <a:gd name="connsiteY178" fmla="*/ 681216 h 5229819"/>
              <a:gd name="connsiteX179" fmla="*/ 1590373 w 3154526"/>
              <a:gd name="connsiteY179" fmla="*/ 207352 h 5229819"/>
              <a:gd name="connsiteX180" fmla="*/ 1849000 w 3154526"/>
              <a:gd name="connsiteY180" fmla="*/ 1052202 h 5229819"/>
              <a:gd name="connsiteX181" fmla="*/ 1897521 w 3154526"/>
              <a:gd name="connsiteY181" fmla="*/ 1104633 h 5229819"/>
              <a:gd name="connsiteX182" fmla="*/ 1590373 w 3154526"/>
              <a:gd name="connsiteY182" fmla="*/ 207352 h 5229819"/>
              <a:gd name="connsiteX183" fmla="*/ 1477590 w 3154526"/>
              <a:gd name="connsiteY183" fmla="*/ 196987 h 5229819"/>
              <a:gd name="connsiteX184" fmla="*/ 1734197 w 3154526"/>
              <a:gd name="connsiteY184" fmla="*/ 915385 h 5229819"/>
              <a:gd name="connsiteX185" fmla="*/ 1477590 w 3154526"/>
              <a:gd name="connsiteY185" fmla="*/ 196987 h 5229819"/>
              <a:gd name="connsiteX186" fmla="*/ 1520807 w 3154526"/>
              <a:gd name="connsiteY186" fmla="*/ 401 h 5229819"/>
              <a:gd name="connsiteX187" fmla="*/ 1959261 w 3154526"/>
              <a:gd name="connsiteY187" fmla="*/ 1004279 h 5229819"/>
              <a:gd name="connsiteX188" fmla="*/ 1999831 w 3154526"/>
              <a:gd name="connsiteY188" fmla="*/ 1233302 h 5229819"/>
              <a:gd name="connsiteX189" fmla="*/ 2119085 w 3154526"/>
              <a:gd name="connsiteY189" fmla="*/ 1423964 h 5229819"/>
              <a:gd name="connsiteX190" fmla="*/ 2335471 w 3154526"/>
              <a:gd name="connsiteY190" fmla="*/ 1850384 h 5229819"/>
              <a:gd name="connsiteX191" fmla="*/ 2392591 w 3154526"/>
              <a:gd name="connsiteY191" fmla="*/ 1951489 h 5229819"/>
              <a:gd name="connsiteX192" fmla="*/ 2748943 w 3154526"/>
              <a:gd name="connsiteY192" fmla="*/ 2303364 h 5229819"/>
              <a:gd name="connsiteX193" fmla="*/ 2806241 w 3154526"/>
              <a:gd name="connsiteY193" fmla="*/ 2339964 h 5229819"/>
              <a:gd name="connsiteX194" fmla="*/ 2679338 w 3154526"/>
              <a:gd name="connsiteY194" fmla="*/ 2010074 h 5229819"/>
              <a:gd name="connsiteX195" fmla="*/ 2606989 w 3154526"/>
              <a:gd name="connsiteY195" fmla="*/ 1775538 h 5229819"/>
              <a:gd name="connsiteX196" fmla="*/ 2582155 w 3154526"/>
              <a:gd name="connsiteY196" fmla="*/ 1309760 h 5229819"/>
              <a:gd name="connsiteX197" fmla="*/ 2592851 w 3154526"/>
              <a:gd name="connsiteY197" fmla="*/ 1261833 h 5229819"/>
              <a:gd name="connsiteX198" fmla="*/ 2718128 w 3154526"/>
              <a:gd name="connsiteY198" fmla="*/ 1210907 h 5229819"/>
              <a:gd name="connsiteX199" fmla="*/ 2951511 w 3154526"/>
              <a:gd name="connsiteY199" fmla="*/ 1441852 h 5229819"/>
              <a:gd name="connsiteX200" fmla="*/ 3144770 w 3154526"/>
              <a:gd name="connsiteY200" fmla="*/ 2025597 h 5229819"/>
              <a:gd name="connsiteX201" fmla="*/ 3154526 w 3154526"/>
              <a:gd name="connsiteY201" fmla="*/ 2110676 h 5229819"/>
              <a:gd name="connsiteX202" fmla="*/ 3154526 w 3154526"/>
              <a:gd name="connsiteY202" fmla="*/ 2821253 h 5229819"/>
              <a:gd name="connsiteX203" fmla="*/ 2760231 w 3154526"/>
              <a:gd name="connsiteY203" fmla="*/ 2387604 h 5229819"/>
              <a:gd name="connsiteX204" fmla="*/ 2690109 w 3154526"/>
              <a:gd name="connsiteY204" fmla="*/ 2343136 h 5229819"/>
              <a:gd name="connsiteX205" fmla="*/ 2584945 w 3154526"/>
              <a:gd name="connsiteY205" fmla="*/ 2319604 h 5229819"/>
              <a:gd name="connsiteX206" fmla="*/ 2476459 w 3154526"/>
              <a:gd name="connsiteY206" fmla="*/ 2274585 h 5229819"/>
              <a:gd name="connsiteX207" fmla="*/ 1635021 w 3154526"/>
              <a:gd name="connsiteY207" fmla="*/ 2080790 h 5229819"/>
              <a:gd name="connsiteX208" fmla="*/ 994284 w 3154526"/>
              <a:gd name="connsiteY208" fmla="*/ 1848426 h 5229819"/>
              <a:gd name="connsiteX209" fmla="*/ 900907 w 3154526"/>
              <a:gd name="connsiteY209" fmla="*/ 1722986 h 5229819"/>
              <a:gd name="connsiteX210" fmla="*/ 1019942 w 3154526"/>
              <a:gd name="connsiteY210" fmla="*/ 1634959 h 5229819"/>
              <a:gd name="connsiteX211" fmla="*/ 1436756 w 3154526"/>
              <a:gd name="connsiteY211" fmla="*/ 1581585 h 5229819"/>
              <a:gd name="connsiteX212" fmla="*/ 1745065 w 3154526"/>
              <a:gd name="connsiteY212" fmla="*/ 1615304 h 5229819"/>
              <a:gd name="connsiteX213" fmla="*/ 1601192 w 3154526"/>
              <a:gd name="connsiteY213" fmla="*/ 1445865 h 5229819"/>
              <a:gd name="connsiteX214" fmla="*/ 1401935 w 3154526"/>
              <a:gd name="connsiteY214" fmla="*/ 1322332 h 5229819"/>
              <a:gd name="connsiteX215" fmla="*/ 1350058 w 3154526"/>
              <a:gd name="connsiteY215" fmla="*/ 1304329 h 5229819"/>
              <a:gd name="connsiteX216" fmla="*/ 1196299 w 3154526"/>
              <a:gd name="connsiteY216" fmla="*/ 1267380 h 5229819"/>
              <a:gd name="connsiteX217" fmla="*/ 1010774 w 3154526"/>
              <a:gd name="connsiteY217" fmla="*/ 1183133 h 5229819"/>
              <a:gd name="connsiteX218" fmla="*/ 762606 w 3154526"/>
              <a:gd name="connsiteY218" fmla="*/ 1122658 h 5229819"/>
              <a:gd name="connsiteX219" fmla="*/ 154893 w 3154526"/>
              <a:gd name="connsiteY219" fmla="*/ 930327 h 5229819"/>
              <a:gd name="connsiteX220" fmla="*/ 41348 w 3154526"/>
              <a:gd name="connsiteY220" fmla="*/ 855682 h 5229819"/>
              <a:gd name="connsiteX221" fmla="*/ 71618 w 3154526"/>
              <a:gd name="connsiteY221" fmla="*/ 669959 h 5229819"/>
              <a:gd name="connsiteX222" fmla="*/ 192882 w 3154526"/>
              <a:gd name="connsiteY222" fmla="*/ 633126 h 5229819"/>
              <a:gd name="connsiteX223" fmla="*/ 753661 w 3154526"/>
              <a:gd name="connsiteY223" fmla="*/ 741211 h 5229819"/>
              <a:gd name="connsiteX224" fmla="*/ 1255776 w 3154526"/>
              <a:gd name="connsiteY224" fmla="*/ 1147472 h 5229819"/>
              <a:gd name="connsiteX225" fmla="*/ 1455766 w 3154526"/>
              <a:gd name="connsiteY225" fmla="*/ 1276598 h 5229819"/>
              <a:gd name="connsiteX226" fmla="*/ 1288932 w 3154526"/>
              <a:gd name="connsiteY226" fmla="*/ 1033280 h 5229819"/>
              <a:gd name="connsiteX227" fmla="*/ 1232411 w 3154526"/>
              <a:gd name="connsiteY227" fmla="*/ 880301 h 5229819"/>
              <a:gd name="connsiteX228" fmla="*/ 1384570 w 3154526"/>
              <a:gd name="connsiteY228" fmla="*/ 733996 h 5229819"/>
              <a:gd name="connsiteX229" fmla="*/ 1507746 w 3154526"/>
              <a:gd name="connsiteY229" fmla="*/ 755398 h 5229819"/>
              <a:gd name="connsiteX230" fmla="*/ 1477350 w 3154526"/>
              <a:gd name="connsiteY230" fmla="*/ 678725 h 5229819"/>
              <a:gd name="connsiteX231" fmla="*/ 1417151 w 3154526"/>
              <a:gd name="connsiteY231" fmla="*/ 168105 h 5229819"/>
              <a:gd name="connsiteX232" fmla="*/ 1520807 w 3154526"/>
              <a:gd name="connsiteY232" fmla="*/ 401 h 52298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</a:cxnLst>
            <a:rect l="l" t="t" r="r" b="b"/>
            <a:pathLst>
              <a:path w="3154526" h="5229819">
                <a:moveTo>
                  <a:pt x="2984957" y="4764199"/>
                </a:moveTo>
                <a:cubicBezTo>
                  <a:pt x="3018240" y="4767408"/>
                  <a:pt x="3051712" y="4773969"/>
                  <a:pt x="3085247" y="4783935"/>
                </a:cubicBezTo>
                <a:lnTo>
                  <a:pt x="3154526" y="4805985"/>
                </a:lnTo>
                <a:lnTo>
                  <a:pt x="3154526" y="4854317"/>
                </a:lnTo>
                <a:lnTo>
                  <a:pt x="3077489" y="4835342"/>
                </a:lnTo>
                <a:cubicBezTo>
                  <a:pt x="3033509" y="4827066"/>
                  <a:pt x="2989112" y="4821557"/>
                  <a:pt x="2943802" y="4819637"/>
                </a:cubicBezTo>
                <a:cubicBezTo>
                  <a:pt x="2893293" y="4817421"/>
                  <a:pt x="2839830" y="4831234"/>
                  <a:pt x="2790751" y="4847576"/>
                </a:cubicBezTo>
                <a:cubicBezTo>
                  <a:pt x="2669496" y="4887789"/>
                  <a:pt x="2461044" y="5000040"/>
                  <a:pt x="2434897" y="5031577"/>
                </a:cubicBezTo>
                <a:cubicBezTo>
                  <a:pt x="2484364" y="5038618"/>
                  <a:pt x="2785484" y="4986917"/>
                  <a:pt x="2951768" y="4976098"/>
                </a:cubicBezTo>
                <a:lnTo>
                  <a:pt x="3154526" y="4968709"/>
                </a:lnTo>
                <a:lnTo>
                  <a:pt x="3154526" y="5031765"/>
                </a:lnTo>
                <a:lnTo>
                  <a:pt x="3014835" y="5034301"/>
                </a:lnTo>
                <a:cubicBezTo>
                  <a:pt x="2710439" y="5051677"/>
                  <a:pt x="2441583" y="5097943"/>
                  <a:pt x="2393353" y="5115550"/>
                </a:cubicBezTo>
                <a:cubicBezTo>
                  <a:pt x="2431157" y="5160603"/>
                  <a:pt x="2707409" y="5188478"/>
                  <a:pt x="2867479" y="5174972"/>
                </a:cubicBezTo>
                <a:lnTo>
                  <a:pt x="3154526" y="5146324"/>
                </a:lnTo>
                <a:lnTo>
                  <a:pt x="3154526" y="5195560"/>
                </a:lnTo>
                <a:lnTo>
                  <a:pt x="2893424" y="5222073"/>
                </a:lnTo>
                <a:cubicBezTo>
                  <a:pt x="2723102" y="5236843"/>
                  <a:pt x="2552184" y="5234050"/>
                  <a:pt x="2386859" y="5181967"/>
                </a:cubicBezTo>
                <a:cubicBezTo>
                  <a:pt x="2344695" y="5168797"/>
                  <a:pt x="2273873" y="5156530"/>
                  <a:pt x="2246076" y="5123402"/>
                </a:cubicBezTo>
                <a:cubicBezTo>
                  <a:pt x="2248155" y="5065206"/>
                  <a:pt x="2304768" y="5047057"/>
                  <a:pt x="2334992" y="5028470"/>
                </a:cubicBezTo>
                <a:cubicBezTo>
                  <a:pt x="2452848" y="4957239"/>
                  <a:pt x="2572264" y="4889215"/>
                  <a:pt x="2693848" y="4824451"/>
                </a:cubicBezTo>
                <a:cubicBezTo>
                  <a:pt x="2786948" y="4775123"/>
                  <a:pt x="2885106" y="4754573"/>
                  <a:pt x="2984957" y="4764199"/>
                </a:cubicBezTo>
                <a:close/>
                <a:moveTo>
                  <a:pt x="2257356" y="4262588"/>
                </a:moveTo>
                <a:cubicBezTo>
                  <a:pt x="2189977" y="4262303"/>
                  <a:pt x="2140260" y="4266339"/>
                  <a:pt x="2122814" y="4273357"/>
                </a:cubicBezTo>
                <a:cubicBezTo>
                  <a:pt x="2175826" y="4302827"/>
                  <a:pt x="2336755" y="4324727"/>
                  <a:pt x="2427819" y="4316623"/>
                </a:cubicBezTo>
                <a:cubicBezTo>
                  <a:pt x="2449822" y="4314531"/>
                  <a:pt x="2473394" y="4319027"/>
                  <a:pt x="2495745" y="4323417"/>
                </a:cubicBezTo>
                <a:cubicBezTo>
                  <a:pt x="2611332" y="4347235"/>
                  <a:pt x="2726479" y="4372552"/>
                  <a:pt x="2842012" y="4396980"/>
                </a:cubicBezTo>
                <a:cubicBezTo>
                  <a:pt x="2876678" y="4404585"/>
                  <a:pt x="2911453" y="4410971"/>
                  <a:pt x="2946172" y="4417967"/>
                </a:cubicBezTo>
                <a:cubicBezTo>
                  <a:pt x="2820585" y="4303185"/>
                  <a:pt x="2459492" y="4263443"/>
                  <a:pt x="2257356" y="4262588"/>
                </a:cubicBezTo>
                <a:close/>
                <a:moveTo>
                  <a:pt x="2658537" y="3869558"/>
                </a:moveTo>
                <a:cubicBezTo>
                  <a:pt x="2652732" y="3876123"/>
                  <a:pt x="2646980" y="3882078"/>
                  <a:pt x="2641175" y="3888643"/>
                </a:cubicBezTo>
                <a:cubicBezTo>
                  <a:pt x="2746782" y="4098095"/>
                  <a:pt x="2938317" y="4215122"/>
                  <a:pt x="3126479" y="4335544"/>
                </a:cubicBezTo>
                <a:cubicBezTo>
                  <a:pt x="3132006" y="4328648"/>
                  <a:pt x="3138143" y="4321804"/>
                  <a:pt x="3143670" y="4314908"/>
                </a:cubicBezTo>
                <a:cubicBezTo>
                  <a:pt x="2981663" y="4166330"/>
                  <a:pt x="2819935" y="4018083"/>
                  <a:pt x="2658537" y="3869558"/>
                </a:cubicBezTo>
                <a:close/>
                <a:moveTo>
                  <a:pt x="2629101" y="3729983"/>
                </a:moveTo>
                <a:cubicBezTo>
                  <a:pt x="2661589" y="3730947"/>
                  <a:pt x="2697073" y="3732787"/>
                  <a:pt x="2725377" y="3746294"/>
                </a:cubicBezTo>
                <a:cubicBezTo>
                  <a:pt x="2822777" y="3791583"/>
                  <a:pt x="2920786" y="3836926"/>
                  <a:pt x="3013384" y="3891324"/>
                </a:cubicBezTo>
                <a:lnTo>
                  <a:pt x="3154526" y="3990464"/>
                </a:lnTo>
                <a:lnTo>
                  <a:pt x="3154526" y="4060395"/>
                </a:lnTo>
                <a:lnTo>
                  <a:pt x="3036403" y="3972021"/>
                </a:lnTo>
                <a:cubicBezTo>
                  <a:pt x="2907615" y="3883525"/>
                  <a:pt x="2779554" y="3819455"/>
                  <a:pt x="2688997" y="3810128"/>
                </a:cubicBezTo>
                <a:cubicBezTo>
                  <a:pt x="2831670" y="3941058"/>
                  <a:pt x="2937046" y="4076752"/>
                  <a:pt x="3092476" y="4164235"/>
                </a:cubicBezTo>
                <a:lnTo>
                  <a:pt x="3154526" y="4207256"/>
                </a:lnTo>
                <a:lnTo>
                  <a:pt x="3154526" y="4417507"/>
                </a:lnTo>
                <a:lnTo>
                  <a:pt x="3087942" y="4378606"/>
                </a:lnTo>
                <a:cubicBezTo>
                  <a:pt x="3102143" y="4394351"/>
                  <a:pt x="3115996" y="4410565"/>
                  <a:pt x="3130359" y="4425849"/>
                </a:cubicBezTo>
                <a:lnTo>
                  <a:pt x="3154526" y="4447989"/>
                </a:lnTo>
                <a:lnTo>
                  <a:pt x="3154526" y="4543354"/>
                </a:lnTo>
                <a:lnTo>
                  <a:pt x="3094526" y="4521621"/>
                </a:lnTo>
                <a:cubicBezTo>
                  <a:pt x="3058315" y="4508467"/>
                  <a:pt x="3021946" y="4495799"/>
                  <a:pt x="2985083" y="4485238"/>
                </a:cubicBezTo>
                <a:cubicBezTo>
                  <a:pt x="2893993" y="4458928"/>
                  <a:pt x="2801476" y="4438333"/>
                  <a:pt x="2708626" y="4418017"/>
                </a:cubicBezTo>
                <a:cubicBezTo>
                  <a:pt x="2680283" y="4411879"/>
                  <a:pt x="2649801" y="4391731"/>
                  <a:pt x="2620844" y="4430706"/>
                </a:cubicBezTo>
                <a:cubicBezTo>
                  <a:pt x="2612114" y="4442549"/>
                  <a:pt x="2565967" y="4432721"/>
                  <a:pt x="2540001" y="4424025"/>
                </a:cubicBezTo>
                <a:cubicBezTo>
                  <a:pt x="2355773" y="4363740"/>
                  <a:pt x="2011228" y="4336407"/>
                  <a:pt x="1907604" y="4339664"/>
                </a:cubicBezTo>
                <a:cubicBezTo>
                  <a:pt x="1892800" y="4340130"/>
                  <a:pt x="1882913" y="4341219"/>
                  <a:pt x="1879113" y="4342926"/>
                </a:cubicBezTo>
                <a:cubicBezTo>
                  <a:pt x="1889398" y="4355183"/>
                  <a:pt x="1908839" y="4371612"/>
                  <a:pt x="1921270" y="4376988"/>
                </a:cubicBezTo>
                <a:cubicBezTo>
                  <a:pt x="2156448" y="4476588"/>
                  <a:pt x="2398951" y="4555928"/>
                  <a:pt x="2647281" y="4614572"/>
                </a:cubicBezTo>
                <a:cubicBezTo>
                  <a:pt x="2785895" y="4647295"/>
                  <a:pt x="2924346" y="4650622"/>
                  <a:pt x="3060973" y="4624283"/>
                </a:cubicBezTo>
                <a:lnTo>
                  <a:pt x="3154526" y="4599347"/>
                </a:lnTo>
                <a:lnTo>
                  <a:pt x="3154526" y="4661496"/>
                </a:lnTo>
                <a:lnTo>
                  <a:pt x="3124590" y="4670972"/>
                </a:lnTo>
                <a:cubicBezTo>
                  <a:pt x="2971313" y="4708028"/>
                  <a:pt x="2814417" y="4711286"/>
                  <a:pt x="2657957" y="4674486"/>
                </a:cubicBezTo>
                <a:cubicBezTo>
                  <a:pt x="2396648" y="4613183"/>
                  <a:pt x="2139893" y="4531689"/>
                  <a:pt x="1891952" y="4426992"/>
                </a:cubicBezTo>
                <a:cubicBezTo>
                  <a:pt x="1873862" y="4419591"/>
                  <a:pt x="1855934" y="4410359"/>
                  <a:pt x="1839998" y="4399458"/>
                </a:cubicBezTo>
                <a:cubicBezTo>
                  <a:pt x="1799184" y="4371042"/>
                  <a:pt x="1790516" y="4316218"/>
                  <a:pt x="1897411" y="4275071"/>
                </a:cubicBezTo>
                <a:cubicBezTo>
                  <a:pt x="2016133" y="4218356"/>
                  <a:pt x="2144967" y="4217510"/>
                  <a:pt x="2271660" y="4202654"/>
                </a:cubicBezTo>
                <a:cubicBezTo>
                  <a:pt x="2475666" y="4178813"/>
                  <a:pt x="2669842" y="4217414"/>
                  <a:pt x="2860369" y="4283351"/>
                </a:cubicBezTo>
                <a:cubicBezTo>
                  <a:pt x="2903590" y="4298455"/>
                  <a:pt x="2944719" y="4319831"/>
                  <a:pt x="2986729" y="4338210"/>
                </a:cubicBezTo>
                <a:cubicBezTo>
                  <a:pt x="2932216" y="4284031"/>
                  <a:pt x="2873289" y="4238074"/>
                  <a:pt x="2815025" y="4191559"/>
                </a:cubicBezTo>
                <a:cubicBezTo>
                  <a:pt x="2697609" y="4098146"/>
                  <a:pt x="2608526" y="3983216"/>
                  <a:pt x="2550431" y="3844543"/>
                </a:cubicBezTo>
                <a:cubicBezTo>
                  <a:pt x="2515920" y="3762290"/>
                  <a:pt x="2539341" y="3726831"/>
                  <a:pt x="2629101" y="3729983"/>
                </a:cubicBezTo>
                <a:close/>
                <a:moveTo>
                  <a:pt x="2911098" y="3440435"/>
                </a:moveTo>
                <a:cubicBezTo>
                  <a:pt x="2883171" y="3440018"/>
                  <a:pt x="2855398" y="3440459"/>
                  <a:pt x="2828048" y="3443932"/>
                </a:cubicBezTo>
                <a:cubicBezTo>
                  <a:pt x="2721421" y="3457758"/>
                  <a:pt x="2616099" y="3484600"/>
                  <a:pt x="2509409" y="3495655"/>
                </a:cubicBezTo>
                <a:cubicBezTo>
                  <a:pt x="2389696" y="3508042"/>
                  <a:pt x="2268567" y="3508631"/>
                  <a:pt x="2147895" y="3514483"/>
                </a:cubicBezTo>
                <a:cubicBezTo>
                  <a:pt x="2100059" y="3516800"/>
                  <a:pt x="2051667" y="3518454"/>
                  <a:pt x="2003552" y="3520439"/>
                </a:cubicBezTo>
                <a:cubicBezTo>
                  <a:pt x="2024103" y="3583357"/>
                  <a:pt x="2159850" y="3622437"/>
                  <a:pt x="2246830" y="3622276"/>
                </a:cubicBezTo>
                <a:cubicBezTo>
                  <a:pt x="2445349" y="3622231"/>
                  <a:pt x="2646030" y="3622068"/>
                  <a:pt x="2835671" y="3548747"/>
                </a:cubicBezTo>
                <a:cubicBezTo>
                  <a:pt x="2892607" y="3526938"/>
                  <a:pt x="2944804" y="3492738"/>
                  <a:pt x="2998953" y="3464237"/>
                </a:cubicBezTo>
                <a:cubicBezTo>
                  <a:pt x="2997770" y="3456761"/>
                  <a:pt x="2996257" y="3449563"/>
                  <a:pt x="2995075" y="3442088"/>
                </a:cubicBezTo>
                <a:cubicBezTo>
                  <a:pt x="2967107" y="3442128"/>
                  <a:pt x="2939025" y="3440852"/>
                  <a:pt x="2911098" y="3440435"/>
                </a:cubicBezTo>
                <a:close/>
                <a:moveTo>
                  <a:pt x="2690666" y="3299672"/>
                </a:moveTo>
                <a:cubicBezTo>
                  <a:pt x="2619313" y="3297305"/>
                  <a:pt x="2547952" y="3303272"/>
                  <a:pt x="2476905" y="3324782"/>
                </a:cubicBezTo>
                <a:cubicBezTo>
                  <a:pt x="2348716" y="3363474"/>
                  <a:pt x="2192655" y="3383779"/>
                  <a:pt x="2094849" y="3447220"/>
                </a:cubicBezTo>
                <a:cubicBezTo>
                  <a:pt x="2096255" y="3455637"/>
                  <a:pt x="2357319" y="3460692"/>
                  <a:pt x="2483888" y="3440295"/>
                </a:cubicBezTo>
                <a:cubicBezTo>
                  <a:pt x="2657838" y="3412319"/>
                  <a:pt x="2830319" y="3373155"/>
                  <a:pt x="3014076" y="3366305"/>
                </a:cubicBezTo>
                <a:cubicBezTo>
                  <a:pt x="2977564" y="3351780"/>
                  <a:pt x="2942256" y="3330600"/>
                  <a:pt x="2904378" y="3324561"/>
                </a:cubicBezTo>
                <a:cubicBezTo>
                  <a:pt x="2833363" y="3312737"/>
                  <a:pt x="2762018" y="3302038"/>
                  <a:pt x="2690666" y="3299672"/>
                </a:cubicBezTo>
                <a:close/>
                <a:moveTo>
                  <a:pt x="2600173" y="3247414"/>
                </a:moveTo>
                <a:cubicBezTo>
                  <a:pt x="2739107" y="3233347"/>
                  <a:pt x="2875094" y="3248675"/>
                  <a:pt x="3008079" y="3291395"/>
                </a:cubicBezTo>
                <a:lnTo>
                  <a:pt x="3154526" y="3354047"/>
                </a:lnTo>
                <a:lnTo>
                  <a:pt x="3154526" y="3464030"/>
                </a:lnTo>
                <a:lnTo>
                  <a:pt x="3150012" y="3464430"/>
                </a:lnTo>
                <a:cubicBezTo>
                  <a:pt x="3100914" y="3475356"/>
                  <a:pt x="3052436" y="3493594"/>
                  <a:pt x="3006185" y="3521395"/>
                </a:cubicBezTo>
                <a:cubicBezTo>
                  <a:pt x="2926027" y="3569462"/>
                  <a:pt x="2836047" y="3613915"/>
                  <a:pt x="2745224" y="3629721"/>
                </a:cubicBezTo>
                <a:cubicBezTo>
                  <a:pt x="2587573" y="3657570"/>
                  <a:pt x="2426338" y="3670362"/>
                  <a:pt x="2266244" y="3673727"/>
                </a:cubicBezTo>
                <a:cubicBezTo>
                  <a:pt x="2161862" y="3676071"/>
                  <a:pt x="2057516" y="3646772"/>
                  <a:pt x="1968615" y="3585320"/>
                </a:cubicBezTo>
                <a:cubicBezTo>
                  <a:pt x="1938796" y="3564615"/>
                  <a:pt x="1901796" y="3531306"/>
                  <a:pt x="1898396" y="3500287"/>
                </a:cubicBezTo>
                <a:cubicBezTo>
                  <a:pt x="1892616" y="3447557"/>
                  <a:pt x="1951307" y="3440648"/>
                  <a:pt x="1989083" y="3427016"/>
                </a:cubicBezTo>
                <a:cubicBezTo>
                  <a:pt x="2121741" y="3379493"/>
                  <a:pt x="2254677" y="3332301"/>
                  <a:pt x="2389567" y="3290809"/>
                </a:cubicBezTo>
                <a:cubicBezTo>
                  <a:pt x="2460502" y="3268829"/>
                  <a:pt x="2530706" y="3254447"/>
                  <a:pt x="2600173" y="3247414"/>
                </a:cubicBezTo>
                <a:close/>
                <a:moveTo>
                  <a:pt x="2319352" y="2601737"/>
                </a:moveTo>
                <a:cubicBezTo>
                  <a:pt x="2479864" y="2611004"/>
                  <a:pt x="2629308" y="2651575"/>
                  <a:pt x="2766163" y="2737145"/>
                </a:cubicBezTo>
                <a:cubicBezTo>
                  <a:pt x="2835451" y="2780619"/>
                  <a:pt x="2910653" y="2816308"/>
                  <a:pt x="2974746" y="2866399"/>
                </a:cubicBezTo>
                <a:cubicBezTo>
                  <a:pt x="3023787" y="2904282"/>
                  <a:pt x="3073991" y="2942035"/>
                  <a:pt x="3121568" y="2982134"/>
                </a:cubicBezTo>
                <a:lnTo>
                  <a:pt x="3154526" y="3011886"/>
                </a:lnTo>
                <a:lnTo>
                  <a:pt x="3154526" y="3160319"/>
                </a:lnTo>
                <a:lnTo>
                  <a:pt x="3067546" y="3110720"/>
                </a:lnTo>
                <a:cubicBezTo>
                  <a:pt x="2761030" y="2947917"/>
                  <a:pt x="2322476" y="2787314"/>
                  <a:pt x="2232937" y="2769088"/>
                </a:cubicBezTo>
                <a:cubicBezTo>
                  <a:pt x="2271002" y="2714002"/>
                  <a:pt x="2316500" y="2731147"/>
                  <a:pt x="2352619" y="2743180"/>
                </a:cubicBezTo>
                <a:cubicBezTo>
                  <a:pt x="2476839" y="2784028"/>
                  <a:pt x="2600565" y="2826985"/>
                  <a:pt x="2721589" y="2876160"/>
                </a:cubicBezTo>
                <a:cubicBezTo>
                  <a:pt x="2833126" y="2921442"/>
                  <a:pt x="2940747" y="2976218"/>
                  <a:pt x="3060914" y="3014259"/>
                </a:cubicBezTo>
                <a:cubicBezTo>
                  <a:pt x="3029142" y="2987854"/>
                  <a:pt x="2999137" y="2958837"/>
                  <a:pt x="2965264" y="2935323"/>
                </a:cubicBezTo>
                <a:cubicBezTo>
                  <a:pt x="2782298" y="2808284"/>
                  <a:pt x="2601431" y="2678353"/>
                  <a:pt x="2367226" y="2661486"/>
                </a:cubicBezTo>
                <a:cubicBezTo>
                  <a:pt x="2309507" y="2657418"/>
                  <a:pt x="2257578" y="2664297"/>
                  <a:pt x="2207259" y="2694665"/>
                </a:cubicBezTo>
                <a:cubicBezTo>
                  <a:pt x="2140333" y="2735581"/>
                  <a:pt x="2134004" y="2755005"/>
                  <a:pt x="2179723" y="2818255"/>
                </a:cubicBezTo>
                <a:cubicBezTo>
                  <a:pt x="2263765" y="2934592"/>
                  <a:pt x="2387980" y="2996333"/>
                  <a:pt x="2514888" y="3048475"/>
                </a:cubicBezTo>
                <a:cubicBezTo>
                  <a:pt x="2675451" y="3114433"/>
                  <a:pt x="2844900" y="3140546"/>
                  <a:pt x="3016861" y="3160740"/>
                </a:cubicBezTo>
                <a:lnTo>
                  <a:pt x="3154526" y="3176279"/>
                </a:lnTo>
                <a:lnTo>
                  <a:pt x="3154526" y="3250361"/>
                </a:lnTo>
                <a:lnTo>
                  <a:pt x="3091307" y="3229805"/>
                </a:lnTo>
                <a:cubicBezTo>
                  <a:pt x="2970331" y="3200913"/>
                  <a:pt x="2845789" y="3187995"/>
                  <a:pt x="2723879" y="3162709"/>
                </a:cubicBezTo>
                <a:cubicBezTo>
                  <a:pt x="2531918" y="3123378"/>
                  <a:pt x="2352246" y="3052849"/>
                  <a:pt x="2203034" y="2922890"/>
                </a:cubicBezTo>
                <a:cubicBezTo>
                  <a:pt x="2162204" y="2887714"/>
                  <a:pt x="2133093" y="2838189"/>
                  <a:pt x="2101110" y="2793332"/>
                </a:cubicBezTo>
                <a:cubicBezTo>
                  <a:pt x="2073799" y="2754715"/>
                  <a:pt x="2082736" y="2712782"/>
                  <a:pt x="2116325" y="2687419"/>
                </a:cubicBezTo>
                <a:cubicBezTo>
                  <a:pt x="2175646" y="2642160"/>
                  <a:pt x="2236186" y="2597005"/>
                  <a:pt x="2319352" y="2601737"/>
                </a:cubicBezTo>
                <a:close/>
                <a:moveTo>
                  <a:pt x="1350946" y="1631006"/>
                </a:moveTo>
                <a:cubicBezTo>
                  <a:pt x="1231934" y="1635465"/>
                  <a:pt x="1116058" y="1653099"/>
                  <a:pt x="1004901" y="1697258"/>
                </a:cubicBezTo>
                <a:cubicBezTo>
                  <a:pt x="987400" y="1704041"/>
                  <a:pt x="971905" y="1715913"/>
                  <a:pt x="955407" y="1725240"/>
                </a:cubicBezTo>
                <a:cubicBezTo>
                  <a:pt x="966639" y="1785816"/>
                  <a:pt x="1017519" y="1804655"/>
                  <a:pt x="1056827" y="1829253"/>
                </a:cubicBezTo>
                <a:cubicBezTo>
                  <a:pt x="1231268" y="1938043"/>
                  <a:pt x="1422837" y="1999155"/>
                  <a:pt x="1626585" y="2030287"/>
                </a:cubicBezTo>
                <a:cubicBezTo>
                  <a:pt x="1823957" y="2060561"/>
                  <a:pt x="2019631" y="2099599"/>
                  <a:pt x="2214811" y="2140743"/>
                </a:cubicBezTo>
                <a:cubicBezTo>
                  <a:pt x="2303499" y="2159472"/>
                  <a:pt x="2388397" y="2193234"/>
                  <a:pt x="2475442" y="2220115"/>
                </a:cubicBezTo>
                <a:cubicBezTo>
                  <a:pt x="2104592" y="1972985"/>
                  <a:pt x="1687908" y="1847862"/>
                  <a:pt x="1255641" y="1766864"/>
                </a:cubicBezTo>
                <a:cubicBezTo>
                  <a:pt x="1255251" y="1719208"/>
                  <a:pt x="1277138" y="1714955"/>
                  <a:pt x="1305929" y="1722974"/>
                </a:cubicBezTo>
                <a:cubicBezTo>
                  <a:pt x="1538973" y="1787671"/>
                  <a:pt x="1780869" y="1821795"/>
                  <a:pt x="2002915" y="1923946"/>
                </a:cubicBezTo>
                <a:cubicBezTo>
                  <a:pt x="2151427" y="1992395"/>
                  <a:pt x="2300710" y="2059069"/>
                  <a:pt x="2449662" y="2126020"/>
                </a:cubicBezTo>
                <a:cubicBezTo>
                  <a:pt x="2460594" y="2130960"/>
                  <a:pt x="2472685" y="2133234"/>
                  <a:pt x="2505028" y="2142789"/>
                </a:cubicBezTo>
                <a:cubicBezTo>
                  <a:pt x="2475571" y="2111055"/>
                  <a:pt x="2460365" y="2081474"/>
                  <a:pt x="2446175" y="2082091"/>
                </a:cubicBezTo>
                <a:cubicBezTo>
                  <a:pt x="2379269" y="2084602"/>
                  <a:pt x="2355631" y="2028791"/>
                  <a:pt x="2312648" y="1997116"/>
                </a:cubicBezTo>
                <a:cubicBezTo>
                  <a:pt x="2026480" y="1786187"/>
                  <a:pt x="1723671" y="1617449"/>
                  <a:pt x="1350946" y="1631006"/>
                </a:cubicBezTo>
                <a:close/>
                <a:moveTo>
                  <a:pt x="2656659" y="1238775"/>
                </a:moveTo>
                <a:cubicBezTo>
                  <a:pt x="2644606" y="1298568"/>
                  <a:pt x="2626428" y="1347692"/>
                  <a:pt x="2625436" y="1397072"/>
                </a:cubicBezTo>
                <a:cubicBezTo>
                  <a:pt x="2619407" y="1728988"/>
                  <a:pt x="2721248" y="2033054"/>
                  <a:pt x="2875161" y="2321650"/>
                </a:cubicBezTo>
                <a:cubicBezTo>
                  <a:pt x="2888582" y="2347082"/>
                  <a:pt x="2908758" y="2369104"/>
                  <a:pt x="2925722" y="2392692"/>
                </a:cubicBezTo>
                <a:cubicBezTo>
                  <a:pt x="2886672" y="2243683"/>
                  <a:pt x="2841864" y="2097249"/>
                  <a:pt x="2811462" y="1947758"/>
                </a:cubicBezTo>
                <a:cubicBezTo>
                  <a:pt x="2781284" y="1799209"/>
                  <a:pt x="2712820" y="1659639"/>
                  <a:pt x="2718919" y="1497019"/>
                </a:cubicBezTo>
                <a:cubicBezTo>
                  <a:pt x="2730586" y="1507553"/>
                  <a:pt x="2749788" y="1516279"/>
                  <a:pt x="2753255" y="1529176"/>
                </a:cubicBezTo>
                <a:cubicBezTo>
                  <a:pt x="2797108" y="1693348"/>
                  <a:pt x="2835310" y="1858876"/>
                  <a:pt x="2881379" y="2022317"/>
                </a:cubicBezTo>
                <a:cubicBezTo>
                  <a:pt x="2914140" y="2138215"/>
                  <a:pt x="2951889" y="2253316"/>
                  <a:pt x="2996393" y="2365005"/>
                </a:cubicBezTo>
                <a:cubicBezTo>
                  <a:pt x="3016804" y="2415622"/>
                  <a:pt x="3059865" y="2456828"/>
                  <a:pt x="3100133" y="2512233"/>
                </a:cubicBezTo>
                <a:cubicBezTo>
                  <a:pt x="3125902" y="2321819"/>
                  <a:pt x="3114999" y="2142982"/>
                  <a:pt x="3079545" y="1967247"/>
                </a:cubicBezTo>
                <a:cubicBezTo>
                  <a:pt x="3043195" y="1787746"/>
                  <a:pt x="2984240" y="1613666"/>
                  <a:pt x="2899475" y="1449951"/>
                </a:cubicBezTo>
                <a:cubicBezTo>
                  <a:pt x="2849352" y="1353137"/>
                  <a:pt x="2770149" y="1289757"/>
                  <a:pt x="2656659" y="1238775"/>
                </a:cubicBezTo>
                <a:close/>
                <a:moveTo>
                  <a:pt x="1367798" y="807514"/>
                </a:moveTo>
                <a:cubicBezTo>
                  <a:pt x="1352912" y="807830"/>
                  <a:pt x="1337552" y="809508"/>
                  <a:pt x="1321670" y="812743"/>
                </a:cubicBezTo>
                <a:cubicBezTo>
                  <a:pt x="1275978" y="877616"/>
                  <a:pt x="1280886" y="936724"/>
                  <a:pt x="1326427" y="995044"/>
                </a:cubicBezTo>
                <a:cubicBezTo>
                  <a:pt x="1433301" y="1131174"/>
                  <a:pt x="1539511" y="1267862"/>
                  <a:pt x="1646715" y="1403714"/>
                </a:cubicBezTo>
                <a:cubicBezTo>
                  <a:pt x="1662730" y="1424147"/>
                  <a:pt x="1685275" y="1440230"/>
                  <a:pt x="1699020" y="1462003"/>
                </a:cubicBezTo>
                <a:cubicBezTo>
                  <a:pt x="1800908" y="1623204"/>
                  <a:pt x="1970651" y="1691339"/>
                  <a:pt x="2128129" y="1776540"/>
                </a:cubicBezTo>
                <a:cubicBezTo>
                  <a:pt x="2132515" y="1779070"/>
                  <a:pt x="2139771" y="1776932"/>
                  <a:pt x="2153908" y="1776925"/>
                </a:cubicBezTo>
                <a:cubicBezTo>
                  <a:pt x="1913308" y="1495583"/>
                  <a:pt x="1480360" y="988380"/>
                  <a:pt x="1447891" y="949010"/>
                </a:cubicBezTo>
                <a:cubicBezTo>
                  <a:pt x="1438440" y="937747"/>
                  <a:pt x="1451500" y="904772"/>
                  <a:pt x="1451500" y="904772"/>
                </a:cubicBezTo>
                <a:cubicBezTo>
                  <a:pt x="1583380" y="1043065"/>
                  <a:pt x="1709693" y="1171351"/>
                  <a:pt x="1824226" y="1311217"/>
                </a:cubicBezTo>
                <a:cubicBezTo>
                  <a:pt x="1939592" y="1452076"/>
                  <a:pt x="2051809" y="1597271"/>
                  <a:pt x="2204689" y="1730927"/>
                </a:cubicBezTo>
                <a:cubicBezTo>
                  <a:pt x="2130020" y="1522613"/>
                  <a:pt x="2018534" y="1358739"/>
                  <a:pt x="1890667" y="1206353"/>
                </a:cubicBezTo>
                <a:cubicBezTo>
                  <a:pt x="1809499" y="1109621"/>
                  <a:pt x="1722572" y="1015464"/>
                  <a:pt x="1627192" y="933479"/>
                </a:cubicBezTo>
                <a:cubicBezTo>
                  <a:pt x="1552970" y="869801"/>
                  <a:pt x="1471998" y="805303"/>
                  <a:pt x="1367798" y="807514"/>
                </a:cubicBezTo>
                <a:close/>
                <a:moveTo>
                  <a:pt x="283580" y="681216"/>
                </a:moveTo>
                <a:cubicBezTo>
                  <a:pt x="225321" y="683247"/>
                  <a:pt x="165634" y="690991"/>
                  <a:pt x="110348" y="708025"/>
                </a:cubicBezTo>
                <a:cubicBezTo>
                  <a:pt x="47806" y="727198"/>
                  <a:pt x="38159" y="773680"/>
                  <a:pt x="85723" y="819576"/>
                </a:cubicBezTo>
                <a:cubicBezTo>
                  <a:pt x="117727" y="850303"/>
                  <a:pt x="158972" y="873839"/>
                  <a:pt x="199932" y="893664"/>
                </a:cubicBezTo>
                <a:cubicBezTo>
                  <a:pt x="371707" y="977029"/>
                  <a:pt x="555037" y="1023602"/>
                  <a:pt x="740736" y="1064235"/>
                </a:cubicBezTo>
                <a:cubicBezTo>
                  <a:pt x="864036" y="1091178"/>
                  <a:pt x="987282" y="1118732"/>
                  <a:pt x="1110528" y="1146285"/>
                </a:cubicBezTo>
                <a:cubicBezTo>
                  <a:pt x="928947" y="972356"/>
                  <a:pt x="701131" y="914563"/>
                  <a:pt x="459412" y="885372"/>
                </a:cubicBezTo>
                <a:cubicBezTo>
                  <a:pt x="478175" y="826159"/>
                  <a:pt x="516123" y="838350"/>
                  <a:pt x="543138" y="845601"/>
                </a:cubicBezTo>
                <a:cubicBezTo>
                  <a:pt x="666284" y="877754"/>
                  <a:pt x="787832" y="914071"/>
                  <a:pt x="910153" y="948610"/>
                </a:cubicBezTo>
                <a:cubicBezTo>
                  <a:pt x="924243" y="952594"/>
                  <a:pt x="938442" y="955357"/>
                  <a:pt x="966399" y="962382"/>
                </a:cubicBezTo>
                <a:cubicBezTo>
                  <a:pt x="763292" y="781678"/>
                  <a:pt x="547213" y="671132"/>
                  <a:pt x="283580" y="681216"/>
                </a:cubicBezTo>
                <a:close/>
                <a:moveTo>
                  <a:pt x="1590373" y="207352"/>
                </a:moveTo>
                <a:cubicBezTo>
                  <a:pt x="1587096" y="251312"/>
                  <a:pt x="1763468" y="775662"/>
                  <a:pt x="1849000" y="1052202"/>
                </a:cubicBezTo>
                <a:cubicBezTo>
                  <a:pt x="1854082" y="1067696"/>
                  <a:pt x="1873068" y="1078862"/>
                  <a:pt x="1897521" y="1104633"/>
                </a:cubicBezTo>
                <a:cubicBezTo>
                  <a:pt x="1921800" y="754017"/>
                  <a:pt x="1649474" y="209696"/>
                  <a:pt x="1590373" y="207352"/>
                </a:cubicBezTo>
                <a:close/>
                <a:moveTo>
                  <a:pt x="1477590" y="196987"/>
                </a:moveTo>
                <a:cubicBezTo>
                  <a:pt x="1437812" y="254076"/>
                  <a:pt x="1537127" y="801874"/>
                  <a:pt x="1734197" y="915385"/>
                </a:cubicBezTo>
                <a:cubicBezTo>
                  <a:pt x="1703208" y="682273"/>
                  <a:pt x="1525823" y="221435"/>
                  <a:pt x="1477590" y="196987"/>
                </a:cubicBezTo>
                <a:close/>
                <a:moveTo>
                  <a:pt x="1520807" y="401"/>
                </a:moveTo>
                <a:cubicBezTo>
                  <a:pt x="1579358" y="-18810"/>
                  <a:pt x="1968747" y="657606"/>
                  <a:pt x="1959261" y="1004279"/>
                </a:cubicBezTo>
                <a:cubicBezTo>
                  <a:pt x="1957114" y="1080597"/>
                  <a:pt x="1972663" y="1161825"/>
                  <a:pt x="1999831" y="1233302"/>
                </a:cubicBezTo>
                <a:cubicBezTo>
                  <a:pt x="2026326" y="1301958"/>
                  <a:pt x="2079241" y="1360300"/>
                  <a:pt x="2119085" y="1423964"/>
                </a:cubicBezTo>
                <a:cubicBezTo>
                  <a:pt x="2203893" y="1559417"/>
                  <a:pt x="2292245" y="1693025"/>
                  <a:pt x="2335471" y="1850384"/>
                </a:cubicBezTo>
                <a:cubicBezTo>
                  <a:pt x="2345481" y="1886581"/>
                  <a:pt x="2366083" y="1924618"/>
                  <a:pt x="2392591" y="1951489"/>
                </a:cubicBezTo>
                <a:cubicBezTo>
                  <a:pt x="2509236" y="2070951"/>
                  <a:pt x="2629256" y="2187019"/>
                  <a:pt x="2748943" y="2303364"/>
                </a:cubicBezTo>
                <a:cubicBezTo>
                  <a:pt x="2764224" y="2318204"/>
                  <a:pt x="2785533" y="2327420"/>
                  <a:pt x="2806241" y="2339964"/>
                </a:cubicBezTo>
                <a:cubicBezTo>
                  <a:pt x="2762509" y="2226497"/>
                  <a:pt x="2718237" y="2119129"/>
                  <a:pt x="2679338" y="2010074"/>
                </a:cubicBezTo>
                <a:cubicBezTo>
                  <a:pt x="2652046" y="1933055"/>
                  <a:pt x="2633007" y="1853061"/>
                  <a:pt x="2606989" y="1775538"/>
                </a:cubicBezTo>
                <a:cubicBezTo>
                  <a:pt x="2555401" y="1622372"/>
                  <a:pt x="2567060" y="1466379"/>
                  <a:pt x="2582155" y="1309760"/>
                </a:cubicBezTo>
                <a:cubicBezTo>
                  <a:pt x="2583890" y="1293627"/>
                  <a:pt x="2587787" y="1277372"/>
                  <a:pt x="2592851" y="1261833"/>
                </a:cubicBezTo>
                <a:cubicBezTo>
                  <a:pt x="2617403" y="1189295"/>
                  <a:pt x="2652398" y="1172350"/>
                  <a:pt x="2718128" y="1210907"/>
                </a:cubicBezTo>
                <a:cubicBezTo>
                  <a:pt x="2814833" y="1267504"/>
                  <a:pt x="2902198" y="1335891"/>
                  <a:pt x="2951511" y="1441852"/>
                </a:cubicBezTo>
                <a:cubicBezTo>
                  <a:pt x="3038773" y="1630286"/>
                  <a:pt x="3113633" y="1822140"/>
                  <a:pt x="3144770" y="2025597"/>
                </a:cubicBezTo>
                <a:lnTo>
                  <a:pt x="3154526" y="2110676"/>
                </a:lnTo>
                <a:lnTo>
                  <a:pt x="3154526" y="2821253"/>
                </a:lnTo>
                <a:lnTo>
                  <a:pt x="2760231" y="2387604"/>
                </a:lnTo>
                <a:cubicBezTo>
                  <a:pt x="2741167" y="2366906"/>
                  <a:pt x="2700516" y="2336662"/>
                  <a:pt x="2690109" y="2343136"/>
                </a:cubicBezTo>
                <a:cubicBezTo>
                  <a:pt x="2642229" y="2373715"/>
                  <a:pt x="2618013" y="2331373"/>
                  <a:pt x="2584945" y="2319604"/>
                </a:cubicBezTo>
                <a:cubicBezTo>
                  <a:pt x="2547993" y="2306578"/>
                  <a:pt x="2513851" y="2286113"/>
                  <a:pt x="2476459" y="2274585"/>
                </a:cubicBezTo>
                <a:cubicBezTo>
                  <a:pt x="2201011" y="2189017"/>
                  <a:pt x="1923696" y="2110661"/>
                  <a:pt x="1635021" y="2080790"/>
                </a:cubicBezTo>
                <a:cubicBezTo>
                  <a:pt x="1402684" y="2056710"/>
                  <a:pt x="1188399" y="1977966"/>
                  <a:pt x="994284" y="1848426"/>
                </a:cubicBezTo>
                <a:cubicBezTo>
                  <a:pt x="950197" y="1818806"/>
                  <a:pt x="889766" y="1793304"/>
                  <a:pt x="900907" y="1722986"/>
                </a:cubicBezTo>
                <a:cubicBezTo>
                  <a:pt x="911231" y="1658436"/>
                  <a:pt x="971752" y="1651685"/>
                  <a:pt x="1019942" y="1634959"/>
                </a:cubicBezTo>
                <a:cubicBezTo>
                  <a:pt x="1154986" y="1588257"/>
                  <a:pt x="1294758" y="1571459"/>
                  <a:pt x="1436756" y="1581585"/>
                </a:cubicBezTo>
                <a:cubicBezTo>
                  <a:pt x="1536337" y="1588349"/>
                  <a:pt x="1635547" y="1602764"/>
                  <a:pt x="1745065" y="1615304"/>
                </a:cubicBezTo>
                <a:cubicBezTo>
                  <a:pt x="1693416" y="1553077"/>
                  <a:pt x="1654406" y="1490407"/>
                  <a:pt x="1601192" y="1445865"/>
                </a:cubicBezTo>
                <a:cubicBezTo>
                  <a:pt x="1541977" y="1396196"/>
                  <a:pt x="1469385" y="1362268"/>
                  <a:pt x="1401935" y="1322332"/>
                </a:cubicBezTo>
                <a:cubicBezTo>
                  <a:pt x="1386168" y="1312982"/>
                  <a:pt x="1361963" y="1298292"/>
                  <a:pt x="1350058" y="1304329"/>
                </a:cubicBezTo>
                <a:cubicBezTo>
                  <a:pt x="1286876" y="1334200"/>
                  <a:pt x="1244919" y="1290939"/>
                  <a:pt x="1196299" y="1267380"/>
                </a:cubicBezTo>
                <a:cubicBezTo>
                  <a:pt x="1135027" y="1237503"/>
                  <a:pt x="1075019" y="1203742"/>
                  <a:pt x="1010774" y="1183133"/>
                </a:cubicBezTo>
                <a:cubicBezTo>
                  <a:pt x="929829" y="1156779"/>
                  <a:pt x="845805" y="1140912"/>
                  <a:pt x="762606" y="1122658"/>
                </a:cubicBezTo>
                <a:cubicBezTo>
                  <a:pt x="554386" y="1076085"/>
                  <a:pt x="347431" y="1025625"/>
                  <a:pt x="154893" y="930327"/>
                </a:cubicBezTo>
                <a:cubicBezTo>
                  <a:pt x="114267" y="910224"/>
                  <a:pt x="72689" y="886965"/>
                  <a:pt x="41348" y="855682"/>
                </a:cubicBezTo>
                <a:cubicBezTo>
                  <a:pt x="-23890" y="790745"/>
                  <a:pt x="-10548" y="712936"/>
                  <a:pt x="71618" y="669959"/>
                </a:cubicBezTo>
                <a:cubicBezTo>
                  <a:pt x="108660" y="650732"/>
                  <a:pt x="151808" y="635413"/>
                  <a:pt x="192882" y="633126"/>
                </a:cubicBezTo>
                <a:cubicBezTo>
                  <a:pt x="388435" y="621458"/>
                  <a:pt x="577746" y="642126"/>
                  <a:pt x="753661" y="741211"/>
                </a:cubicBezTo>
                <a:cubicBezTo>
                  <a:pt x="944176" y="848932"/>
                  <a:pt x="1100640" y="997646"/>
                  <a:pt x="1255776" y="1147472"/>
                </a:cubicBezTo>
                <a:cubicBezTo>
                  <a:pt x="1315230" y="1204844"/>
                  <a:pt x="1380518" y="1244899"/>
                  <a:pt x="1455766" y="1276598"/>
                </a:cubicBezTo>
                <a:cubicBezTo>
                  <a:pt x="1402679" y="1192433"/>
                  <a:pt x="1340907" y="1116120"/>
                  <a:pt x="1288932" y="1033280"/>
                </a:cubicBezTo>
                <a:cubicBezTo>
                  <a:pt x="1260385" y="987797"/>
                  <a:pt x="1238801" y="933085"/>
                  <a:pt x="1232411" y="880301"/>
                </a:cubicBezTo>
                <a:cubicBezTo>
                  <a:pt x="1221385" y="789633"/>
                  <a:pt x="1293466" y="725198"/>
                  <a:pt x="1384570" y="733996"/>
                </a:cubicBezTo>
                <a:cubicBezTo>
                  <a:pt x="1422941" y="737928"/>
                  <a:pt x="1460549" y="747017"/>
                  <a:pt x="1507746" y="755398"/>
                </a:cubicBezTo>
                <a:cubicBezTo>
                  <a:pt x="1495976" y="725193"/>
                  <a:pt x="1487937" y="701455"/>
                  <a:pt x="1477350" y="678725"/>
                </a:cubicBezTo>
                <a:cubicBezTo>
                  <a:pt x="1402121" y="514913"/>
                  <a:pt x="1405757" y="341942"/>
                  <a:pt x="1417151" y="168105"/>
                </a:cubicBezTo>
                <a:cubicBezTo>
                  <a:pt x="1422285" y="89280"/>
                  <a:pt x="1443928" y="28781"/>
                  <a:pt x="1520807" y="401"/>
                </a:cubicBezTo>
                <a:close/>
              </a:path>
            </a:pathLst>
          </a:custGeom>
          <a:solidFill>
            <a:schemeClr val="accent4">
              <a:lumMod val="60000"/>
              <a:lumOff val="40000"/>
              <a:alpha val="3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7CB19B63-2AAF-E86D-D7F1-B659DB36B5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alphaModFix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7188"/>
          <a:stretch>
            <a:fillRect/>
          </a:stretch>
        </p:blipFill>
        <p:spPr>
          <a:xfrm>
            <a:off x="-1" y="2673019"/>
            <a:ext cx="1697023" cy="1898712"/>
          </a:xfrm>
          <a:custGeom>
            <a:avLst/>
            <a:gdLst>
              <a:gd name="connsiteX0" fmla="*/ 0 w 1697023"/>
              <a:gd name="connsiteY0" fmla="*/ 0 h 1898712"/>
              <a:gd name="connsiteX1" fmla="*/ 1697023 w 1697023"/>
              <a:gd name="connsiteY1" fmla="*/ 0 h 1898712"/>
              <a:gd name="connsiteX2" fmla="*/ 1697023 w 1697023"/>
              <a:gd name="connsiteY2" fmla="*/ 1898712 h 1898712"/>
              <a:gd name="connsiteX3" fmla="*/ 0 w 1697023"/>
              <a:gd name="connsiteY3" fmla="*/ 1898712 h 1898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97023" h="1898712">
                <a:moveTo>
                  <a:pt x="0" y="0"/>
                </a:moveTo>
                <a:lnTo>
                  <a:pt x="1697023" y="0"/>
                </a:lnTo>
                <a:lnTo>
                  <a:pt x="1697023" y="1898712"/>
                </a:lnTo>
                <a:lnTo>
                  <a:pt x="0" y="1898712"/>
                </a:lnTo>
                <a:close/>
              </a:path>
            </a:pathLst>
          </a:custGeom>
        </p:spPr>
      </p:pic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83712F38-4391-A499-56E2-8F095A50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2"/>
            <a:ext cx="2476443" cy="3377247"/>
          </a:xfrm>
          <a:custGeom>
            <a:avLst/>
            <a:gdLst>
              <a:gd name="connsiteX0" fmla="*/ 131832 w 2476443"/>
              <a:gd name="connsiteY0" fmla="*/ 2603380 h 3377247"/>
              <a:gd name="connsiteX1" fmla="*/ 40810 w 2476443"/>
              <a:gd name="connsiteY1" fmla="*/ 2609673 h 3377247"/>
              <a:gd name="connsiteX2" fmla="*/ 22360 w 2476443"/>
              <a:gd name="connsiteY2" fmla="*/ 2641458 h 3377247"/>
              <a:gd name="connsiteX3" fmla="*/ 197791 w 2476443"/>
              <a:gd name="connsiteY3" fmla="*/ 2748166 h 3377247"/>
              <a:gd name="connsiteX4" fmla="*/ 391786 w 2476443"/>
              <a:gd name="connsiteY4" fmla="*/ 2906949 h 3377247"/>
              <a:gd name="connsiteX5" fmla="*/ 554014 w 2476443"/>
              <a:gd name="connsiteY5" fmla="*/ 3133682 h 3377247"/>
              <a:gd name="connsiteX6" fmla="*/ 613883 w 2476443"/>
              <a:gd name="connsiteY6" fmla="*/ 3202133 h 3377247"/>
              <a:gd name="connsiteX7" fmla="*/ 362172 w 2476443"/>
              <a:gd name="connsiteY7" fmla="*/ 2717029 h 3377247"/>
              <a:gd name="connsiteX8" fmla="*/ 131832 w 2476443"/>
              <a:gd name="connsiteY8" fmla="*/ 2603380 h 3377247"/>
              <a:gd name="connsiteX9" fmla="*/ 0 w 2476443"/>
              <a:gd name="connsiteY9" fmla="*/ 2515796 h 3377247"/>
              <a:gd name="connsiteX10" fmla="*/ 1912 w 2476443"/>
              <a:gd name="connsiteY10" fmla="*/ 2516152 h 3377247"/>
              <a:gd name="connsiteX11" fmla="*/ 69005 w 2476443"/>
              <a:gd name="connsiteY11" fmla="*/ 2517494 h 3377247"/>
              <a:gd name="connsiteX12" fmla="*/ 514290 w 2476443"/>
              <a:gd name="connsiteY12" fmla="*/ 2765562 h 3377247"/>
              <a:gd name="connsiteX13" fmla="*/ 745978 w 2476443"/>
              <a:gd name="connsiteY13" fmla="*/ 3352952 h 3377247"/>
              <a:gd name="connsiteX14" fmla="*/ 1182 w 2476443"/>
              <a:gd name="connsiteY14" fmla="*/ 2979480 h 3377247"/>
              <a:gd name="connsiteX15" fmla="*/ 0 w 2476443"/>
              <a:gd name="connsiteY15" fmla="*/ 2976961 h 3377247"/>
              <a:gd name="connsiteX16" fmla="*/ 0 w 2476443"/>
              <a:gd name="connsiteY16" fmla="*/ 2788045 h 3377247"/>
              <a:gd name="connsiteX17" fmla="*/ 10452 w 2476443"/>
              <a:gd name="connsiteY17" fmla="*/ 2820897 h 3377247"/>
              <a:gd name="connsiteX18" fmla="*/ 521041 w 2476443"/>
              <a:gd name="connsiteY18" fmla="*/ 3232735 h 3377247"/>
              <a:gd name="connsiteX19" fmla="*/ 359810 w 2476443"/>
              <a:gd name="connsiteY19" fmla="*/ 2983868 h 3377247"/>
              <a:gd name="connsiteX20" fmla="*/ 305764 w 2476443"/>
              <a:gd name="connsiteY20" fmla="*/ 2955290 h 3377247"/>
              <a:gd name="connsiteX21" fmla="*/ 201687 w 2476443"/>
              <a:gd name="connsiteY21" fmla="*/ 2891456 h 3377247"/>
              <a:gd name="connsiteX22" fmla="*/ 40334 w 2476443"/>
              <a:gd name="connsiteY22" fmla="*/ 2731937 h 3377247"/>
              <a:gd name="connsiteX23" fmla="*/ 0 w 2476443"/>
              <a:gd name="connsiteY23" fmla="*/ 2710827 h 3377247"/>
              <a:gd name="connsiteX24" fmla="*/ 1373023 w 2476443"/>
              <a:gd name="connsiteY24" fmla="*/ 1747994 h 3377247"/>
              <a:gd name="connsiteX25" fmla="*/ 1503825 w 2476443"/>
              <a:gd name="connsiteY25" fmla="*/ 2063667 h 3377247"/>
              <a:gd name="connsiteX26" fmla="*/ 1662101 w 2476443"/>
              <a:gd name="connsiteY26" fmla="*/ 2359475 h 3377247"/>
              <a:gd name="connsiteX27" fmla="*/ 1595627 w 2476443"/>
              <a:gd name="connsiteY27" fmla="*/ 2352659 h 3377247"/>
              <a:gd name="connsiteX28" fmla="*/ 1319178 w 2476443"/>
              <a:gd name="connsiteY28" fmla="*/ 1852692 h 3377247"/>
              <a:gd name="connsiteX29" fmla="*/ 1751554 w 2476443"/>
              <a:gd name="connsiteY29" fmla="*/ 2817233 h 3377247"/>
              <a:gd name="connsiteX30" fmla="*/ 1373023 w 2476443"/>
              <a:gd name="connsiteY30" fmla="*/ 1747994 h 3377247"/>
              <a:gd name="connsiteX31" fmla="*/ 787749 w 2476443"/>
              <a:gd name="connsiteY31" fmla="*/ 1297597 h 3377247"/>
              <a:gd name="connsiteX32" fmla="*/ 741982 w 2476443"/>
              <a:gd name="connsiteY32" fmla="*/ 1457813 h 3377247"/>
              <a:gd name="connsiteX33" fmla="*/ 647348 w 2476443"/>
              <a:gd name="connsiteY33" fmla="*/ 1849128 h 3377247"/>
              <a:gd name="connsiteX34" fmla="*/ 601983 w 2476443"/>
              <a:gd name="connsiteY34" fmla="*/ 1906309 h 3377247"/>
              <a:gd name="connsiteX35" fmla="*/ 573533 w 2476443"/>
              <a:gd name="connsiteY35" fmla="*/ 1891163 h 3377247"/>
              <a:gd name="connsiteX36" fmla="*/ 656789 w 2476443"/>
              <a:gd name="connsiteY36" fmla="*/ 1520940 h 3377247"/>
              <a:gd name="connsiteX37" fmla="*/ 525720 w 2476443"/>
              <a:gd name="connsiteY37" fmla="*/ 2165766 h 3377247"/>
              <a:gd name="connsiteX38" fmla="*/ 621443 w 2476443"/>
              <a:gd name="connsiteY38" fmla="*/ 2123904 h 3377247"/>
              <a:gd name="connsiteX39" fmla="*/ 866625 w 2476443"/>
              <a:gd name="connsiteY39" fmla="*/ 1434625 h 3377247"/>
              <a:gd name="connsiteX40" fmla="*/ 787749 w 2476443"/>
              <a:gd name="connsiteY40" fmla="*/ 1297597 h 3377247"/>
              <a:gd name="connsiteX41" fmla="*/ 1747943 w 2476443"/>
              <a:gd name="connsiteY41" fmla="*/ 1290053 h 3377247"/>
              <a:gd name="connsiteX42" fmla="*/ 1640654 w 2476443"/>
              <a:gd name="connsiteY42" fmla="*/ 1304737 h 3377247"/>
              <a:gd name="connsiteX43" fmla="*/ 2011928 w 2476443"/>
              <a:gd name="connsiteY43" fmla="*/ 1597321 h 3377247"/>
              <a:gd name="connsiteX44" fmla="*/ 1620637 w 2476443"/>
              <a:gd name="connsiteY44" fmla="*/ 1403780 h 3377247"/>
              <a:gd name="connsiteX45" fmla="*/ 2330262 w 2476443"/>
              <a:gd name="connsiteY45" fmla="*/ 1787296 h 3377247"/>
              <a:gd name="connsiteX46" fmla="*/ 1747943 w 2476443"/>
              <a:gd name="connsiteY46" fmla="*/ 1290053 h 3377247"/>
              <a:gd name="connsiteX47" fmla="*/ 577889 w 2476443"/>
              <a:gd name="connsiteY47" fmla="*/ 57551 h 3377247"/>
              <a:gd name="connsiteX48" fmla="*/ 498324 w 2476443"/>
              <a:gd name="connsiteY48" fmla="*/ 254618 h 3377247"/>
              <a:gd name="connsiteX49" fmla="*/ 440571 w 2476443"/>
              <a:gd name="connsiteY49" fmla="*/ 453098 h 3377247"/>
              <a:gd name="connsiteX50" fmla="*/ 405083 w 2476443"/>
              <a:gd name="connsiteY50" fmla="*/ 432425 h 3377247"/>
              <a:gd name="connsiteX51" fmla="*/ 436963 w 2476443"/>
              <a:gd name="connsiteY51" fmla="*/ 170333 h 3377247"/>
              <a:gd name="connsiteX52" fmla="*/ 157288 w 2476443"/>
              <a:gd name="connsiteY52" fmla="*/ 1142217 h 3377247"/>
              <a:gd name="connsiteX53" fmla="*/ 577889 w 2476443"/>
              <a:gd name="connsiteY53" fmla="*/ 57551 h 3377247"/>
              <a:gd name="connsiteX54" fmla="*/ 1250303 w 2476443"/>
              <a:gd name="connsiteY54" fmla="*/ 0 h 3377247"/>
              <a:gd name="connsiteX55" fmla="*/ 1535094 w 2476443"/>
              <a:gd name="connsiteY55" fmla="*/ 0 h 3377247"/>
              <a:gd name="connsiteX56" fmla="*/ 1687492 w 2476443"/>
              <a:gd name="connsiteY56" fmla="*/ 141068 h 3377247"/>
              <a:gd name="connsiteX57" fmla="*/ 1851732 w 2476443"/>
              <a:gd name="connsiteY57" fmla="*/ 292935 h 3377247"/>
              <a:gd name="connsiteX58" fmla="*/ 1833204 w 2476443"/>
              <a:gd name="connsiteY58" fmla="*/ 316228 h 3377247"/>
              <a:gd name="connsiteX59" fmla="*/ 1616084 w 2476443"/>
              <a:gd name="connsiteY59" fmla="*/ 147446 h 3377247"/>
              <a:gd name="connsiteX60" fmla="*/ 1349183 w 2476443"/>
              <a:gd name="connsiteY60" fmla="*/ 6561 h 3377247"/>
              <a:gd name="connsiteX61" fmla="*/ 2176748 w 2476443"/>
              <a:gd name="connsiteY61" fmla="*/ 568765 h 3377247"/>
              <a:gd name="connsiteX62" fmla="*/ 1727587 w 2476443"/>
              <a:gd name="connsiteY62" fmla="*/ 11525 h 3377247"/>
              <a:gd name="connsiteX63" fmla="*/ 1676546 w 2476443"/>
              <a:gd name="connsiteY63" fmla="*/ 0 h 3377247"/>
              <a:gd name="connsiteX64" fmla="*/ 1878091 w 2476443"/>
              <a:gd name="connsiteY64" fmla="*/ 0 h 3377247"/>
              <a:gd name="connsiteX65" fmla="*/ 1997002 w 2476443"/>
              <a:gd name="connsiteY65" fmla="*/ 88744 h 3377247"/>
              <a:gd name="connsiteX66" fmla="*/ 2179979 w 2476443"/>
              <a:gd name="connsiteY66" fmla="*/ 341422 h 3377247"/>
              <a:gd name="connsiteX67" fmla="*/ 2322628 w 2476443"/>
              <a:gd name="connsiteY67" fmla="*/ 639532 h 3377247"/>
              <a:gd name="connsiteX68" fmla="*/ 2242012 w 2476443"/>
              <a:gd name="connsiteY68" fmla="*/ 654097 h 3377247"/>
              <a:gd name="connsiteX69" fmla="*/ 1781235 w 2476443"/>
              <a:gd name="connsiteY69" fmla="*/ 574043 h 3377247"/>
              <a:gd name="connsiteX70" fmla="*/ 1266142 w 2476443"/>
              <a:gd name="connsiteY70" fmla="*/ 42404 h 3377247"/>
              <a:gd name="connsiteX71" fmla="*/ 850933 w 2476443"/>
              <a:gd name="connsiteY71" fmla="*/ 0 h 3377247"/>
              <a:gd name="connsiteX72" fmla="*/ 912773 w 2476443"/>
              <a:gd name="connsiteY72" fmla="*/ 0 h 3377247"/>
              <a:gd name="connsiteX73" fmla="*/ 1105381 w 2476443"/>
              <a:gd name="connsiteY73" fmla="*/ 858402 h 3377247"/>
              <a:gd name="connsiteX74" fmla="*/ 1156198 w 2476443"/>
              <a:gd name="connsiteY74" fmla="*/ 1066909 h 3377247"/>
              <a:gd name="connsiteX75" fmla="*/ 1258853 w 2476443"/>
              <a:gd name="connsiteY75" fmla="*/ 1174057 h 3377247"/>
              <a:gd name="connsiteX76" fmla="*/ 1609673 w 2476443"/>
              <a:gd name="connsiteY76" fmla="*/ 1223767 h 3377247"/>
              <a:gd name="connsiteX77" fmla="*/ 2335582 w 2476443"/>
              <a:gd name="connsiteY77" fmla="*/ 1609274 h 3377247"/>
              <a:gd name="connsiteX78" fmla="*/ 2476443 w 2476443"/>
              <a:gd name="connsiteY78" fmla="*/ 1851097 h 3377247"/>
              <a:gd name="connsiteX79" fmla="*/ 2140536 w 2476443"/>
              <a:gd name="connsiteY79" fmla="*/ 1868158 h 3377247"/>
              <a:gd name="connsiteX80" fmla="*/ 1729336 w 2476443"/>
              <a:gd name="connsiteY80" fmla="*/ 1674345 h 3377247"/>
              <a:gd name="connsiteX81" fmla="*/ 1551117 w 2476443"/>
              <a:gd name="connsiteY81" fmla="*/ 1441900 h 3377247"/>
              <a:gd name="connsiteX82" fmla="*/ 1345901 w 2476443"/>
              <a:gd name="connsiteY82" fmla="*/ 1273777 h 3377247"/>
              <a:gd name="connsiteX83" fmla="*/ 1205760 w 2476443"/>
              <a:gd name="connsiteY83" fmla="*/ 1237636 h 3377247"/>
              <a:gd name="connsiteX84" fmla="*/ 1323931 w 2476443"/>
              <a:gd name="connsiteY84" fmla="*/ 1580795 h 3377247"/>
              <a:gd name="connsiteX85" fmla="*/ 1415894 w 2476443"/>
              <a:gd name="connsiteY85" fmla="*/ 1652940 h 3377247"/>
              <a:gd name="connsiteX86" fmla="*/ 1868785 w 2476443"/>
              <a:gd name="connsiteY86" fmla="*/ 2230994 h 3377247"/>
              <a:gd name="connsiteX87" fmla="*/ 1881383 w 2476443"/>
              <a:gd name="connsiteY87" fmla="*/ 2680895 h 3377247"/>
              <a:gd name="connsiteX88" fmla="*/ 1824663 w 2476443"/>
              <a:gd name="connsiteY88" fmla="*/ 2932609 h 3377247"/>
              <a:gd name="connsiteX89" fmla="*/ 1797788 w 2476443"/>
              <a:gd name="connsiteY89" fmla="*/ 2938546 h 3377247"/>
              <a:gd name="connsiteX90" fmla="*/ 1353298 w 2476443"/>
              <a:gd name="connsiteY90" fmla="*/ 2582483 h 3377247"/>
              <a:gd name="connsiteX91" fmla="*/ 1218472 w 2476443"/>
              <a:gd name="connsiteY91" fmla="*/ 1862981 h 3377247"/>
              <a:gd name="connsiteX92" fmla="*/ 1138217 w 2476443"/>
              <a:gd name="connsiteY92" fmla="*/ 1241221 h 3377247"/>
              <a:gd name="connsiteX93" fmla="*/ 1026352 w 2476443"/>
              <a:gd name="connsiteY93" fmla="*/ 1165562 h 3377247"/>
              <a:gd name="connsiteX94" fmla="*/ 1099843 w 2476443"/>
              <a:gd name="connsiteY94" fmla="*/ 1096051 h 3377247"/>
              <a:gd name="connsiteX95" fmla="*/ 1036842 w 2476443"/>
              <a:gd name="connsiteY95" fmla="*/ 836706 h 3377247"/>
              <a:gd name="connsiteX96" fmla="*/ 897565 w 2476443"/>
              <a:gd name="connsiteY96" fmla="*/ 1073889 h 3377247"/>
              <a:gd name="connsiteX97" fmla="*/ 903736 w 2476443"/>
              <a:gd name="connsiteY97" fmla="*/ 1314676 h 3377247"/>
              <a:gd name="connsiteX98" fmla="*/ 763530 w 2476443"/>
              <a:gd name="connsiteY98" fmla="*/ 2094311 h 3377247"/>
              <a:gd name="connsiteX99" fmla="*/ 596942 w 2476443"/>
              <a:gd name="connsiteY99" fmla="*/ 2226098 h 3377247"/>
              <a:gd name="connsiteX100" fmla="*/ 462515 w 2476443"/>
              <a:gd name="connsiteY100" fmla="*/ 2190144 h 3377247"/>
              <a:gd name="connsiteX101" fmla="*/ 429112 w 2476443"/>
              <a:gd name="connsiteY101" fmla="*/ 1944036 h 3377247"/>
              <a:gd name="connsiteX102" fmla="*/ 659528 w 2476443"/>
              <a:gd name="connsiteY102" fmla="*/ 1347213 h 3377247"/>
              <a:gd name="connsiteX103" fmla="*/ 840900 w 2476443"/>
              <a:gd name="connsiteY103" fmla="*/ 1021654 h 3377247"/>
              <a:gd name="connsiteX104" fmla="*/ 903061 w 2476443"/>
              <a:gd name="connsiteY104" fmla="*/ 903117 h 3377247"/>
              <a:gd name="connsiteX105" fmla="*/ 956786 w 2476443"/>
              <a:gd name="connsiteY105" fmla="*/ 487220 h 3377247"/>
              <a:gd name="connsiteX106" fmla="*/ 890938 w 2476443"/>
              <a:gd name="connsiteY106" fmla="*/ 200021 h 3377247"/>
              <a:gd name="connsiteX107" fmla="*/ 467701 w 2476443"/>
              <a:gd name="connsiteY107" fmla="*/ 0 h 3377247"/>
              <a:gd name="connsiteX108" fmla="*/ 666015 w 2476443"/>
              <a:gd name="connsiteY108" fmla="*/ 0 h 3377247"/>
              <a:gd name="connsiteX109" fmla="*/ 667134 w 2476443"/>
              <a:gd name="connsiteY109" fmla="*/ 15693 h 3377247"/>
              <a:gd name="connsiteX110" fmla="*/ 327285 w 2476443"/>
              <a:gd name="connsiteY110" fmla="*/ 1112507 h 3377247"/>
              <a:gd name="connsiteX111" fmla="*/ 99740 w 2476443"/>
              <a:gd name="connsiteY111" fmla="*/ 1287558 h 3377247"/>
              <a:gd name="connsiteX112" fmla="*/ 92533 w 2476443"/>
              <a:gd name="connsiteY112" fmla="*/ 671368 h 3377247"/>
              <a:gd name="connsiteX113" fmla="*/ 434441 w 2476443"/>
              <a:gd name="connsiteY113" fmla="*/ 38393 h 3377247"/>
              <a:gd name="connsiteX114" fmla="*/ 21630 w 2476443"/>
              <a:gd name="connsiteY114" fmla="*/ 0 h 3377247"/>
              <a:gd name="connsiteX115" fmla="*/ 91766 w 2476443"/>
              <a:gd name="connsiteY115" fmla="*/ 0 h 3377247"/>
              <a:gd name="connsiteX116" fmla="*/ 0 w 2476443"/>
              <a:gd name="connsiteY116" fmla="*/ 157944 h 3377247"/>
              <a:gd name="connsiteX117" fmla="*/ 0 w 2476443"/>
              <a:gd name="connsiteY117" fmla="*/ 39174 h 3377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2476443" h="3377247">
                <a:moveTo>
                  <a:pt x="131832" y="2603380"/>
                </a:moveTo>
                <a:cubicBezTo>
                  <a:pt x="102563" y="2602123"/>
                  <a:pt x="72184" y="2604330"/>
                  <a:pt x="40810" y="2609673"/>
                </a:cubicBezTo>
                <a:cubicBezTo>
                  <a:pt x="34977" y="2620459"/>
                  <a:pt x="28668" y="2630958"/>
                  <a:pt x="22360" y="2641458"/>
                </a:cubicBezTo>
                <a:cubicBezTo>
                  <a:pt x="81346" y="2676900"/>
                  <a:pt x="142625" y="2708523"/>
                  <a:pt x="197791" y="2748166"/>
                </a:cubicBezTo>
                <a:cubicBezTo>
                  <a:pt x="265416" y="2797243"/>
                  <a:pt x="336092" y="2845555"/>
                  <a:pt x="391786" y="2906949"/>
                </a:cubicBezTo>
                <a:cubicBezTo>
                  <a:pt x="453655" y="2975302"/>
                  <a:pt x="499684" y="3058169"/>
                  <a:pt x="554014" y="3133682"/>
                </a:cubicBezTo>
                <a:cubicBezTo>
                  <a:pt x="569495" y="3155327"/>
                  <a:pt x="589174" y="3174295"/>
                  <a:pt x="613883" y="3202133"/>
                </a:cubicBezTo>
                <a:cubicBezTo>
                  <a:pt x="622136" y="3034316"/>
                  <a:pt x="509181" y="2887202"/>
                  <a:pt x="362172" y="2717029"/>
                </a:cubicBezTo>
                <a:cubicBezTo>
                  <a:pt x="297457" y="2642095"/>
                  <a:pt x="219640" y="2607152"/>
                  <a:pt x="131832" y="2603380"/>
                </a:cubicBezTo>
                <a:close/>
                <a:moveTo>
                  <a:pt x="0" y="2515796"/>
                </a:moveTo>
                <a:lnTo>
                  <a:pt x="1912" y="2516152"/>
                </a:lnTo>
                <a:cubicBezTo>
                  <a:pt x="24328" y="2518579"/>
                  <a:pt x="46950" y="2519181"/>
                  <a:pt x="69005" y="2517494"/>
                </a:cubicBezTo>
                <a:cubicBezTo>
                  <a:pt x="274028" y="2501684"/>
                  <a:pt x="397138" y="2621123"/>
                  <a:pt x="514290" y="2765562"/>
                </a:cubicBezTo>
                <a:cubicBezTo>
                  <a:pt x="654816" y="2938984"/>
                  <a:pt x="780342" y="3318389"/>
                  <a:pt x="745978" y="3352952"/>
                </a:cubicBezTo>
                <a:cubicBezTo>
                  <a:pt x="561549" y="3451935"/>
                  <a:pt x="131922" y="3232761"/>
                  <a:pt x="1182" y="2979480"/>
                </a:cubicBezTo>
                <a:lnTo>
                  <a:pt x="0" y="2976961"/>
                </a:lnTo>
                <a:lnTo>
                  <a:pt x="0" y="2788045"/>
                </a:lnTo>
                <a:lnTo>
                  <a:pt x="10452" y="2820897"/>
                </a:lnTo>
                <a:cubicBezTo>
                  <a:pt x="111928" y="3094545"/>
                  <a:pt x="272910" y="3233685"/>
                  <a:pt x="521041" y="3232735"/>
                </a:cubicBezTo>
                <a:cubicBezTo>
                  <a:pt x="463785" y="3143773"/>
                  <a:pt x="413658" y="3062340"/>
                  <a:pt x="359810" y="2983868"/>
                </a:cubicBezTo>
                <a:cubicBezTo>
                  <a:pt x="349079" y="2968326"/>
                  <a:pt x="321489" y="2951748"/>
                  <a:pt x="305764" y="2955290"/>
                </a:cubicBezTo>
                <a:cubicBezTo>
                  <a:pt x="246868" y="2969267"/>
                  <a:pt x="229054" y="2923488"/>
                  <a:pt x="201687" y="2891456"/>
                </a:cubicBezTo>
                <a:cubicBezTo>
                  <a:pt x="152440" y="2833611"/>
                  <a:pt x="104267" y="2774584"/>
                  <a:pt x="40334" y="2731937"/>
                </a:cubicBezTo>
                <a:lnTo>
                  <a:pt x="0" y="2710827"/>
                </a:lnTo>
                <a:close/>
                <a:moveTo>
                  <a:pt x="1373023" y="1747994"/>
                </a:moveTo>
                <a:cubicBezTo>
                  <a:pt x="1419467" y="1860339"/>
                  <a:pt x="1459166" y="1963436"/>
                  <a:pt x="1503825" y="2063667"/>
                </a:cubicBezTo>
                <a:cubicBezTo>
                  <a:pt x="1547155" y="2161800"/>
                  <a:pt x="1628339" y="2241108"/>
                  <a:pt x="1662101" y="2359475"/>
                </a:cubicBezTo>
                <a:cubicBezTo>
                  <a:pt x="1627720" y="2356354"/>
                  <a:pt x="1600181" y="2361241"/>
                  <a:pt x="1595627" y="2352659"/>
                </a:cubicBezTo>
                <a:cubicBezTo>
                  <a:pt x="1501192" y="2185496"/>
                  <a:pt x="1408667" y="2016233"/>
                  <a:pt x="1319178" y="1852692"/>
                </a:cubicBezTo>
                <a:cubicBezTo>
                  <a:pt x="1139226" y="2090766"/>
                  <a:pt x="1297640" y="2596457"/>
                  <a:pt x="1751554" y="2817233"/>
                </a:cubicBezTo>
                <a:cubicBezTo>
                  <a:pt x="1943296" y="2451789"/>
                  <a:pt x="1732170" y="1824791"/>
                  <a:pt x="1373023" y="1747994"/>
                </a:cubicBezTo>
                <a:close/>
                <a:moveTo>
                  <a:pt x="787749" y="1297597"/>
                </a:moveTo>
                <a:cubicBezTo>
                  <a:pt x="770960" y="1355710"/>
                  <a:pt x="754757" y="1406381"/>
                  <a:pt x="741982" y="1457813"/>
                </a:cubicBezTo>
                <a:cubicBezTo>
                  <a:pt x="709992" y="1588633"/>
                  <a:pt x="681241" y="1719451"/>
                  <a:pt x="647348" y="1849128"/>
                </a:cubicBezTo>
                <a:cubicBezTo>
                  <a:pt x="641684" y="1870407"/>
                  <a:pt x="617930" y="1887311"/>
                  <a:pt x="601983" y="1906309"/>
                </a:cubicBezTo>
                <a:cubicBezTo>
                  <a:pt x="592658" y="1901356"/>
                  <a:pt x="582858" y="1896116"/>
                  <a:pt x="573533" y="1891163"/>
                </a:cubicBezTo>
                <a:cubicBezTo>
                  <a:pt x="600935" y="1767978"/>
                  <a:pt x="629100" y="1644603"/>
                  <a:pt x="656789" y="1520940"/>
                </a:cubicBezTo>
                <a:cubicBezTo>
                  <a:pt x="540556" y="1715461"/>
                  <a:pt x="453557" y="1915205"/>
                  <a:pt x="525720" y="2165766"/>
                </a:cubicBezTo>
                <a:cubicBezTo>
                  <a:pt x="573962" y="2144739"/>
                  <a:pt x="600172" y="2137753"/>
                  <a:pt x="621443" y="2123904"/>
                </a:cubicBezTo>
                <a:cubicBezTo>
                  <a:pt x="822895" y="1992280"/>
                  <a:pt x="935562" y="1678701"/>
                  <a:pt x="866625" y="1434625"/>
                </a:cubicBezTo>
                <a:cubicBezTo>
                  <a:pt x="853099" y="1388176"/>
                  <a:pt x="854841" y="1328168"/>
                  <a:pt x="787749" y="1297597"/>
                </a:cubicBezTo>
                <a:close/>
                <a:moveTo>
                  <a:pt x="1747943" y="1290053"/>
                </a:moveTo>
                <a:cubicBezTo>
                  <a:pt x="1712816" y="1291110"/>
                  <a:pt x="1677000" y="1295967"/>
                  <a:pt x="1640654" y="1304737"/>
                </a:cubicBezTo>
                <a:cubicBezTo>
                  <a:pt x="1756830" y="1414164"/>
                  <a:pt x="1944362" y="1427467"/>
                  <a:pt x="2011928" y="1597321"/>
                </a:cubicBezTo>
                <a:cubicBezTo>
                  <a:pt x="1882801" y="1532075"/>
                  <a:pt x="1769536" y="1442584"/>
                  <a:pt x="1620637" y="1403780"/>
                </a:cubicBezTo>
                <a:cubicBezTo>
                  <a:pt x="1796290" y="1725617"/>
                  <a:pt x="2003019" y="1852431"/>
                  <a:pt x="2330262" y="1787296"/>
                </a:cubicBezTo>
                <a:cubicBezTo>
                  <a:pt x="2205994" y="1461422"/>
                  <a:pt x="1993834" y="1282651"/>
                  <a:pt x="1747943" y="1290053"/>
                </a:cubicBezTo>
                <a:close/>
                <a:moveTo>
                  <a:pt x="577889" y="57551"/>
                </a:moveTo>
                <a:cubicBezTo>
                  <a:pt x="546390" y="134756"/>
                  <a:pt x="519311" y="193830"/>
                  <a:pt x="498324" y="254618"/>
                </a:cubicBezTo>
                <a:cubicBezTo>
                  <a:pt x="476093" y="318554"/>
                  <a:pt x="460143" y="384966"/>
                  <a:pt x="440571" y="453098"/>
                </a:cubicBezTo>
                <a:cubicBezTo>
                  <a:pt x="418403" y="440428"/>
                  <a:pt x="404601" y="435383"/>
                  <a:pt x="405083" y="432425"/>
                </a:cubicBezTo>
                <a:cubicBezTo>
                  <a:pt x="414693" y="345316"/>
                  <a:pt x="425828" y="257824"/>
                  <a:pt x="436963" y="170333"/>
                </a:cubicBezTo>
                <a:cubicBezTo>
                  <a:pt x="146722" y="584415"/>
                  <a:pt x="63003" y="856280"/>
                  <a:pt x="157288" y="1142217"/>
                </a:cubicBezTo>
                <a:cubicBezTo>
                  <a:pt x="427454" y="1039539"/>
                  <a:pt x="713096" y="453167"/>
                  <a:pt x="577889" y="57551"/>
                </a:cubicBezTo>
                <a:close/>
                <a:moveTo>
                  <a:pt x="1250303" y="0"/>
                </a:moveTo>
                <a:lnTo>
                  <a:pt x="1535094" y="0"/>
                </a:lnTo>
                <a:lnTo>
                  <a:pt x="1687492" y="141068"/>
                </a:lnTo>
                <a:cubicBezTo>
                  <a:pt x="1742658" y="192159"/>
                  <a:pt x="1797160" y="242607"/>
                  <a:pt x="1851732" y="292935"/>
                </a:cubicBezTo>
                <a:cubicBezTo>
                  <a:pt x="1845906" y="300477"/>
                  <a:pt x="1839318" y="308209"/>
                  <a:pt x="1833204" y="316228"/>
                </a:cubicBezTo>
                <a:cubicBezTo>
                  <a:pt x="1737134" y="296174"/>
                  <a:pt x="1687887" y="203580"/>
                  <a:pt x="1616084" y="147446"/>
                </a:cubicBezTo>
                <a:cubicBezTo>
                  <a:pt x="1538197" y="86357"/>
                  <a:pt x="1463260" y="25741"/>
                  <a:pt x="1349183" y="6561"/>
                </a:cubicBezTo>
                <a:cubicBezTo>
                  <a:pt x="1394727" y="370386"/>
                  <a:pt x="1753787" y="580934"/>
                  <a:pt x="2176748" y="568765"/>
                </a:cubicBezTo>
                <a:cubicBezTo>
                  <a:pt x="2100932" y="265021"/>
                  <a:pt x="1928750" y="78018"/>
                  <a:pt x="1727587" y="11525"/>
                </a:cubicBezTo>
                <a:lnTo>
                  <a:pt x="1676546" y="0"/>
                </a:lnTo>
                <a:lnTo>
                  <a:pt x="1878091" y="0"/>
                </a:lnTo>
                <a:lnTo>
                  <a:pt x="1997002" y="88744"/>
                </a:lnTo>
                <a:cubicBezTo>
                  <a:pt x="2070549" y="159079"/>
                  <a:pt x="2128927" y="246444"/>
                  <a:pt x="2179979" y="341422"/>
                </a:cubicBezTo>
                <a:cubicBezTo>
                  <a:pt x="2230653" y="434875"/>
                  <a:pt x="2337998" y="577318"/>
                  <a:pt x="2322628" y="639532"/>
                </a:cubicBezTo>
                <a:cubicBezTo>
                  <a:pt x="2302471" y="667691"/>
                  <a:pt x="2268104" y="658083"/>
                  <a:pt x="2242012" y="654097"/>
                </a:cubicBezTo>
                <a:cubicBezTo>
                  <a:pt x="2087651" y="630847"/>
                  <a:pt x="1930702" y="615137"/>
                  <a:pt x="1781235" y="574043"/>
                </a:cubicBezTo>
                <a:cubicBezTo>
                  <a:pt x="1510101" y="499466"/>
                  <a:pt x="1343609" y="307843"/>
                  <a:pt x="1266142" y="42404"/>
                </a:cubicBezTo>
                <a:close/>
                <a:moveTo>
                  <a:pt x="850933" y="0"/>
                </a:moveTo>
                <a:lnTo>
                  <a:pt x="912773" y="0"/>
                </a:lnTo>
                <a:lnTo>
                  <a:pt x="1105381" y="858402"/>
                </a:lnTo>
                <a:cubicBezTo>
                  <a:pt x="1121049" y="928224"/>
                  <a:pt x="1143293" y="996799"/>
                  <a:pt x="1156198" y="1066909"/>
                </a:cubicBezTo>
                <a:cubicBezTo>
                  <a:pt x="1167598" y="1127670"/>
                  <a:pt x="1201549" y="1155214"/>
                  <a:pt x="1258853" y="1174057"/>
                </a:cubicBezTo>
                <a:cubicBezTo>
                  <a:pt x="1373274" y="1210981"/>
                  <a:pt x="1482574" y="1237034"/>
                  <a:pt x="1609673" y="1223767"/>
                </a:cubicBezTo>
                <a:cubicBezTo>
                  <a:pt x="1931231" y="1189641"/>
                  <a:pt x="2186280" y="1303918"/>
                  <a:pt x="2335582" y="1609274"/>
                </a:cubicBezTo>
                <a:cubicBezTo>
                  <a:pt x="2374189" y="1688330"/>
                  <a:pt x="2471618" y="1789091"/>
                  <a:pt x="2476443" y="1851097"/>
                </a:cubicBezTo>
                <a:cubicBezTo>
                  <a:pt x="2445349" y="1916854"/>
                  <a:pt x="2249023" y="1872936"/>
                  <a:pt x="2140536" y="1868158"/>
                </a:cubicBezTo>
                <a:cubicBezTo>
                  <a:pt x="1978901" y="1861322"/>
                  <a:pt x="1835183" y="1804196"/>
                  <a:pt x="1729336" y="1674345"/>
                </a:cubicBezTo>
                <a:cubicBezTo>
                  <a:pt x="1667578" y="1598264"/>
                  <a:pt x="1591898" y="1528110"/>
                  <a:pt x="1551117" y="1441900"/>
                </a:cubicBezTo>
                <a:cubicBezTo>
                  <a:pt x="1505591" y="1346345"/>
                  <a:pt x="1434427" y="1304235"/>
                  <a:pt x="1345901" y="1273777"/>
                </a:cubicBezTo>
                <a:cubicBezTo>
                  <a:pt x="1308778" y="1261214"/>
                  <a:pt x="1270501" y="1253803"/>
                  <a:pt x="1205760" y="1237636"/>
                </a:cubicBezTo>
                <a:cubicBezTo>
                  <a:pt x="1249120" y="1366966"/>
                  <a:pt x="1280328" y="1476652"/>
                  <a:pt x="1323931" y="1580795"/>
                </a:cubicBezTo>
                <a:cubicBezTo>
                  <a:pt x="1337393" y="1612267"/>
                  <a:pt x="1381735" y="1634364"/>
                  <a:pt x="1415894" y="1652940"/>
                </a:cubicBezTo>
                <a:cubicBezTo>
                  <a:pt x="1650722" y="1780399"/>
                  <a:pt x="1772008" y="1998770"/>
                  <a:pt x="1868785" y="2230994"/>
                </a:cubicBezTo>
                <a:cubicBezTo>
                  <a:pt x="1928501" y="2374048"/>
                  <a:pt x="1915987" y="2529562"/>
                  <a:pt x="1881383" y="2680895"/>
                </a:cubicBezTo>
                <a:cubicBezTo>
                  <a:pt x="1862735" y="2762574"/>
                  <a:pt x="1844373" y="2843776"/>
                  <a:pt x="1824663" y="2932609"/>
                </a:cubicBezTo>
                <a:cubicBezTo>
                  <a:pt x="1821613" y="2933375"/>
                  <a:pt x="1805400" y="2943119"/>
                  <a:pt x="1797788" y="2938546"/>
                </a:cubicBezTo>
                <a:cubicBezTo>
                  <a:pt x="1634249" y="2838982"/>
                  <a:pt x="1469857" y="2737607"/>
                  <a:pt x="1353298" y="2582483"/>
                </a:cubicBezTo>
                <a:cubicBezTo>
                  <a:pt x="1191141" y="2367484"/>
                  <a:pt x="1125057" y="2125122"/>
                  <a:pt x="1218472" y="1862981"/>
                </a:cubicBezTo>
                <a:cubicBezTo>
                  <a:pt x="1298761" y="1637769"/>
                  <a:pt x="1208101" y="1441698"/>
                  <a:pt x="1138217" y="1241221"/>
                </a:cubicBezTo>
                <a:cubicBezTo>
                  <a:pt x="1127232" y="1209938"/>
                  <a:pt x="1071158" y="1194432"/>
                  <a:pt x="1026352" y="1165562"/>
                </a:cubicBezTo>
                <a:cubicBezTo>
                  <a:pt x="1048685" y="1144556"/>
                  <a:pt x="1069109" y="1125651"/>
                  <a:pt x="1099843" y="1096051"/>
                </a:cubicBezTo>
                <a:cubicBezTo>
                  <a:pt x="1081893" y="1023561"/>
                  <a:pt x="1061397" y="939147"/>
                  <a:pt x="1036842" y="836706"/>
                </a:cubicBezTo>
                <a:cubicBezTo>
                  <a:pt x="956672" y="911946"/>
                  <a:pt x="938108" y="998871"/>
                  <a:pt x="897565" y="1073889"/>
                </a:cubicBezTo>
                <a:cubicBezTo>
                  <a:pt x="850902" y="1160169"/>
                  <a:pt x="870278" y="1233517"/>
                  <a:pt x="903736" y="1314676"/>
                </a:cubicBezTo>
                <a:cubicBezTo>
                  <a:pt x="1023734" y="1603073"/>
                  <a:pt x="931382" y="1858059"/>
                  <a:pt x="763530" y="2094311"/>
                </a:cubicBezTo>
                <a:cubicBezTo>
                  <a:pt x="724265" y="2149961"/>
                  <a:pt x="654563" y="2184075"/>
                  <a:pt x="596942" y="2226098"/>
                </a:cubicBezTo>
                <a:cubicBezTo>
                  <a:pt x="538558" y="2268312"/>
                  <a:pt x="495180" y="2240298"/>
                  <a:pt x="462515" y="2190144"/>
                </a:cubicBezTo>
                <a:cubicBezTo>
                  <a:pt x="412948" y="2114244"/>
                  <a:pt x="414458" y="2028763"/>
                  <a:pt x="429112" y="1944036"/>
                </a:cubicBezTo>
                <a:cubicBezTo>
                  <a:pt x="465941" y="1729735"/>
                  <a:pt x="539700" y="1530479"/>
                  <a:pt x="659528" y="1347213"/>
                </a:cubicBezTo>
                <a:cubicBezTo>
                  <a:pt x="726993" y="1243553"/>
                  <a:pt x="781236" y="1130651"/>
                  <a:pt x="840900" y="1021654"/>
                </a:cubicBezTo>
                <a:cubicBezTo>
                  <a:pt x="862413" y="982618"/>
                  <a:pt x="876126" y="938246"/>
                  <a:pt x="903061" y="903117"/>
                </a:cubicBezTo>
                <a:cubicBezTo>
                  <a:pt x="1002203" y="773674"/>
                  <a:pt x="997721" y="637826"/>
                  <a:pt x="956786" y="487220"/>
                </a:cubicBezTo>
                <a:cubicBezTo>
                  <a:pt x="931120" y="392555"/>
                  <a:pt x="910361" y="296455"/>
                  <a:pt x="890938" y="200021"/>
                </a:cubicBezTo>
                <a:close/>
                <a:moveTo>
                  <a:pt x="467701" y="0"/>
                </a:moveTo>
                <a:lnTo>
                  <a:pt x="666015" y="0"/>
                </a:lnTo>
                <a:lnTo>
                  <a:pt x="667134" y="15693"/>
                </a:lnTo>
                <a:cubicBezTo>
                  <a:pt x="741894" y="438642"/>
                  <a:pt x="614073" y="802222"/>
                  <a:pt x="327285" y="1112507"/>
                </a:cubicBezTo>
                <a:cubicBezTo>
                  <a:pt x="268763" y="1175422"/>
                  <a:pt x="131148" y="1299936"/>
                  <a:pt x="99740" y="1287558"/>
                </a:cubicBezTo>
                <a:cubicBezTo>
                  <a:pt x="50645" y="1259359"/>
                  <a:pt x="21075" y="863564"/>
                  <a:pt x="92533" y="671368"/>
                </a:cubicBezTo>
                <a:cubicBezTo>
                  <a:pt x="177375" y="443697"/>
                  <a:pt x="287747" y="229905"/>
                  <a:pt x="434441" y="38393"/>
                </a:cubicBezTo>
                <a:close/>
                <a:moveTo>
                  <a:pt x="21630" y="0"/>
                </a:moveTo>
                <a:lnTo>
                  <a:pt x="91766" y="0"/>
                </a:lnTo>
                <a:lnTo>
                  <a:pt x="0" y="157944"/>
                </a:lnTo>
                <a:lnTo>
                  <a:pt x="0" y="39174"/>
                </a:ln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817C7-4A09-9188-0BD5-838E3AD61F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2843784"/>
          </a:xfrm>
        </p:spPr>
        <p:txBody>
          <a:bodyPr anchor="b" anchorCtr="0"/>
          <a:lstStyle>
            <a:lvl1pPr algn="ctr">
              <a:defRPr sz="4800" cap="none" baseline="0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ACAB76B7-8AE6-9FE8-3022-219618D5810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041114" y="3825875"/>
            <a:ext cx="8109772" cy="2644775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cap="all" baseline="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6148585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able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F179F09D-FCEF-2378-FD6D-390137D19D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" name="Content Placeholder 6">
            <a:extLst>
              <a:ext uri="{FF2B5EF4-FFF2-40B4-BE49-F238E27FC236}">
                <a16:creationId xmlns:a16="http://schemas.microsoft.com/office/drawing/2014/main" id="{43E2AC72-73DB-7038-4867-55751103F51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914400" y="2039112"/>
            <a:ext cx="4576953" cy="3877055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C4B21F26-677B-015C-5D71-238B3798DF5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357747" y="2039112"/>
            <a:ext cx="4576953" cy="3877055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A3F1B258-8FBC-06A8-3A1F-466CEEDBBE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879804"/>
            <a:ext cx="4707470" cy="978196"/>
          </a:xfrm>
          <a:custGeom>
            <a:avLst/>
            <a:gdLst>
              <a:gd name="connsiteX0" fmla="*/ 4059737 w 4707470"/>
              <a:gd name="connsiteY0" fmla="*/ 967990 h 978196"/>
              <a:gd name="connsiteX1" fmla="*/ 4058450 w 4707470"/>
              <a:gd name="connsiteY1" fmla="*/ 978196 h 978196"/>
              <a:gd name="connsiteX2" fmla="*/ 4010063 w 4707470"/>
              <a:gd name="connsiteY2" fmla="*/ 978196 h 978196"/>
              <a:gd name="connsiteX3" fmla="*/ 0 w 4707470"/>
              <a:gd name="connsiteY3" fmla="*/ 488477 h 978196"/>
              <a:gd name="connsiteX4" fmla="*/ 72049 w 4707470"/>
              <a:gd name="connsiteY4" fmla="*/ 656791 h 978196"/>
              <a:gd name="connsiteX5" fmla="*/ 206640 w 4707470"/>
              <a:gd name="connsiteY5" fmla="*/ 886509 h 978196"/>
              <a:gd name="connsiteX6" fmla="*/ 272042 w 4707470"/>
              <a:gd name="connsiteY6" fmla="*/ 978196 h 978196"/>
              <a:gd name="connsiteX7" fmla="*/ 184579 w 4707470"/>
              <a:gd name="connsiteY7" fmla="*/ 978196 h 978196"/>
              <a:gd name="connsiteX8" fmla="*/ 149828 w 4707470"/>
              <a:gd name="connsiteY8" fmla="*/ 932137 h 978196"/>
              <a:gd name="connsiteX9" fmla="*/ 29898 w 4707470"/>
              <a:gd name="connsiteY9" fmla="*/ 726361 h 978196"/>
              <a:gd name="connsiteX10" fmla="*/ 0 w 4707470"/>
              <a:gd name="connsiteY10" fmla="*/ 659079 h 978196"/>
              <a:gd name="connsiteX11" fmla="*/ 2427853 w 4707470"/>
              <a:gd name="connsiteY11" fmla="*/ 69987 h 978196"/>
              <a:gd name="connsiteX12" fmla="*/ 2017693 w 4707470"/>
              <a:gd name="connsiteY12" fmla="*/ 122737 h 978196"/>
              <a:gd name="connsiteX13" fmla="*/ 1217707 w 4707470"/>
              <a:gd name="connsiteY13" fmla="*/ 266029 h 978196"/>
              <a:gd name="connsiteX14" fmla="*/ 848303 w 4707470"/>
              <a:gd name="connsiteY14" fmla="*/ 292389 h 978196"/>
              <a:gd name="connsiteX15" fmla="*/ 2617347 w 4707470"/>
              <a:gd name="connsiteY15" fmla="*/ 268805 h 978196"/>
              <a:gd name="connsiteX16" fmla="*/ 2575151 w 4707470"/>
              <a:gd name="connsiteY16" fmla="*/ 346132 h 978196"/>
              <a:gd name="connsiteX17" fmla="*/ 1592825 w 4707470"/>
              <a:gd name="connsiteY17" fmla="*/ 430392 h 978196"/>
              <a:gd name="connsiteX18" fmla="*/ 927202 w 4707470"/>
              <a:gd name="connsiteY18" fmla="*/ 395014 h 978196"/>
              <a:gd name="connsiteX19" fmla="*/ 848774 w 4707470"/>
              <a:gd name="connsiteY19" fmla="*/ 400725 h 978196"/>
              <a:gd name="connsiteX20" fmla="*/ 953198 w 4707470"/>
              <a:gd name="connsiteY20" fmla="*/ 446968 h 978196"/>
              <a:gd name="connsiteX21" fmla="*/ 1164217 w 4707470"/>
              <a:gd name="connsiteY21" fmla="*/ 487531 h 978196"/>
              <a:gd name="connsiteX22" fmla="*/ 2563251 w 4707470"/>
              <a:gd name="connsiteY22" fmla="*/ 479630 h 978196"/>
              <a:gd name="connsiteX23" fmla="*/ 2969415 w 4707470"/>
              <a:gd name="connsiteY23" fmla="*/ 235206 h 978196"/>
              <a:gd name="connsiteX24" fmla="*/ 3018419 w 4707470"/>
              <a:gd name="connsiteY24" fmla="*/ 177666 h 978196"/>
              <a:gd name="connsiteX25" fmla="*/ 2838754 w 4707470"/>
              <a:gd name="connsiteY25" fmla="*/ 98695 h 978196"/>
              <a:gd name="connsiteX26" fmla="*/ 2427853 w 4707470"/>
              <a:gd name="connsiteY26" fmla="*/ 69987 h 978196"/>
              <a:gd name="connsiteX27" fmla="*/ 2444158 w 4707470"/>
              <a:gd name="connsiteY27" fmla="*/ 387 h 978196"/>
              <a:gd name="connsiteX28" fmla="*/ 2908628 w 4707470"/>
              <a:gd name="connsiteY28" fmla="*/ 45735 h 978196"/>
              <a:gd name="connsiteX29" fmla="*/ 3088619 w 4707470"/>
              <a:gd name="connsiteY29" fmla="*/ 154653 h 978196"/>
              <a:gd name="connsiteX30" fmla="*/ 2980945 w 4707470"/>
              <a:gd name="connsiteY30" fmla="*/ 318333 h 978196"/>
              <a:gd name="connsiteX31" fmla="*/ 2478738 w 4707470"/>
              <a:gd name="connsiteY31" fmla="*/ 580498 h 978196"/>
              <a:gd name="connsiteX32" fmla="*/ 2071312 w 4707470"/>
              <a:gd name="connsiteY32" fmla="*/ 685100 h 978196"/>
              <a:gd name="connsiteX33" fmla="*/ 2336932 w 4707470"/>
              <a:gd name="connsiteY33" fmla="*/ 823834 h 978196"/>
              <a:gd name="connsiteX34" fmla="*/ 2650218 w 4707470"/>
              <a:gd name="connsiteY34" fmla="*/ 880372 h 978196"/>
              <a:gd name="connsiteX35" fmla="*/ 2724828 w 4707470"/>
              <a:gd name="connsiteY35" fmla="*/ 877816 h 978196"/>
              <a:gd name="connsiteX36" fmla="*/ 2937906 w 4707470"/>
              <a:gd name="connsiteY36" fmla="*/ 850216 h 978196"/>
              <a:gd name="connsiteX37" fmla="*/ 3214489 w 4707470"/>
              <a:gd name="connsiteY37" fmla="*/ 865310 h 978196"/>
              <a:gd name="connsiteX38" fmla="*/ 3558811 w 4707470"/>
              <a:gd name="connsiteY38" fmla="*/ 821783 h 978196"/>
              <a:gd name="connsiteX39" fmla="*/ 4423716 w 4707470"/>
              <a:gd name="connsiteY39" fmla="*/ 769182 h 978196"/>
              <a:gd name="connsiteX40" fmla="*/ 4604328 w 4707470"/>
              <a:gd name="connsiteY40" fmla="*/ 806587 h 978196"/>
              <a:gd name="connsiteX41" fmla="*/ 4700071 w 4707470"/>
              <a:gd name="connsiteY41" fmla="*/ 978164 h 978196"/>
              <a:gd name="connsiteX42" fmla="*/ 4700051 w 4707470"/>
              <a:gd name="connsiteY42" fmla="*/ 978196 h 978196"/>
              <a:gd name="connsiteX43" fmla="*/ 4626911 w 4707470"/>
              <a:gd name="connsiteY43" fmla="*/ 978196 h 978196"/>
              <a:gd name="connsiteX44" fmla="*/ 4634858 w 4707470"/>
              <a:gd name="connsiteY44" fmla="*/ 938205 h 978196"/>
              <a:gd name="connsiteX45" fmla="*/ 4565805 w 4707470"/>
              <a:gd name="connsiteY45" fmla="*/ 871619 h 978196"/>
              <a:gd name="connsiteX46" fmla="*/ 4384624 w 4707470"/>
              <a:gd name="connsiteY46" fmla="*/ 835208 h 978196"/>
              <a:gd name="connsiteX47" fmla="*/ 4191174 w 4707470"/>
              <a:gd name="connsiteY47" fmla="*/ 828605 h 978196"/>
              <a:gd name="connsiteX48" fmla="*/ 3615233 w 4707470"/>
              <a:gd name="connsiteY48" fmla="*/ 882733 h 978196"/>
              <a:gd name="connsiteX49" fmla="*/ 3106122 w 4707470"/>
              <a:gd name="connsiteY49" fmla="*/ 957428 h 978196"/>
              <a:gd name="connsiteX50" fmla="*/ 3167669 w 4707470"/>
              <a:gd name="connsiteY50" fmla="*/ 978196 h 978196"/>
              <a:gd name="connsiteX51" fmla="*/ 2761995 w 4707470"/>
              <a:gd name="connsiteY51" fmla="*/ 978196 h 978196"/>
              <a:gd name="connsiteX52" fmla="*/ 2604435 w 4707470"/>
              <a:gd name="connsiteY52" fmla="*/ 961624 h 978196"/>
              <a:gd name="connsiteX53" fmla="*/ 2629619 w 4707470"/>
              <a:gd name="connsiteY53" fmla="*/ 978196 h 978196"/>
              <a:gd name="connsiteX54" fmla="*/ 2442177 w 4707470"/>
              <a:gd name="connsiteY54" fmla="*/ 978196 h 978196"/>
              <a:gd name="connsiteX55" fmla="*/ 2299922 w 4707470"/>
              <a:gd name="connsiteY55" fmla="*/ 896786 h 978196"/>
              <a:gd name="connsiteX56" fmla="*/ 2204982 w 4707470"/>
              <a:gd name="connsiteY56" fmla="*/ 850389 h 978196"/>
              <a:gd name="connsiteX57" fmla="*/ 1506483 w 4707470"/>
              <a:gd name="connsiteY57" fmla="*/ 669446 h 978196"/>
              <a:gd name="connsiteX58" fmla="*/ 1473612 w 4707470"/>
              <a:gd name="connsiteY58" fmla="*/ 681163 h 978196"/>
              <a:gd name="connsiteX59" fmla="*/ 1855475 w 4707470"/>
              <a:gd name="connsiteY59" fmla="*/ 879104 h 978196"/>
              <a:gd name="connsiteX60" fmla="*/ 2046452 w 4707470"/>
              <a:gd name="connsiteY60" fmla="*/ 978196 h 978196"/>
              <a:gd name="connsiteX61" fmla="*/ 1905580 w 4707470"/>
              <a:gd name="connsiteY61" fmla="*/ 978196 h 978196"/>
              <a:gd name="connsiteX62" fmla="*/ 1792576 w 4707470"/>
              <a:gd name="connsiteY62" fmla="*/ 917483 h 978196"/>
              <a:gd name="connsiteX63" fmla="*/ 1431825 w 4707470"/>
              <a:gd name="connsiteY63" fmla="*/ 761296 h 978196"/>
              <a:gd name="connsiteX64" fmla="*/ 1584066 w 4707470"/>
              <a:gd name="connsiteY64" fmla="*/ 912806 h 978196"/>
              <a:gd name="connsiteX65" fmla="*/ 1665294 w 4707470"/>
              <a:gd name="connsiteY65" fmla="*/ 978196 h 978196"/>
              <a:gd name="connsiteX66" fmla="*/ 1530478 w 4707470"/>
              <a:gd name="connsiteY66" fmla="*/ 978196 h 978196"/>
              <a:gd name="connsiteX67" fmla="*/ 1433502 w 4707470"/>
              <a:gd name="connsiteY67" fmla="*/ 903764 h 978196"/>
              <a:gd name="connsiteX68" fmla="*/ 1207351 w 4707470"/>
              <a:gd name="connsiteY68" fmla="*/ 677361 h 978196"/>
              <a:gd name="connsiteX69" fmla="*/ 1085279 w 4707470"/>
              <a:gd name="connsiteY69" fmla="*/ 580996 h 978196"/>
              <a:gd name="connsiteX70" fmla="*/ 460678 w 4707470"/>
              <a:gd name="connsiteY70" fmla="*/ 320100 h 978196"/>
              <a:gd name="connsiteX71" fmla="*/ 370062 w 4707470"/>
              <a:gd name="connsiteY71" fmla="*/ 302529 h 978196"/>
              <a:gd name="connsiteX72" fmla="*/ 692974 w 4707470"/>
              <a:gd name="connsiteY72" fmla="*/ 645063 h 978196"/>
              <a:gd name="connsiteX73" fmla="*/ 899891 w 4707470"/>
              <a:gd name="connsiteY73" fmla="*/ 897040 h 978196"/>
              <a:gd name="connsiteX74" fmla="*/ 958299 w 4707470"/>
              <a:gd name="connsiteY74" fmla="*/ 978196 h 978196"/>
              <a:gd name="connsiteX75" fmla="*/ 856593 w 4707470"/>
              <a:gd name="connsiteY75" fmla="*/ 978196 h 978196"/>
              <a:gd name="connsiteX76" fmla="*/ 745097 w 4707470"/>
              <a:gd name="connsiteY76" fmla="*/ 814331 h 978196"/>
              <a:gd name="connsiteX77" fmla="*/ 291682 w 4707470"/>
              <a:gd name="connsiteY77" fmla="*/ 357455 h 978196"/>
              <a:gd name="connsiteX78" fmla="*/ 192689 w 4707470"/>
              <a:gd name="connsiteY78" fmla="*/ 294672 h 978196"/>
              <a:gd name="connsiteX79" fmla="*/ 556080 w 4707470"/>
              <a:gd name="connsiteY79" fmla="*/ 783560 h 978196"/>
              <a:gd name="connsiteX80" fmla="*/ 645779 w 4707470"/>
              <a:gd name="connsiteY80" fmla="*/ 904799 h 978196"/>
              <a:gd name="connsiteX81" fmla="*/ 703943 w 4707470"/>
              <a:gd name="connsiteY81" fmla="*/ 978196 h 978196"/>
              <a:gd name="connsiteX82" fmla="*/ 621039 w 4707470"/>
              <a:gd name="connsiteY82" fmla="*/ 978196 h 978196"/>
              <a:gd name="connsiteX83" fmla="*/ 430820 w 4707470"/>
              <a:gd name="connsiteY83" fmla="*/ 725635 h 978196"/>
              <a:gd name="connsiteX84" fmla="*/ 116693 w 4707470"/>
              <a:gd name="connsiteY84" fmla="*/ 361863 h 978196"/>
              <a:gd name="connsiteX85" fmla="*/ 50540 w 4707470"/>
              <a:gd name="connsiteY85" fmla="*/ 310444 h 978196"/>
              <a:gd name="connsiteX86" fmla="*/ 0 w 4707470"/>
              <a:gd name="connsiteY86" fmla="*/ 281606 h 978196"/>
              <a:gd name="connsiteX87" fmla="*/ 0 w 4707470"/>
              <a:gd name="connsiteY87" fmla="*/ 27934 h 978196"/>
              <a:gd name="connsiteX88" fmla="*/ 404992 w 4707470"/>
              <a:gd name="connsiteY88" fmla="*/ 222649 h 978196"/>
              <a:gd name="connsiteX89" fmla="*/ 515732 w 4707470"/>
              <a:gd name="connsiteY89" fmla="*/ 243759 h 978196"/>
              <a:gd name="connsiteX90" fmla="*/ 660613 w 4707470"/>
              <a:gd name="connsiteY90" fmla="*/ 222758 h 978196"/>
              <a:gd name="connsiteX91" fmla="*/ 820261 w 4707470"/>
              <a:gd name="connsiteY91" fmla="*/ 226406 h 978196"/>
              <a:gd name="connsiteX92" fmla="*/ 1982193 w 4707470"/>
              <a:gd name="connsiteY92" fmla="*/ 65102 h 978196"/>
              <a:gd name="connsiteX93" fmla="*/ 2444158 w 4707470"/>
              <a:gd name="connsiteY93" fmla="*/ 387 h 9781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</a:cxnLst>
            <a:rect l="l" t="t" r="r" b="b"/>
            <a:pathLst>
              <a:path w="4707470" h="978196">
                <a:moveTo>
                  <a:pt x="4059737" y="967990"/>
                </a:moveTo>
                <a:lnTo>
                  <a:pt x="4058450" y="978196"/>
                </a:lnTo>
                <a:lnTo>
                  <a:pt x="4010063" y="978196"/>
                </a:lnTo>
                <a:close/>
                <a:moveTo>
                  <a:pt x="0" y="488477"/>
                </a:moveTo>
                <a:lnTo>
                  <a:pt x="72049" y="656791"/>
                </a:lnTo>
                <a:cubicBezTo>
                  <a:pt x="112356" y="736092"/>
                  <a:pt x="157416" y="812383"/>
                  <a:pt x="206640" y="886509"/>
                </a:cubicBezTo>
                <a:lnTo>
                  <a:pt x="272042" y="978196"/>
                </a:lnTo>
                <a:lnTo>
                  <a:pt x="184579" y="978196"/>
                </a:lnTo>
                <a:lnTo>
                  <a:pt x="149828" y="932137"/>
                </a:lnTo>
                <a:cubicBezTo>
                  <a:pt x="105705" y="866449"/>
                  <a:pt x="65433" y="798062"/>
                  <a:pt x="29898" y="726361"/>
                </a:cubicBezTo>
                <a:lnTo>
                  <a:pt x="0" y="659079"/>
                </a:lnTo>
                <a:close/>
                <a:moveTo>
                  <a:pt x="2427853" y="69987"/>
                </a:moveTo>
                <a:cubicBezTo>
                  <a:pt x="2291111" y="74991"/>
                  <a:pt x="2154491" y="93572"/>
                  <a:pt x="2017693" y="122737"/>
                </a:cubicBezTo>
                <a:cubicBezTo>
                  <a:pt x="1752602" y="179100"/>
                  <a:pt x="1485359" y="223967"/>
                  <a:pt x="1217707" y="266029"/>
                </a:cubicBezTo>
                <a:cubicBezTo>
                  <a:pt x="1096073" y="285102"/>
                  <a:pt x="971859" y="284040"/>
                  <a:pt x="848303" y="292389"/>
                </a:cubicBezTo>
                <a:cubicBezTo>
                  <a:pt x="1439836" y="418622"/>
                  <a:pt x="2029550" y="374317"/>
                  <a:pt x="2617347" y="268805"/>
                </a:cubicBezTo>
                <a:cubicBezTo>
                  <a:pt x="2641249" y="326771"/>
                  <a:pt x="2615591" y="342307"/>
                  <a:pt x="2575151" y="346132"/>
                </a:cubicBezTo>
                <a:cubicBezTo>
                  <a:pt x="2247929" y="377355"/>
                  <a:pt x="1924500" y="450069"/>
                  <a:pt x="1592825" y="430392"/>
                </a:cubicBezTo>
                <a:cubicBezTo>
                  <a:pt x="1370927" y="417078"/>
                  <a:pt x="1148922" y="406294"/>
                  <a:pt x="927202" y="395014"/>
                </a:cubicBezTo>
                <a:cubicBezTo>
                  <a:pt x="910915" y="394154"/>
                  <a:pt x="894471" y="397096"/>
                  <a:pt x="848774" y="400725"/>
                </a:cubicBezTo>
                <a:cubicBezTo>
                  <a:pt x="901706" y="425523"/>
                  <a:pt x="935512" y="454429"/>
                  <a:pt x="953198" y="446968"/>
                </a:cubicBezTo>
                <a:cubicBezTo>
                  <a:pt x="1036787" y="412276"/>
                  <a:pt x="1094166" y="469201"/>
                  <a:pt x="1164217" y="487531"/>
                </a:cubicBezTo>
                <a:cubicBezTo>
                  <a:pt x="1630611" y="609624"/>
                  <a:pt x="2097381" y="672370"/>
                  <a:pt x="2563251" y="479630"/>
                </a:cubicBezTo>
                <a:cubicBezTo>
                  <a:pt x="2711940" y="417930"/>
                  <a:pt x="2850184" y="341634"/>
                  <a:pt x="2969415" y="235206"/>
                </a:cubicBezTo>
                <a:cubicBezTo>
                  <a:pt x="2988272" y="218657"/>
                  <a:pt x="3002084" y="196846"/>
                  <a:pt x="3018419" y="177666"/>
                </a:cubicBezTo>
                <a:cubicBezTo>
                  <a:pt x="2974427" y="109062"/>
                  <a:pt x="2900669" y="110127"/>
                  <a:pt x="2838754" y="98695"/>
                </a:cubicBezTo>
                <a:cubicBezTo>
                  <a:pt x="2701463" y="73555"/>
                  <a:pt x="2564596" y="64983"/>
                  <a:pt x="2427853" y="69987"/>
                </a:cubicBezTo>
                <a:close/>
                <a:moveTo>
                  <a:pt x="2444158" y="387"/>
                </a:moveTo>
                <a:cubicBezTo>
                  <a:pt x="2598755" y="-2686"/>
                  <a:pt x="2753769" y="12585"/>
                  <a:pt x="2908628" y="45735"/>
                </a:cubicBezTo>
                <a:cubicBezTo>
                  <a:pt x="2979068" y="61036"/>
                  <a:pt x="3068206" y="63586"/>
                  <a:pt x="3088619" y="154653"/>
                </a:cubicBezTo>
                <a:cubicBezTo>
                  <a:pt x="3107235" y="238296"/>
                  <a:pt x="3033824" y="275143"/>
                  <a:pt x="2980945" y="318333"/>
                </a:cubicBezTo>
                <a:cubicBezTo>
                  <a:pt x="2832679" y="439156"/>
                  <a:pt x="2663731" y="525726"/>
                  <a:pt x="2478738" y="580498"/>
                </a:cubicBezTo>
                <a:cubicBezTo>
                  <a:pt x="2349171" y="619318"/>
                  <a:pt x="2216315" y="648629"/>
                  <a:pt x="2071312" y="685100"/>
                </a:cubicBezTo>
                <a:cubicBezTo>
                  <a:pt x="2167354" y="736612"/>
                  <a:pt x="2247592" y="794640"/>
                  <a:pt x="2336932" y="823834"/>
                </a:cubicBezTo>
                <a:cubicBezTo>
                  <a:pt x="2436398" y="856448"/>
                  <a:pt x="2545092" y="863529"/>
                  <a:pt x="2650218" y="880372"/>
                </a:cubicBezTo>
                <a:cubicBezTo>
                  <a:pt x="2674799" y="884329"/>
                  <a:pt x="2712701" y="890811"/>
                  <a:pt x="2724828" y="877816"/>
                </a:cubicBezTo>
                <a:cubicBezTo>
                  <a:pt x="2790257" y="811500"/>
                  <a:pt x="2864697" y="844453"/>
                  <a:pt x="2937906" y="850216"/>
                </a:cubicBezTo>
                <a:cubicBezTo>
                  <a:pt x="3030260" y="857706"/>
                  <a:pt x="3122919" y="870533"/>
                  <a:pt x="3214489" y="865310"/>
                </a:cubicBezTo>
                <a:cubicBezTo>
                  <a:pt x="3330052" y="859201"/>
                  <a:pt x="3444369" y="838841"/>
                  <a:pt x="3558811" y="821783"/>
                </a:cubicBezTo>
                <a:cubicBezTo>
                  <a:pt x="3845661" y="780181"/>
                  <a:pt x="4132816" y="743918"/>
                  <a:pt x="4423716" y="769182"/>
                </a:cubicBezTo>
                <a:cubicBezTo>
                  <a:pt x="4485096" y="774506"/>
                  <a:pt x="4549229" y="783231"/>
                  <a:pt x="4604328" y="806587"/>
                </a:cubicBezTo>
                <a:cubicBezTo>
                  <a:pt x="4690279" y="842884"/>
                  <a:pt x="4723749" y="908909"/>
                  <a:pt x="4700071" y="978164"/>
                </a:cubicBezTo>
                <a:lnTo>
                  <a:pt x="4700051" y="978196"/>
                </a:lnTo>
                <a:lnTo>
                  <a:pt x="4626911" y="978196"/>
                </a:lnTo>
                <a:lnTo>
                  <a:pt x="4634858" y="938205"/>
                </a:lnTo>
                <a:cubicBezTo>
                  <a:pt x="4630586" y="912076"/>
                  <a:pt x="4607226" y="888378"/>
                  <a:pt x="4565805" y="871619"/>
                </a:cubicBezTo>
                <a:cubicBezTo>
                  <a:pt x="4510139" y="849256"/>
                  <a:pt x="4446290" y="840035"/>
                  <a:pt x="4384624" y="835208"/>
                </a:cubicBezTo>
                <a:cubicBezTo>
                  <a:pt x="4319945" y="830079"/>
                  <a:pt x="4255480" y="828097"/>
                  <a:pt x="4191174" y="828605"/>
                </a:cubicBezTo>
                <a:cubicBezTo>
                  <a:pt x="3998255" y="830132"/>
                  <a:pt x="3806768" y="854079"/>
                  <a:pt x="3615233" y="882733"/>
                </a:cubicBezTo>
                <a:cubicBezTo>
                  <a:pt x="3445683" y="908144"/>
                  <a:pt x="3275903" y="932786"/>
                  <a:pt x="3106122" y="957428"/>
                </a:cubicBezTo>
                <a:lnTo>
                  <a:pt x="3167669" y="978196"/>
                </a:lnTo>
                <a:lnTo>
                  <a:pt x="2761995" y="978196"/>
                </a:lnTo>
                <a:lnTo>
                  <a:pt x="2604435" y="961624"/>
                </a:lnTo>
                <a:lnTo>
                  <a:pt x="2629619" y="978196"/>
                </a:lnTo>
                <a:lnTo>
                  <a:pt x="2442177" y="978196"/>
                </a:lnTo>
                <a:lnTo>
                  <a:pt x="2299922" y="896786"/>
                </a:lnTo>
                <a:cubicBezTo>
                  <a:pt x="2269582" y="879425"/>
                  <a:pt x="2233101" y="870458"/>
                  <a:pt x="2204982" y="850389"/>
                </a:cubicBezTo>
                <a:cubicBezTo>
                  <a:pt x="1996636" y="701859"/>
                  <a:pt x="1747975" y="698964"/>
                  <a:pt x="1506483" y="669446"/>
                </a:cubicBezTo>
                <a:cubicBezTo>
                  <a:pt x="1499680" y="668433"/>
                  <a:pt x="1491530" y="674471"/>
                  <a:pt x="1473612" y="681163"/>
                </a:cubicBezTo>
                <a:cubicBezTo>
                  <a:pt x="1584414" y="738551"/>
                  <a:pt x="1717391" y="807480"/>
                  <a:pt x="1855475" y="879104"/>
                </a:cubicBezTo>
                <a:lnTo>
                  <a:pt x="2046452" y="978196"/>
                </a:lnTo>
                <a:lnTo>
                  <a:pt x="1905580" y="978196"/>
                </a:lnTo>
                <a:lnTo>
                  <a:pt x="1792576" y="917483"/>
                </a:lnTo>
                <a:cubicBezTo>
                  <a:pt x="1679817" y="860435"/>
                  <a:pt x="1561557" y="806703"/>
                  <a:pt x="1431825" y="761296"/>
                </a:cubicBezTo>
                <a:cubicBezTo>
                  <a:pt x="1481070" y="816016"/>
                  <a:pt x="1531868" y="866260"/>
                  <a:pt x="1584066" y="912806"/>
                </a:cubicBezTo>
                <a:lnTo>
                  <a:pt x="1665294" y="978196"/>
                </a:lnTo>
                <a:lnTo>
                  <a:pt x="1530478" y="978196"/>
                </a:lnTo>
                <a:lnTo>
                  <a:pt x="1433502" y="903764"/>
                </a:lnTo>
                <a:cubicBezTo>
                  <a:pt x="1350827" y="836355"/>
                  <a:pt x="1273396" y="763147"/>
                  <a:pt x="1207351" y="677361"/>
                </a:cubicBezTo>
                <a:cubicBezTo>
                  <a:pt x="1176883" y="637924"/>
                  <a:pt x="1132082" y="601252"/>
                  <a:pt x="1085279" y="580996"/>
                </a:cubicBezTo>
                <a:cubicBezTo>
                  <a:pt x="878724" y="490371"/>
                  <a:pt x="669558" y="405484"/>
                  <a:pt x="460678" y="320100"/>
                </a:cubicBezTo>
                <a:cubicBezTo>
                  <a:pt x="434018" y="309216"/>
                  <a:pt x="402475" y="308044"/>
                  <a:pt x="370062" y="302529"/>
                </a:cubicBezTo>
                <a:cubicBezTo>
                  <a:pt x="481234" y="420306"/>
                  <a:pt x="590097" y="530386"/>
                  <a:pt x="692974" y="645063"/>
                </a:cubicBezTo>
                <a:cubicBezTo>
                  <a:pt x="765403" y="726140"/>
                  <a:pt x="828829" y="814746"/>
                  <a:pt x="899891" y="897040"/>
                </a:cubicBezTo>
                <a:lnTo>
                  <a:pt x="958299" y="978196"/>
                </a:lnTo>
                <a:lnTo>
                  <a:pt x="856593" y="978196"/>
                </a:lnTo>
                <a:lnTo>
                  <a:pt x="745097" y="814331"/>
                </a:lnTo>
                <a:cubicBezTo>
                  <a:pt x="613951" y="647709"/>
                  <a:pt x="460119" y="497146"/>
                  <a:pt x="291682" y="357455"/>
                </a:cubicBezTo>
                <a:cubicBezTo>
                  <a:pt x="262176" y="332767"/>
                  <a:pt x="225781" y="315434"/>
                  <a:pt x="192689" y="294672"/>
                </a:cubicBezTo>
                <a:cubicBezTo>
                  <a:pt x="315383" y="458030"/>
                  <a:pt x="444112" y="615525"/>
                  <a:pt x="556080" y="783560"/>
                </a:cubicBezTo>
                <a:cubicBezTo>
                  <a:pt x="583885" y="825308"/>
                  <a:pt x="614448" y="865239"/>
                  <a:pt x="645779" y="904799"/>
                </a:cubicBezTo>
                <a:lnTo>
                  <a:pt x="703943" y="978196"/>
                </a:lnTo>
                <a:lnTo>
                  <a:pt x="621039" y="978196"/>
                </a:lnTo>
                <a:lnTo>
                  <a:pt x="430820" y="725635"/>
                </a:lnTo>
                <a:cubicBezTo>
                  <a:pt x="332361" y="599705"/>
                  <a:pt x="227971" y="477107"/>
                  <a:pt x="116693" y="361863"/>
                </a:cubicBezTo>
                <a:cubicBezTo>
                  <a:pt x="97667" y="342321"/>
                  <a:pt x="75253" y="325899"/>
                  <a:pt x="50540" y="310444"/>
                </a:cubicBezTo>
                <a:lnTo>
                  <a:pt x="0" y="281606"/>
                </a:lnTo>
                <a:lnTo>
                  <a:pt x="0" y="27934"/>
                </a:lnTo>
                <a:lnTo>
                  <a:pt x="404992" y="222649"/>
                </a:lnTo>
                <a:cubicBezTo>
                  <a:pt x="439327" y="238892"/>
                  <a:pt x="505719" y="256578"/>
                  <a:pt x="515732" y="243759"/>
                </a:cubicBezTo>
                <a:cubicBezTo>
                  <a:pt x="561414" y="183812"/>
                  <a:pt x="612911" y="224031"/>
                  <a:pt x="660613" y="222758"/>
                </a:cubicBezTo>
                <a:cubicBezTo>
                  <a:pt x="713858" y="221185"/>
                  <a:pt x="767194" y="230016"/>
                  <a:pt x="820261" y="226406"/>
                </a:cubicBezTo>
                <a:cubicBezTo>
                  <a:pt x="1211492" y="200602"/>
                  <a:pt x="1601548" y="165118"/>
                  <a:pt x="1982193" y="65102"/>
                </a:cubicBezTo>
                <a:cubicBezTo>
                  <a:pt x="2135382" y="24877"/>
                  <a:pt x="2289561" y="3461"/>
                  <a:pt x="2444158" y="387"/>
                </a:cubicBezTo>
                <a:close/>
              </a:path>
            </a:pathLst>
          </a:custGeom>
          <a:solidFill>
            <a:schemeClr val="tx1">
              <a:alpha val="5303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8BAD4AF0-64CE-5C0E-5440-00F8FC6B31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9012497" y="1"/>
            <a:ext cx="3179502" cy="2726160"/>
          </a:xfrm>
          <a:custGeom>
            <a:avLst/>
            <a:gdLst>
              <a:gd name="connsiteX0" fmla="*/ 3179502 w 3179502"/>
              <a:gd name="connsiteY0" fmla="*/ 2726160 h 2726160"/>
              <a:gd name="connsiteX1" fmla="*/ 0 w 3179502"/>
              <a:gd name="connsiteY1" fmla="*/ 2726160 h 2726160"/>
              <a:gd name="connsiteX2" fmla="*/ 0 w 3179502"/>
              <a:gd name="connsiteY2" fmla="*/ 0 h 2726160"/>
              <a:gd name="connsiteX3" fmla="*/ 129375 w 3179502"/>
              <a:gd name="connsiteY3" fmla="*/ 158091 h 2726160"/>
              <a:gd name="connsiteX4" fmla="*/ 274052 w 3179502"/>
              <a:gd name="connsiteY4" fmla="*/ 461243 h 2726160"/>
              <a:gd name="connsiteX5" fmla="*/ 676050 w 3179502"/>
              <a:gd name="connsiteY5" fmla="*/ 1070337 h 2726160"/>
              <a:gd name="connsiteX6" fmla="*/ 1232482 w 3179502"/>
              <a:gd name="connsiteY6" fmla="*/ 1409578 h 2726160"/>
              <a:gd name="connsiteX7" fmla="*/ 1759030 w 3179502"/>
              <a:gd name="connsiteY7" fmla="*/ 1583520 h 2726160"/>
              <a:gd name="connsiteX8" fmla="*/ 3147865 w 3179502"/>
              <a:gd name="connsiteY8" fmla="*/ 2609783 h 2726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179502" h="2726160">
                <a:moveTo>
                  <a:pt x="3179502" y="2726160"/>
                </a:moveTo>
                <a:lnTo>
                  <a:pt x="0" y="2726160"/>
                </a:lnTo>
                <a:lnTo>
                  <a:pt x="0" y="0"/>
                </a:lnTo>
                <a:lnTo>
                  <a:pt x="129375" y="158091"/>
                </a:lnTo>
                <a:cubicBezTo>
                  <a:pt x="193985" y="253821"/>
                  <a:pt x="231912" y="358034"/>
                  <a:pt x="274052" y="461243"/>
                </a:cubicBezTo>
                <a:cubicBezTo>
                  <a:pt x="365069" y="684357"/>
                  <a:pt x="488042" y="892708"/>
                  <a:pt x="676050" y="1070337"/>
                </a:cubicBezTo>
                <a:cubicBezTo>
                  <a:pt x="834276" y="1219941"/>
                  <a:pt x="1024083" y="1327091"/>
                  <a:pt x="1232482" y="1409578"/>
                </a:cubicBezTo>
                <a:cubicBezTo>
                  <a:pt x="1465209" y="1501688"/>
                  <a:pt x="1609854" y="1540036"/>
                  <a:pt x="1759030" y="1583520"/>
                </a:cubicBezTo>
                <a:cubicBezTo>
                  <a:pt x="1924825" y="1631826"/>
                  <a:pt x="2908440" y="1918621"/>
                  <a:pt x="3147865" y="2609783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3D91060-B9BF-0FA6-BD7C-AF8E38E919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417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65B6EDB-39F8-5310-9A49-877AD974A3EA}"/>
              </a:ext>
            </a:extLst>
          </p:cNvPr>
          <p:cNvSpPr/>
          <p:nvPr userDrawn="1"/>
        </p:nvSpPr>
        <p:spPr>
          <a:xfrm>
            <a:off x="1" y="78284"/>
            <a:ext cx="12192000" cy="9785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849" dirty="0"/>
          </a:p>
        </p:txBody>
      </p:sp>
      <p:sp>
        <p:nvSpPr>
          <p:cNvPr id="3" name="Slide Number Placeholder 1">
            <a:extLst>
              <a:ext uri="{FF2B5EF4-FFF2-40B4-BE49-F238E27FC236}">
                <a16:creationId xmlns:a16="http://schemas.microsoft.com/office/drawing/2014/main" id="{B0E501C8-D0F0-0C9C-6C92-77036F8BD512}"/>
              </a:ext>
            </a:extLst>
          </p:cNvPr>
          <p:cNvSpPr txBox="1">
            <a:spLocks noChangeArrowheads="1"/>
          </p:cNvSpPr>
          <p:nvPr userDrawn="1"/>
        </p:nvSpPr>
        <p:spPr bwMode="auto">
          <a:xfrm flipH="1">
            <a:off x="267763" y="6414391"/>
            <a:ext cx="429984" cy="2087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fld id="{CD469CF1-03F1-40B4-B36E-43267DF940DE}" type="slidenum">
              <a:rPr lang="en-US" altLang="en-US" sz="925" b="0">
                <a:solidFill>
                  <a:schemeClr val="tx1"/>
                </a:solidFill>
              </a:rPr>
              <a:pPr eaLnBrk="1" hangingPunct="1"/>
              <a:t>‹#›</a:t>
            </a:fld>
            <a:r>
              <a:rPr lang="en-US" altLang="en-US" sz="925">
                <a:solidFill>
                  <a:schemeClr val="tx1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7213195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06E92FF-88B5-E89E-7E15-2E5BCD76236C}"/>
              </a:ext>
            </a:extLst>
          </p:cNvPr>
          <p:cNvSpPr/>
          <p:nvPr userDrawn="1"/>
        </p:nvSpPr>
        <p:spPr>
          <a:xfrm>
            <a:off x="1" y="78284"/>
            <a:ext cx="12192000" cy="9785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849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3B566AB-4F3E-639F-2D7C-4B6428165706}"/>
              </a:ext>
            </a:extLst>
          </p:cNvPr>
          <p:cNvCxnSpPr/>
          <p:nvPr userDrawn="1"/>
        </p:nvCxnSpPr>
        <p:spPr>
          <a:xfrm rot="5400000" flipH="1" flipV="1">
            <a:off x="10381296" y="673569"/>
            <a:ext cx="799149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Slide Number Placeholder 1">
            <a:extLst>
              <a:ext uri="{FF2B5EF4-FFF2-40B4-BE49-F238E27FC236}">
                <a16:creationId xmlns:a16="http://schemas.microsoft.com/office/drawing/2014/main" id="{6A1330CB-1062-3CA3-EA47-592FC360EB53}"/>
              </a:ext>
            </a:extLst>
          </p:cNvPr>
          <p:cNvSpPr txBox="1">
            <a:spLocks noChangeArrowheads="1"/>
          </p:cNvSpPr>
          <p:nvPr userDrawn="1"/>
        </p:nvSpPr>
        <p:spPr bwMode="auto">
          <a:xfrm flipH="1">
            <a:off x="267763" y="6414391"/>
            <a:ext cx="429984" cy="2087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fld id="{45E98E1E-A25A-4608-AAB8-822AE6915117}" type="slidenum">
              <a:rPr lang="en-US" altLang="en-US" sz="925" b="0">
                <a:solidFill>
                  <a:schemeClr val="tx1"/>
                </a:solidFill>
              </a:rPr>
              <a:pPr eaLnBrk="1" hangingPunct="1"/>
              <a:t>‹#›</a:t>
            </a:fld>
            <a:r>
              <a:rPr lang="en-US" altLang="en-US" sz="925">
                <a:solidFill>
                  <a:schemeClr val="tx1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14169617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1927B47F-1EE2-7209-2627-A7DDD258A1A0}"/>
              </a:ext>
            </a:extLst>
          </p:cNvPr>
          <p:cNvCxnSpPr/>
          <p:nvPr userDrawn="1"/>
        </p:nvCxnSpPr>
        <p:spPr>
          <a:xfrm>
            <a:off x="109451" y="4080550"/>
            <a:ext cx="11971145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1">
            <a:extLst>
              <a:ext uri="{FF2B5EF4-FFF2-40B4-BE49-F238E27FC236}">
                <a16:creationId xmlns:a16="http://schemas.microsoft.com/office/drawing/2014/main" id="{552E5F9B-6FB6-F3FE-427E-0352E871228D}"/>
              </a:ext>
            </a:extLst>
          </p:cNvPr>
          <p:cNvSpPr txBox="1">
            <a:spLocks noChangeArrowheads="1"/>
          </p:cNvSpPr>
          <p:nvPr userDrawn="1"/>
        </p:nvSpPr>
        <p:spPr bwMode="auto">
          <a:xfrm flipH="1">
            <a:off x="-48862" y="6629672"/>
            <a:ext cx="5771558" cy="2071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fld id="{64002C62-ECE4-4829-986E-B8628ED7A1BE}" type="slidenum">
              <a:rPr lang="en-US" altLang="en-US" sz="925">
                <a:solidFill>
                  <a:srgbClr val="396499"/>
                </a:solidFill>
              </a:rPr>
              <a:pPr eaLnBrk="1" hangingPunct="1"/>
              <a:t>‹#›</a:t>
            </a:fld>
            <a:r>
              <a:rPr lang="en-US" altLang="en-US" sz="925">
                <a:solidFill>
                  <a:srgbClr val="396499"/>
                </a:solidFill>
              </a:rPr>
              <a:t> </a:t>
            </a:r>
            <a:r>
              <a:rPr lang="en-US" altLang="en-US" sz="925">
                <a:solidFill>
                  <a:srgbClr val="7F7F7F"/>
                </a:solidFill>
              </a:rPr>
              <a:t>| Franchise Opportunity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AB2226E-C946-A6A0-D5F5-0126CD14B972}"/>
              </a:ext>
            </a:extLst>
          </p:cNvPr>
          <p:cNvSpPr/>
          <p:nvPr userDrawn="1"/>
        </p:nvSpPr>
        <p:spPr>
          <a:xfrm>
            <a:off x="1" y="78284"/>
            <a:ext cx="12192000" cy="9785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849" dirty="0"/>
          </a:p>
        </p:txBody>
      </p:sp>
      <p:sp>
        <p:nvSpPr>
          <p:cNvPr id="6" name="TextBox 13">
            <a:extLst>
              <a:ext uri="{FF2B5EF4-FFF2-40B4-BE49-F238E27FC236}">
                <a16:creationId xmlns:a16="http://schemas.microsoft.com/office/drawing/2014/main" id="{41614B53-9988-3E94-4B82-1A7948BFA618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88941" y="3759261"/>
            <a:ext cx="6060819" cy="500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/>
            <a:endParaRPr lang="en-US" altLang="en-US" sz="2568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D043AFC-B315-7504-C4EB-E16F5E701634}"/>
              </a:ext>
            </a:extLst>
          </p:cNvPr>
          <p:cNvCxnSpPr/>
          <p:nvPr userDrawn="1"/>
        </p:nvCxnSpPr>
        <p:spPr>
          <a:xfrm rot="5400000" flipH="1" flipV="1">
            <a:off x="10293346" y="766531"/>
            <a:ext cx="799149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15">
            <a:extLst>
              <a:ext uri="{FF2B5EF4-FFF2-40B4-BE49-F238E27FC236}">
                <a16:creationId xmlns:a16="http://schemas.microsoft.com/office/drawing/2014/main" id="{43FCA2CC-81AA-BDE1-AF37-2E3D5D165B0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" b="-47839"/>
          <a:stretch>
            <a:fillRect/>
          </a:stretch>
        </p:blipFill>
        <p:spPr bwMode="auto">
          <a:xfrm>
            <a:off x="10911821" y="507216"/>
            <a:ext cx="1053460" cy="5577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Content Placeholder 4"/>
          <p:cNvSpPr>
            <a:spLocks noGrp="1"/>
          </p:cNvSpPr>
          <p:nvPr>
            <p:ph sz="quarter" idx="10"/>
          </p:nvPr>
        </p:nvSpPr>
        <p:spPr>
          <a:xfrm>
            <a:off x="820661" y="3578535"/>
            <a:ext cx="10270318" cy="428502"/>
          </a:xfrm>
        </p:spPr>
        <p:txBody>
          <a:bodyPr>
            <a:normAutofit/>
          </a:bodyPr>
          <a:lstStyle>
            <a:lvl1pPr marL="0" indent="0">
              <a:buNone/>
              <a:defRPr sz="2466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6477456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9DB959D-3E18-FB7C-D751-2B2CEF061344}"/>
              </a:ext>
            </a:extLst>
          </p:cNvPr>
          <p:cNvSpPr txBox="1">
            <a:spLocks noChangeArrowheads="1"/>
          </p:cNvSpPr>
          <p:nvPr userDrawn="1"/>
        </p:nvSpPr>
        <p:spPr bwMode="auto">
          <a:xfrm flipH="1">
            <a:off x="267763" y="6414391"/>
            <a:ext cx="429984" cy="2087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fld id="{E786C6F7-511C-49D1-A22F-A3BE77B728D6}" type="slidenum">
              <a:rPr lang="en-US" altLang="en-US" sz="925" b="0">
                <a:solidFill>
                  <a:schemeClr val="tx1"/>
                </a:solidFill>
              </a:rPr>
              <a:pPr eaLnBrk="1" hangingPunct="1"/>
              <a:t>‹#›</a:t>
            </a:fld>
            <a:r>
              <a:rPr lang="en-US" altLang="en-US" sz="925">
                <a:solidFill>
                  <a:schemeClr val="tx1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42366511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5A3E78A-2798-8741-070B-74134B80831F}"/>
              </a:ext>
            </a:extLst>
          </p:cNvPr>
          <p:cNvSpPr/>
          <p:nvPr userDrawn="1"/>
        </p:nvSpPr>
        <p:spPr>
          <a:xfrm>
            <a:off x="1" y="78284"/>
            <a:ext cx="12192000" cy="9785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849" dirty="0"/>
          </a:p>
        </p:txBody>
      </p:sp>
      <p:sp>
        <p:nvSpPr>
          <p:cNvPr id="3" name="Slide Number Placeholder 1">
            <a:extLst>
              <a:ext uri="{FF2B5EF4-FFF2-40B4-BE49-F238E27FC236}">
                <a16:creationId xmlns:a16="http://schemas.microsoft.com/office/drawing/2014/main" id="{3A27423E-33CA-1125-ACA5-AB6B519CB01F}"/>
              </a:ext>
            </a:extLst>
          </p:cNvPr>
          <p:cNvSpPr txBox="1">
            <a:spLocks noChangeArrowheads="1"/>
          </p:cNvSpPr>
          <p:nvPr userDrawn="1"/>
        </p:nvSpPr>
        <p:spPr bwMode="auto">
          <a:xfrm flipH="1">
            <a:off x="267763" y="6414391"/>
            <a:ext cx="429984" cy="2087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fld id="{5EDF370A-D369-4089-96D1-C493DA926E1E}" type="slidenum">
              <a:rPr lang="en-US" altLang="en-US" sz="925" b="0">
                <a:solidFill>
                  <a:schemeClr val="tx1"/>
                </a:solidFill>
              </a:rPr>
              <a:pPr eaLnBrk="1" hangingPunct="1"/>
              <a:t>‹#›</a:t>
            </a:fld>
            <a:r>
              <a:rPr lang="en-US" altLang="en-US" sz="925">
                <a:solidFill>
                  <a:schemeClr val="tx1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90643430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41A2ED8-CD33-22CB-3C50-4E047C3F4B03}"/>
              </a:ext>
            </a:extLst>
          </p:cNvPr>
          <p:cNvSpPr/>
          <p:nvPr userDrawn="1"/>
        </p:nvSpPr>
        <p:spPr>
          <a:xfrm>
            <a:off x="1" y="78284"/>
            <a:ext cx="12192000" cy="9785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849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73A6C69-783D-E32A-8AD9-A2B2F31E90D8}"/>
              </a:ext>
            </a:extLst>
          </p:cNvPr>
          <p:cNvCxnSpPr/>
          <p:nvPr userDrawn="1"/>
        </p:nvCxnSpPr>
        <p:spPr>
          <a:xfrm rot="5400000" flipH="1" flipV="1">
            <a:off x="10381296" y="673569"/>
            <a:ext cx="799149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Slide Number Placeholder 1">
            <a:extLst>
              <a:ext uri="{FF2B5EF4-FFF2-40B4-BE49-F238E27FC236}">
                <a16:creationId xmlns:a16="http://schemas.microsoft.com/office/drawing/2014/main" id="{9695C052-9CFC-8E96-F7D8-BDA7C466DC90}"/>
              </a:ext>
            </a:extLst>
          </p:cNvPr>
          <p:cNvSpPr txBox="1">
            <a:spLocks noChangeArrowheads="1"/>
          </p:cNvSpPr>
          <p:nvPr userDrawn="1"/>
        </p:nvSpPr>
        <p:spPr bwMode="auto">
          <a:xfrm flipH="1">
            <a:off x="267763" y="6414391"/>
            <a:ext cx="429984" cy="2087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fld id="{1D0C5085-6FB5-496D-8391-8E66DA1BB493}" type="slidenum">
              <a:rPr lang="en-US" altLang="en-US" sz="925" b="0">
                <a:solidFill>
                  <a:schemeClr val="tx1"/>
                </a:solidFill>
              </a:rPr>
              <a:pPr eaLnBrk="1" hangingPunct="1"/>
              <a:t>‹#›</a:t>
            </a:fld>
            <a:r>
              <a:rPr lang="en-US" altLang="en-US" sz="925">
                <a:solidFill>
                  <a:schemeClr val="tx1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85690075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9AD78C4B-92D5-7311-2979-DEDBC48F5B0D}"/>
              </a:ext>
            </a:extLst>
          </p:cNvPr>
          <p:cNvCxnSpPr/>
          <p:nvPr userDrawn="1"/>
        </p:nvCxnSpPr>
        <p:spPr>
          <a:xfrm>
            <a:off x="109451" y="4080550"/>
            <a:ext cx="11971145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1">
            <a:extLst>
              <a:ext uri="{FF2B5EF4-FFF2-40B4-BE49-F238E27FC236}">
                <a16:creationId xmlns:a16="http://schemas.microsoft.com/office/drawing/2014/main" id="{6DED5160-6B61-2FEC-1B4A-14312847F737}"/>
              </a:ext>
            </a:extLst>
          </p:cNvPr>
          <p:cNvSpPr txBox="1">
            <a:spLocks noChangeArrowheads="1"/>
          </p:cNvSpPr>
          <p:nvPr userDrawn="1"/>
        </p:nvSpPr>
        <p:spPr bwMode="auto">
          <a:xfrm flipH="1">
            <a:off x="-48862" y="6629672"/>
            <a:ext cx="5771558" cy="2071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fld id="{D0CE66EB-0EED-4A08-87CD-195D2DABC4C3}" type="slidenum">
              <a:rPr lang="en-US" altLang="en-US" sz="925">
                <a:solidFill>
                  <a:srgbClr val="396499"/>
                </a:solidFill>
              </a:rPr>
              <a:pPr eaLnBrk="1" hangingPunct="1"/>
              <a:t>‹#›</a:t>
            </a:fld>
            <a:r>
              <a:rPr lang="en-US" altLang="en-US" sz="925">
                <a:solidFill>
                  <a:srgbClr val="396499"/>
                </a:solidFill>
              </a:rPr>
              <a:t> </a:t>
            </a:r>
            <a:r>
              <a:rPr lang="en-US" altLang="en-US" sz="925">
                <a:solidFill>
                  <a:srgbClr val="7F7F7F"/>
                </a:solidFill>
              </a:rPr>
              <a:t>| Franchise Opportunity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7C1B101-A8BE-6415-21CF-F3C28786306F}"/>
              </a:ext>
            </a:extLst>
          </p:cNvPr>
          <p:cNvSpPr/>
          <p:nvPr userDrawn="1"/>
        </p:nvSpPr>
        <p:spPr>
          <a:xfrm>
            <a:off x="1" y="78284"/>
            <a:ext cx="12192000" cy="9785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849" dirty="0"/>
          </a:p>
        </p:txBody>
      </p:sp>
      <p:sp>
        <p:nvSpPr>
          <p:cNvPr id="6" name="TextBox 13">
            <a:extLst>
              <a:ext uri="{FF2B5EF4-FFF2-40B4-BE49-F238E27FC236}">
                <a16:creationId xmlns:a16="http://schemas.microsoft.com/office/drawing/2014/main" id="{6A657139-35D6-3326-8B25-5CF4307B9CA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88941" y="3759261"/>
            <a:ext cx="6060819" cy="500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/>
            <a:endParaRPr lang="en-US" altLang="en-US" sz="2568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FA5D8D9-BC71-2F38-C3B6-2C60D926394B}"/>
              </a:ext>
            </a:extLst>
          </p:cNvPr>
          <p:cNvCxnSpPr/>
          <p:nvPr userDrawn="1"/>
        </p:nvCxnSpPr>
        <p:spPr>
          <a:xfrm rot="5400000" flipH="1" flipV="1">
            <a:off x="10293346" y="766531"/>
            <a:ext cx="799149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15">
            <a:extLst>
              <a:ext uri="{FF2B5EF4-FFF2-40B4-BE49-F238E27FC236}">
                <a16:creationId xmlns:a16="http://schemas.microsoft.com/office/drawing/2014/main" id="{1045DF0D-3C2C-E8C1-628F-9FA903257D1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" b="-47839"/>
          <a:stretch>
            <a:fillRect/>
          </a:stretch>
        </p:blipFill>
        <p:spPr bwMode="auto">
          <a:xfrm>
            <a:off x="10911821" y="507216"/>
            <a:ext cx="1053460" cy="5577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Content Placeholder 4"/>
          <p:cNvSpPr>
            <a:spLocks noGrp="1"/>
          </p:cNvSpPr>
          <p:nvPr>
            <p:ph sz="quarter" idx="10"/>
          </p:nvPr>
        </p:nvSpPr>
        <p:spPr>
          <a:xfrm>
            <a:off x="820661" y="3578535"/>
            <a:ext cx="10270318" cy="428502"/>
          </a:xfrm>
        </p:spPr>
        <p:txBody>
          <a:bodyPr>
            <a:normAutofit/>
          </a:bodyPr>
          <a:lstStyle>
            <a:lvl1pPr marL="0" indent="0">
              <a:buNone/>
              <a:defRPr sz="2466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9732568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E175DF3-E72C-C800-7C6A-2B143F74F5B2}"/>
              </a:ext>
            </a:extLst>
          </p:cNvPr>
          <p:cNvSpPr txBox="1">
            <a:spLocks noChangeArrowheads="1"/>
          </p:cNvSpPr>
          <p:nvPr userDrawn="1"/>
        </p:nvSpPr>
        <p:spPr bwMode="auto">
          <a:xfrm flipH="1">
            <a:off x="267763" y="6414391"/>
            <a:ext cx="429984" cy="2087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fld id="{B191FFA1-3ECE-4DCD-8DB6-FC217FB0409F}" type="slidenum">
              <a:rPr lang="en-US" altLang="en-US" sz="925" b="0">
                <a:solidFill>
                  <a:schemeClr val="tx1"/>
                </a:solidFill>
              </a:rPr>
              <a:pPr eaLnBrk="1" hangingPunct="1"/>
              <a:t>‹#›</a:t>
            </a:fld>
            <a:r>
              <a:rPr lang="en-US" altLang="en-US" sz="925">
                <a:solidFill>
                  <a:schemeClr val="tx1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05091068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621C69F-8D01-C4E9-87BE-2168FBFFF252}"/>
              </a:ext>
            </a:extLst>
          </p:cNvPr>
          <p:cNvSpPr/>
          <p:nvPr userDrawn="1"/>
        </p:nvSpPr>
        <p:spPr>
          <a:xfrm>
            <a:off x="1" y="78284"/>
            <a:ext cx="12192000" cy="9785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849" dirty="0"/>
          </a:p>
        </p:txBody>
      </p:sp>
      <p:sp>
        <p:nvSpPr>
          <p:cNvPr id="3" name="Slide Number Placeholder 1">
            <a:extLst>
              <a:ext uri="{FF2B5EF4-FFF2-40B4-BE49-F238E27FC236}">
                <a16:creationId xmlns:a16="http://schemas.microsoft.com/office/drawing/2014/main" id="{2BC98E73-D533-98EE-BA32-8AEC2FBA85A7}"/>
              </a:ext>
            </a:extLst>
          </p:cNvPr>
          <p:cNvSpPr txBox="1">
            <a:spLocks noChangeArrowheads="1"/>
          </p:cNvSpPr>
          <p:nvPr userDrawn="1"/>
        </p:nvSpPr>
        <p:spPr bwMode="auto">
          <a:xfrm flipH="1">
            <a:off x="267763" y="6414391"/>
            <a:ext cx="429984" cy="2087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fld id="{1DAEB187-A978-4F25-9AD3-8318B5BB3F16}" type="slidenum">
              <a:rPr lang="en-US" altLang="en-US" sz="925" b="0">
                <a:solidFill>
                  <a:schemeClr val="tx1"/>
                </a:solidFill>
              </a:rPr>
              <a:pPr eaLnBrk="1" hangingPunct="1"/>
              <a:t>‹#›</a:t>
            </a:fld>
            <a:r>
              <a:rPr lang="en-US" altLang="en-US" sz="925">
                <a:solidFill>
                  <a:schemeClr val="tx1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33059593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8F8DABE-15CC-BAAB-6410-133AE48DEBFE}"/>
              </a:ext>
            </a:extLst>
          </p:cNvPr>
          <p:cNvSpPr/>
          <p:nvPr userDrawn="1"/>
        </p:nvSpPr>
        <p:spPr>
          <a:xfrm>
            <a:off x="1" y="78284"/>
            <a:ext cx="12192000" cy="9785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849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7F9D3D0A-5CC8-35B4-6C51-D45A4CE9F16D}"/>
              </a:ext>
            </a:extLst>
          </p:cNvPr>
          <p:cNvCxnSpPr/>
          <p:nvPr userDrawn="1"/>
        </p:nvCxnSpPr>
        <p:spPr>
          <a:xfrm rot="5400000" flipH="1" flipV="1">
            <a:off x="10381296" y="673569"/>
            <a:ext cx="799149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Slide Number Placeholder 1">
            <a:extLst>
              <a:ext uri="{FF2B5EF4-FFF2-40B4-BE49-F238E27FC236}">
                <a16:creationId xmlns:a16="http://schemas.microsoft.com/office/drawing/2014/main" id="{5D7F13EE-0A82-2401-217D-652E92C6C332}"/>
              </a:ext>
            </a:extLst>
          </p:cNvPr>
          <p:cNvSpPr txBox="1">
            <a:spLocks noChangeArrowheads="1"/>
          </p:cNvSpPr>
          <p:nvPr userDrawn="1"/>
        </p:nvSpPr>
        <p:spPr bwMode="auto">
          <a:xfrm flipH="1">
            <a:off x="267763" y="6414391"/>
            <a:ext cx="429984" cy="2087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fld id="{70A0F405-BDF5-4255-B574-3A0F4AFCE556}" type="slidenum">
              <a:rPr lang="en-US" altLang="en-US" sz="925" b="0">
                <a:solidFill>
                  <a:schemeClr val="tx1"/>
                </a:solidFill>
              </a:rPr>
              <a:pPr eaLnBrk="1" hangingPunct="1"/>
              <a:t>‹#›</a:t>
            </a:fld>
            <a:r>
              <a:rPr lang="en-US" altLang="en-US" sz="925">
                <a:solidFill>
                  <a:schemeClr val="tx1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4352056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6C1E91AE-588C-BBF0-CF8E-8BB33952921E}"/>
              </a:ext>
            </a:extLst>
          </p:cNvPr>
          <p:cNvCxnSpPr/>
          <p:nvPr userDrawn="1"/>
        </p:nvCxnSpPr>
        <p:spPr>
          <a:xfrm>
            <a:off x="109451" y="4080550"/>
            <a:ext cx="11971145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1">
            <a:extLst>
              <a:ext uri="{FF2B5EF4-FFF2-40B4-BE49-F238E27FC236}">
                <a16:creationId xmlns:a16="http://schemas.microsoft.com/office/drawing/2014/main" id="{8B1D0AC2-544F-F4EC-8CFB-33C30A301C50}"/>
              </a:ext>
            </a:extLst>
          </p:cNvPr>
          <p:cNvSpPr txBox="1">
            <a:spLocks noChangeArrowheads="1"/>
          </p:cNvSpPr>
          <p:nvPr userDrawn="1"/>
        </p:nvSpPr>
        <p:spPr bwMode="auto">
          <a:xfrm flipH="1">
            <a:off x="-48862" y="6629672"/>
            <a:ext cx="5771558" cy="2071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fld id="{11B54BA6-14B7-4C13-81EF-27E4E9333B8B}" type="slidenum">
              <a:rPr lang="en-US" altLang="en-US" sz="925">
                <a:solidFill>
                  <a:srgbClr val="396499"/>
                </a:solidFill>
              </a:rPr>
              <a:pPr eaLnBrk="1" hangingPunct="1"/>
              <a:t>‹#›</a:t>
            </a:fld>
            <a:r>
              <a:rPr lang="en-US" altLang="en-US" sz="925">
                <a:solidFill>
                  <a:srgbClr val="396499"/>
                </a:solidFill>
              </a:rPr>
              <a:t> </a:t>
            </a:r>
            <a:r>
              <a:rPr lang="en-US" altLang="en-US" sz="925">
                <a:solidFill>
                  <a:srgbClr val="7F7F7F"/>
                </a:solidFill>
              </a:rPr>
              <a:t>| Franchise Opportunity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A2FC533-6554-EE1C-A633-EFD166C69BEE}"/>
              </a:ext>
            </a:extLst>
          </p:cNvPr>
          <p:cNvSpPr/>
          <p:nvPr userDrawn="1"/>
        </p:nvSpPr>
        <p:spPr>
          <a:xfrm>
            <a:off x="1" y="78284"/>
            <a:ext cx="12192000" cy="9785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849" dirty="0"/>
          </a:p>
        </p:txBody>
      </p:sp>
      <p:sp>
        <p:nvSpPr>
          <p:cNvPr id="6" name="TextBox 13">
            <a:extLst>
              <a:ext uri="{FF2B5EF4-FFF2-40B4-BE49-F238E27FC236}">
                <a16:creationId xmlns:a16="http://schemas.microsoft.com/office/drawing/2014/main" id="{FD94B433-22DD-699A-C0AA-FBE377970B1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88941" y="3759261"/>
            <a:ext cx="6060819" cy="500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/>
            <a:endParaRPr lang="en-US" altLang="en-US" sz="2568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BEEF884-61F9-44B6-EEC9-11C101251F06}"/>
              </a:ext>
            </a:extLst>
          </p:cNvPr>
          <p:cNvCxnSpPr/>
          <p:nvPr userDrawn="1"/>
        </p:nvCxnSpPr>
        <p:spPr>
          <a:xfrm rot="5400000" flipH="1" flipV="1">
            <a:off x="10293346" y="766531"/>
            <a:ext cx="799149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15">
            <a:extLst>
              <a:ext uri="{FF2B5EF4-FFF2-40B4-BE49-F238E27FC236}">
                <a16:creationId xmlns:a16="http://schemas.microsoft.com/office/drawing/2014/main" id="{DC2C73B9-D1A9-B13D-47BE-F9720DDA445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" b="-47839"/>
          <a:stretch>
            <a:fillRect/>
          </a:stretch>
        </p:blipFill>
        <p:spPr bwMode="auto">
          <a:xfrm>
            <a:off x="10911821" y="507216"/>
            <a:ext cx="1053460" cy="5577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Content Placeholder 4"/>
          <p:cNvSpPr>
            <a:spLocks noGrp="1"/>
          </p:cNvSpPr>
          <p:nvPr>
            <p:ph sz="quarter" idx="10"/>
          </p:nvPr>
        </p:nvSpPr>
        <p:spPr>
          <a:xfrm>
            <a:off x="820661" y="3578535"/>
            <a:ext cx="10270318" cy="428502"/>
          </a:xfrm>
        </p:spPr>
        <p:txBody>
          <a:bodyPr>
            <a:normAutofit/>
          </a:bodyPr>
          <a:lstStyle>
            <a:lvl1pPr marL="0" indent="0">
              <a:buNone/>
              <a:defRPr sz="2466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8605500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D41AF40-D8FB-92EF-9220-C6A13C17320A}"/>
              </a:ext>
            </a:extLst>
          </p:cNvPr>
          <p:cNvSpPr txBox="1">
            <a:spLocks noChangeArrowheads="1"/>
          </p:cNvSpPr>
          <p:nvPr userDrawn="1"/>
        </p:nvSpPr>
        <p:spPr bwMode="auto">
          <a:xfrm flipH="1">
            <a:off x="267763" y="6414391"/>
            <a:ext cx="429984" cy="2087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fld id="{3D27066B-949C-4372-A671-04DF86C9C839}" type="slidenum">
              <a:rPr lang="en-US" altLang="en-US" sz="925" b="0">
                <a:solidFill>
                  <a:schemeClr val="tx1"/>
                </a:solidFill>
              </a:rPr>
              <a:pPr eaLnBrk="1" hangingPunct="1"/>
              <a:t>‹#›</a:t>
            </a:fld>
            <a:r>
              <a:rPr lang="en-US" altLang="en-US" sz="925">
                <a:solidFill>
                  <a:schemeClr val="tx1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11080174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6303983-111C-76B6-8F27-6877C46E23F9}"/>
              </a:ext>
            </a:extLst>
          </p:cNvPr>
          <p:cNvSpPr/>
          <p:nvPr userDrawn="1"/>
        </p:nvSpPr>
        <p:spPr>
          <a:xfrm>
            <a:off x="1" y="78284"/>
            <a:ext cx="12192000" cy="9785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849" dirty="0"/>
          </a:p>
        </p:txBody>
      </p:sp>
      <p:sp>
        <p:nvSpPr>
          <p:cNvPr id="3" name="Slide Number Placeholder 1">
            <a:extLst>
              <a:ext uri="{FF2B5EF4-FFF2-40B4-BE49-F238E27FC236}">
                <a16:creationId xmlns:a16="http://schemas.microsoft.com/office/drawing/2014/main" id="{27918EA2-CA35-CE1F-495B-F8C90E5B5260}"/>
              </a:ext>
            </a:extLst>
          </p:cNvPr>
          <p:cNvSpPr txBox="1">
            <a:spLocks noChangeArrowheads="1"/>
          </p:cNvSpPr>
          <p:nvPr userDrawn="1"/>
        </p:nvSpPr>
        <p:spPr bwMode="auto">
          <a:xfrm flipH="1">
            <a:off x="267763" y="6414391"/>
            <a:ext cx="429984" cy="2087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fld id="{38A47D54-76DA-401F-B305-31808E6652DB}" type="slidenum">
              <a:rPr lang="en-US" altLang="en-US" sz="925" b="0">
                <a:solidFill>
                  <a:schemeClr val="tx1"/>
                </a:solidFill>
              </a:rPr>
              <a:pPr eaLnBrk="1" hangingPunct="1"/>
              <a:t>‹#›</a:t>
            </a:fld>
            <a:r>
              <a:rPr lang="en-US" altLang="en-US" sz="925">
                <a:solidFill>
                  <a:schemeClr val="tx1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86709129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D27E1D7-6743-568B-2E05-44FACD32EECF}"/>
              </a:ext>
            </a:extLst>
          </p:cNvPr>
          <p:cNvSpPr/>
          <p:nvPr userDrawn="1"/>
        </p:nvSpPr>
        <p:spPr>
          <a:xfrm>
            <a:off x="1" y="78284"/>
            <a:ext cx="12192000" cy="9785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849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CA4FCE9-89DD-B961-89DF-542BD2035D39}"/>
              </a:ext>
            </a:extLst>
          </p:cNvPr>
          <p:cNvCxnSpPr/>
          <p:nvPr userDrawn="1"/>
        </p:nvCxnSpPr>
        <p:spPr>
          <a:xfrm rot="5400000" flipH="1" flipV="1">
            <a:off x="10381296" y="673569"/>
            <a:ext cx="799149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Slide Number Placeholder 1">
            <a:extLst>
              <a:ext uri="{FF2B5EF4-FFF2-40B4-BE49-F238E27FC236}">
                <a16:creationId xmlns:a16="http://schemas.microsoft.com/office/drawing/2014/main" id="{A00CED2B-430F-18FC-329A-DF473FF35A2D}"/>
              </a:ext>
            </a:extLst>
          </p:cNvPr>
          <p:cNvSpPr txBox="1">
            <a:spLocks noChangeArrowheads="1"/>
          </p:cNvSpPr>
          <p:nvPr userDrawn="1"/>
        </p:nvSpPr>
        <p:spPr bwMode="auto">
          <a:xfrm flipH="1">
            <a:off x="267763" y="6414391"/>
            <a:ext cx="429984" cy="2087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fld id="{C54F3C67-9135-4FE7-9DF0-598AE1123EF6}" type="slidenum">
              <a:rPr lang="en-US" altLang="en-US" sz="925" b="0">
                <a:solidFill>
                  <a:schemeClr val="tx1"/>
                </a:solidFill>
              </a:rPr>
              <a:pPr eaLnBrk="1" hangingPunct="1"/>
              <a:t>‹#›</a:t>
            </a:fld>
            <a:r>
              <a:rPr lang="en-US" altLang="en-US" sz="925">
                <a:solidFill>
                  <a:schemeClr val="tx1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60119483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C078C527-6900-BFBC-F3F9-76B2475072DA}"/>
              </a:ext>
            </a:extLst>
          </p:cNvPr>
          <p:cNvCxnSpPr/>
          <p:nvPr userDrawn="1"/>
        </p:nvCxnSpPr>
        <p:spPr>
          <a:xfrm>
            <a:off x="109451" y="4080550"/>
            <a:ext cx="11971145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1">
            <a:extLst>
              <a:ext uri="{FF2B5EF4-FFF2-40B4-BE49-F238E27FC236}">
                <a16:creationId xmlns:a16="http://schemas.microsoft.com/office/drawing/2014/main" id="{207E030B-1D1F-84D2-6FEC-6F7260F4025F}"/>
              </a:ext>
            </a:extLst>
          </p:cNvPr>
          <p:cNvSpPr txBox="1">
            <a:spLocks noChangeArrowheads="1"/>
          </p:cNvSpPr>
          <p:nvPr userDrawn="1"/>
        </p:nvSpPr>
        <p:spPr bwMode="auto">
          <a:xfrm flipH="1">
            <a:off x="-48862" y="6629672"/>
            <a:ext cx="5771558" cy="2071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fld id="{332D9AAD-F7ED-4DA2-8AC4-B39D26977FEC}" type="slidenum">
              <a:rPr lang="en-US" altLang="en-US" sz="925">
                <a:solidFill>
                  <a:srgbClr val="396499"/>
                </a:solidFill>
              </a:rPr>
              <a:pPr eaLnBrk="1" hangingPunct="1"/>
              <a:t>‹#›</a:t>
            </a:fld>
            <a:r>
              <a:rPr lang="en-US" altLang="en-US" sz="925">
                <a:solidFill>
                  <a:srgbClr val="396499"/>
                </a:solidFill>
              </a:rPr>
              <a:t> </a:t>
            </a:r>
            <a:r>
              <a:rPr lang="en-US" altLang="en-US" sz="925">
                <a:solidFill>
                  <a:srgbClr val="7F7F7F"/>
                </a:solidFill>
              </a:rPr>
              <a:t>| Franchise Opportunity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70078B5-8E0D-40F5-65FD-B165891A6C1D}"/>
              </a:ext>
            </a:extLst>
          </p:cNvPr>
          <p:cNvSpPr/>
          <p:nvPr userDrawn="1"/>
        </p:nvSpPr>
        <p:spPr>
          <a:xfrm>
            <a:off x="1" y="78284"/>
            <a:ext cx="12192000" cy="9785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849" dirty="0"/>
          </a:p>
        </p:txBody>
      </p:sp>
      <p:sp>
        <p:nvSpPr>
          <p:cNvPr id="6" name="TextBox 13">
            <a:extLst>
              <a:ext uri="{FF2B5EF4-FFF2-40B4-BE49-F238E27FC236}">
                <a16:creationId xmlns:a16="http://schemas.microsoft.com/office/drawing/2014/main" id="{8396EE2A-B0D5-57B5-94C0-6A5BBB7EF0FD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88941" y="3759261"/>
            <a:ext cx="6060819" cy="500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/>
            <a:endParaRPr lang="en-US" altLang="en-US" sz="2568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00F8188-E4C6-9B82-7979-691792FC20AA}"/>
              </a:ext>
            </a:extLst>
          </p:cNvPr>
          <p:cNvCxnSpPr/>
          <p:nvPr userDrawn="1"/>
        </p:nvCxnSpPr>
        <p:spPr>
          <a:xfrm rot="5400000" flipH="1" flipV="1">
            <a:off x="10293346" y="766531"/>
            <a:ext cx="799149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15">
            <a:extLst>
              <a:ext uri="{FF2B5EF4-FFF2-40B4-BE49-F238E27FC236}">
                <a16:creationId xmlns:a16="http://schemas.microsoft.com/office/drawing/2014/main" id="{013DFC28-2148-68DA-3246-0D318BB093C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" b="-47839"/>
          <a:stretch>
            <a:fillRect/>
          </a:stretch>
        </p:blipFill>
        <p:spPr bwMode="auto">
          <a:xfrm>
            <a:off x="10911821" y="507216"/>
            <a:ext cx="1053460" cy="5577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Content Placeholder 4"/>
          <p:cNvSpPr>
            <a:spLocks noGrp="1"/>
          </p:cNvSpPr>
          <p:nvPr>
            <p:ph sz="quarter" idx="10"/>
          </p:nvPr>
        </p:nvSpPr>
        <p:spPr>
          <a:xfrm>
            <a:off x="820661" y="3578535"/>
            <a:ext cx="10270318" cy="428502"/>
          </a:xfrm>
        </p:spPr>
        <p:txBody>
          <a:bodyPr>
            <a:normAutofit/>
          </a:bodyPr>
          <a:lstStyle>
            <a:lvl1pPr marL="0" indent="0">
              <a:buNone/>
              <a:defRPr sz="2466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7139908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5ABBC7B-B1A7-ED7B-710D-85A04B8FAF2F}"/>
              </a:ext>
            </a:extLst>
          </p:cNvPr>
          <p:cNvSpPr txBox="1">
            <a:spLocks noChangeArrowheads="1"/>
          </p:cNvSpPr>
          <p:nvPr userDrawn="1"/>
        </p:nvSpPr>
        <p:spPr bwMode="auto">
          <a:xfrm flipH="1">
            <a:off x="267763" y="6414391"/>
            <a:ext cx="429984" cy="2087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fld id="{8514F56B-A39C-44D7-B26E-B9CCB1BD6153}" type="slidenum">
              <a:rPr lang="en-US" altLang="en-US" sz="925" b="0">
                <a:solidFill>
                  <a:schemeClr val="tx1"/>
                </a:solidFill>
              </a:rPr>
              <a:pPr eaLnBrk="1" hangingPunct="1"/>
              <a:t>‹#›</a:t>
            </a:fld>
            <a:r>
              <a:rPr lang="en-US" altLang="en-US" sz="925">
                <a:solidFill>
                  <a:schemeClr val="tx1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8731028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9.xml"/><Relationship Id="rId3" Type="http://schemas.openxmlformats.org/officeDocument/2006/relationships/slideLayout" Target="../slideLayouts/slideLayout20.xml"/><Relationship Id="rId4" Type="http://schemas.openxmlformats.org/officeDocument/2006/relationships/slideLayout" Target="../slideLayouts/slideLayout21.xml"/><Relationship Id="rId5" Type="http://schemas.openxmlformats.org/officeDocument/2006/relationships/theme" Target="../theme/theme2.xml"/><Relationship Id="rId6" Type="http://schemas.openxmlformats.org/officeDocument/2006/relationships/image" Target="../media/image3.png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slideLayout" Target="../slideLayouts/slideLayout23.xml"/><Relationship Id="rId3" Type="http://schemas.openxmlformats.org/officeDocument/2006/relationships/slideLayout" Target="../slideLayouts/slideLayout24.xml"/><Relationship Id="rId4" Type="http://schemas.openxmlformats.org/officeDocument/2006/relationships/slideLayout" Target="../slideLayouts/slideLayout25.xml"/><Relationship Id="rId5" Type="http://schemas.openxmlformats.org/officeDocument/2006/relationships/theme" Target="../theme/theme3.xml"/><Relationship Id="rId6" Type="http://schemas.openxmlformats.org/officeDocument/2006/relationships/image" Target="../media/image3.png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slideLayout" Target="../slideLayouts/slideLayout27.xml"/><Relationship Id="rId3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9.xml"/><Relationship Id="rId5" Type="http://schemas.openxmlformats.org/officeDocument/2006/relationships/theme" Target="../theme/theme4.xml"/><Relationship Id="rId6" Type="http://schemas.openxmlformats.org/officeDocument/2006/relationships/image" Target="../media/image3.png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slideLayout" Target="../slideLayouts/slideLayout31.xml"/><Relationship Id="rId3" Type="http://schemas.openxmlformats.org/officeDocument/2006/relationships/slideLayout" Target="../slideLayouts/slideLayout32.xml"/><Relationship Id="rId4" Type="http://schemas.openxmlformats.org/officeDocument/2006/relationships/slideLayout" Target="../slideLayouts/slideLayout33.xml"/><Relationship Id="rId5" Type="http://schemas.openxmlformats.org/officeDocument/2006/relationships/theme" Target="../theme/theme5.xml"/><Relationship Id="rId6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D3DC213-B8E9-29C2-1143-4E88A24514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53279B-02E1-2C6F-B3AF-C0F07D104D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6D190F-AF19-56C9-B228-181A4DF38A8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09E240-750F-4123-802C-18D7609080F9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7AF6EF-D4AB-7ED6-E4D6-46C358B1F6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DF9B77-9CF5-F1D0-9DA1-7F7F9C6607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3F6F8F-A6A1-402C-9F92-EB62193595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49732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1" r:id="rId12"/>
    <p:sldLayoutId id="2147483662" r:id="rId13"/>
    <p:sldLayoutId id="2147483663" r:id="rId14"/>
    <p:sldLayoutId id="2147483664" r:id="rId15"/>
    <p:sldLayoutId id="2147483665" r:id="rId16"/>
    <p:sldLayoutId id="2147483666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33B04A68-D4AE-6A96-4C21-FC8C84A40C3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9796" y="273994"/>
            <a:ext cx="10972409" cy="11432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BDE4814C-EBB8-20DE-1A25-F758E89A4FE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9796" y="1599929"/>
            <a:ext cx="10972409" cy="45257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83AB51-C16B-7BB7-78DA-2C0FE5423A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64982" y="6355678"/>
            <a:ext cx="3862038" cy="3653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hangingPunct="1">
              <a:defRPr sz="12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22D0EE-0BA1-1F04-64B3-76BC3282CB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38448" y="6355678"/>
            <a:ext cx="2843757" cy="3653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hangingPunct="1">
              <a:defRPr sz="12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/>
              <a:t>1</a:t>
            </a:r>
          </a:p>
        </p:txBody>
      </p:sp>
      <p:grpSp>
        <p:nvGrpSpPr>
          <p:cNvPr id="1030" name="Group 9">
            <a:extLst>
              <a:ext uri="{FF2B5EF4-FFF2-40B4-BE49-F238E27FC236}">
                <a16:creationId xmlns:a16="http://schemas.microsoft.com/office/drawing/2014/main" id="{173A39C3-F5C8-4B1B-711B-D7C417767081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600026" y="6402974"/>
            <a:ext cx="1611578" cy="257685"/>
            <a:chOff x="7547500" y="6172925"/>
            <a:chExt cx="785225" cy="274320"/>
          </a:xfrm>
        </p:grpSpPr>
        <p:sp>
          <p:nvSpPr>
            <p:cNvPr id="1033" name="Rectangle 10">
              <a:extLst>
                <a:ext uri="{FF2B5EF4-FFF2-40B4-BE49-F238E27FC236}">
                  <a16:creationId xmlns:a16="http://schemas.microsoft.com/office/drawing/2014/main" id="{8DE512E1-E034-5D17-88C5-E64E9006E37D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7559332" y="6195102"/>
              <a:ext cx="773393" cy="2329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en-US" sz="822" b="0">
                  <a:solidFill>
                    <a:schemeClr val="tx1"/>
                  </a:solidFill>
                </a:rPr>
                <a:t>OSHINEI JAPANESE</a:t>
              </a:r>
              <a:r>
                <a:rPr lang="th-TH" altLang="en-US" sz="822" b="0">
                  <a:solidFill>
                    <a:schemeClr val="tx1"/>
                  </a:solidFill>
                </a:rPr>
                <a:t> </a:t>
              </a:r>
              <a:r>
                <a:rPr lang="en-US" altLang="en-US" sz="822" b="0">
                  <a:solidFill>
                    <a:schemeClr val="tx1"/>
                  </a:solidFill>
                </a:rPr>
                <a:t>RESTAURANT</a:t>
              </a:r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E328E675-F2D7-30A3-A12B-672D47C4CE81}"/>
                </a:ext>
              </a:extLst>
            </p:cNvPr>
            <p:cNvCxnSpPr/>
            <p:nvPr userDrawn="1"/>
          </p:nvCxnSpPr>
          <p:spPr>
            <a:xfrm flipV="1">
              <a:off x="7547500" y="6172925"/>
              <a:ext cx="0" cy="274320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031" name="Picture 8">
            <a:extLst>
              <a:ext uri="{FF2B5EF4-FFF2-40B4-BE49-F238E27FC236}">
                <a16:creationId xmlns:a16="http://schemas.microsoft.com/office/drawing/2014/main" id="{D4606CCE-C56A-176E-BFA1-B6685BCB665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7191" y="176139"/>
            <a:ext cx="1424810" cy="11171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B0FC338-9AD3-D520-ADAA-320949BA282A}"/>
              </a:ext>
            </a:extLst>
          </p:cNvPr>
          <p:cNvCxnSpPr/>
          <p:nvPr userDrawn="1"/>
        </p:nvCxnSpPr>
        <p:spPr>
          <a:xfrm rot="5400000" flipH="1" flipV="1">
            <a:off x="10381296" y="673569"/>
            <a:ext cx="799149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643970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52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520">
          <a:solidFill>
            <a:schemeClr val="tx1"/>
          </a:solidFill>
          <a:latin typeface="Calibri" panose="020F050202020403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520">
          <a:solidFill>
            <a:schemeClr val="tx1"/>
          </a:solidFill>
          <a:latin typeface="Calibri" panose="020F050202020403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520">
          <a:solidFill>
            <a:schemeClr val="tx1"/>
          </a:solidFill>
          <a:latin typeface="Calibri" panose="020F050202020403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520">
          <a:solidFill>
            <a:schemeClr val="tx1"/>
          </a:solidFill>
          <a:latin typeface="Calibri" panose="020F0502020204030204" pitchFamily="34" charset="0"/>
        </a:defRPr>
      </a:lvl5pPr>
      <a:lvl6pPr marL="469682" algn="ctr" rtl="0" fontAlgn="base">
        <a:spcBef>
          <a:spcPct val="0"/>
        </a:spcBef>
        <a:spcAft>
          <a:spcPct val="0"/>
        </a:spcAft>
        <a:defRPr sz="4520">
          <a:solidFill>
            <a:schemeClr val="tx1"/>
          </a:solidFill>
          <a:latin typeface="Calibri" panose="020F0502020204030204" pitchFamily="34" charset="0"/>
        </a:defRPr>
      </a:lvl6pPr>
      <a:lvl7pPr marL="939363" algn="ctr" rtl="0" fontAlgn="base">
        <a:spcBef>
          <a:spcPct val="0"/>
        </a:spcBef>
        <a:spcAft>
          <a:spcPct val="0"/>
        </a:spcAft>
        <a:defRPr sz="4520">
          <a:solidFill>
            <a:schemeClr val="tx1"/>
          </a:solidFill>
          <a:latin typeface="Calibri" panose="020F0502020204030204" pitchFamily="34" charset="0"/>
        </a:defRPr>
      </a:lvl7pPr>
      <a:lvl8pPr marL="1409045" algn="ctr" rtl="0" fontAlgn="base">
        <a:spcBef>
          <a:spcPct val="0"/>
        </a:spcBef>
        <a:spcAft>
          <a:spcPct val="0"/>
        </a:spcAft>
        <a:defRPr sz="4520">
          <a:solidFill>
            <a:schemeClr val="tx1"/>
          </a:solidFill>
          <a:latin typeface="Calibri" panose="020F0502020204030204" pitchFamily="34" charset="0"/>
        </a:defRPr>
      </a:lvl8pPr>
      <a:lvl9pPr marL="1878726" algn="ctr" rtl="0" fontAlgn="base">
        <a:spcBef>
          <a:spcPct val="0"/>
        </a:spcBef>
        <a:spcAft>
          <a:spcPct val="0"/>
        </a:spcAft>
        <a:defRPr sz="4520">
          <a:solidFill>
            <a:schemeClr val="tx1"/>
          </a:solidFill>
          <a:latin typeface="Calibri" panose="020F0502020204030204" pitchFamily="34" charset="0"/>
        </a:defRPr>
      </a:lvl9pPr>
    </p:titleStyle>
    <p:bodyStyle>
      <a:lvl1pPr marL="352261" indent="-352261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87" kern="1200">
          <a:solidFill>
            <a:schemeClr val="tx1"/>
          </a:solidFill>
          <a:latin typeface="+mn-lt"/>
          <a:ea typeface="+mn-ea"/>
          <a:cs typeface="+mn-cs"/>
        </a:defRPr>
      </a:lvl1pPr>
      <a:lvl2pPr marL="763233" indent="-293551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76" kern="1200">
          <a:solidFill>
            <a:schemeClr val="tx1"/>
          </a:solidFill>
          <a:latin typeface="+mn-lt"/>
          <a:ea typeface="+mn-ea"/>
          <a:cs typeface="+mn-cs"/>
        </a:defRPr>
      </a:lvl2pPr>
      <a:lvl3pPr marL="1174204" indent="-234841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66" kern="1200">
          <a:solidFill>
            <a:schemeClr val="tx1"/>
          </a:solidFill>
          <a:latin typeface="+mn-lt"/>
          <a:ea typeface="+mn-ea"/>
          <a:cs typeface="+mn-cs"/>
        </a:defRPr>
      </a:lvl3pPr>
      <a:lvl4pPr marL="1643885" indent="-234841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55" kern="1200">
          <a:solidFill>
            <a:schemeClr val="tx1"/>
          </a:solidFill>
          <a:latin typeface="+mn-lt"/>
          <a:ea typeface="+mn-ea"/>
          <a:cs typeface="+mn-cs"/>
        </a:defRPr>
      </a:lvl4pPr>
      <a:lvl5pPr marL="2113567" indent="-234841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55" kern="1200">
          <a:solidFill>
            <a:schemeClr val="tx1"/>
          </a:solidFill>
          <a:latin typeface="+mn-lt"/>
          <a:ea typeface="+mn-ea"/>
          <a:cs typeface="+mn-cs"/>
        </a:defRPr>
      </a:lvl5pPr>
      <a:lvl6pPr marL="2583249" indent="-234841" algn="l" defTabSz="939363" rtl="0" eaLnBrk="1" latinLnBrk="0" hangingPunct="1">
        <a:spcBef>
          <a:spcPct val="20000"/>
        </a:spcBef>
        <a:buFont typeface="Arial" pitchFamily="34" charset="0"/>
        <a:buChar char="•"/>
        <a:defRPr sz="2055" kern="1200">
          <a:solidFill>
            <a:schemeClr val="tx1"/>
          </a:solidFill>
          <a:latin typeface="+mn-lt"/>
          <a:ea typeface="+mn-ea"/>
          <a:cs typeface="+mn-cs"/>
        </a:defRPr>
      </a:lvl6pPr>
      <a:lvl7pPr marL="3052930" indent="-234841" algn="l" defTabSz="939363" rtl="0" eaLnBrk="1" latinLnBrk="0" hangingPunct="1">
        <a:spcBef>
          <a:spcPct val="20000"/>
        </a:spcBef>
        <a:buFont typeface="Arial" pitchFamily="34" charset="0"/>
        <a:buChar char="•"/>
        <a:defRPr sz="2055" kern="1200">
          <a:solidFill>
            <a:schemeClr val="tx1"/>
          </a:solidFill>
          <a:latin typeface="+mn-lt"/>
          <a:ea typeface="+mn-ea"/>
          <a:cs typeface="+mn-cs"/>
        </a:defRPr>
      </a:lvl7pPr>
      <a:lvl8pPr marL="3522612" indent="-234841" algn="l" defTabSz="939363" rtl="0" eaLnBrk="1" latinLnBrk="0" hangingPunct="1">
        <a:spcBef>
          <a:spcPct val="20000"/>
        </a:spcBef>
        <a:buFont typeface="Arial" pitchFamily="34" charset="0"/>
        <a:buChar char="•"/>
        <a:defRPr sz="2055" kern="1200">
          <a:solidFill>
            <a:schemeClr val="tx1"/>
          </a:solidFill>
          <a:latin typeface="+mn-lt"/>
          <a:ea typeface="+mn-ea"/>
          <a:cs typeface="+mn-cs"/>
        </a:defRPr>
      </a:lvl8pPr>
      <a:lvl9pPr marL="3992293" indent="-234841" algn="l" defTabSz="939363" rtl="0" eaLnBrk="1" latinLnBrk="0" hangingPunct="1">
        <a:spcBef>
          <a:spcPct val="20000"/>
        </a:spcBef>
        <a:buFont typeface="Arial" pitchFamily="34" charset="0"/>
        <a:buChar char="•"/>
        <a:defRPr sz="205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39363" rtl="0" eaLnBrk="1" latinLnBrk="0" hangingPunct="1">
        <a:defRPr sz="1849" kern="1200">
          <a:solidFill>
            <a:schemeClr val="tx1"/>
          </a:solidFill>
          <a:latin typeface="+mn-lt"/>
          <a:ea typeface="+mn-ea"/>
          <a:cs typeface="+mn-cs"/>
        </a:defRPr>
      </a:lvl1pPr>
      <a:lvl2pPr marL="469682" algn="l" defTabSz="939363" rtl="0" eaLnBrk="1" latinLnBrk="0" hangingPunct="1">
        <a:defRPr sz="1849" kern="1200">
          <a:solidFill>
            <a:schemeClr val="tx1"/>
          </a:solidFill>
          <a:latin typeface="+mn-lt"/>
          <a:ea typeface="+mn-ea"/>
          <a:cs typeface="+mn-cs"/>
        </a:defRPr>
      </a:lvl2pPr>
      <a:lvl3pPr marL="939363" algn="l" defTabSz="939363" rtl="0" eaLnBrk="1" latinLnBrk="0" hangingPunct="1">
        <a:defRPr sz="1849" kern="1200">
          <a:solidFill>
            <a:schemeClr val="tx1"/>
          </a:solidFill>
          <a:latin typeface="+mn-lt"/>
          <a:ea typeface="+mn-ea"/>
          <a:cs typeface="+mn-cs"/>
        </a:defRPr>
      </a:lvl3pPr>
      <a:lvl4pPr marL="1409045" algn="l" defTabSz="939363" rtl="0" eaLnBrk="1" latinLnBrk="0" hangingPunct="1">
        <a:defRPr sz="1849" kern="1200">
          <a:solidFill>
            <a:schemeClr val="tx1"/>
          </a:solidFill>
          <a:latin typeface="+mn-lt"/>
          <a:ea typeface="+mn-ea"/>
          <a:cs typeface="+mn-cs"/>
        </a:defRPr>
      </a:lvl4pPr>
      <a:lvl5pPr marL="1878726" algn="l" defTabSz="939363" rtl="0" eaLnBrk="1" latinLnBrk="0" hangingPunct="1">
        <a:defRPr sz="1849" kern="1200">
          <a:solidFill>
            <a:schemeClr val="tx1"/>
          </a:solidFill>
          <a:latin typeface="+mn-lt"/>
          <a:ea typeface="+mn-ea"/>
          <a:cs typeface="+mn-cs"/>
        </a:defRPr>
      </a:lvl5pPr>
      <a:lvl6pPr marL="2348408" algn="l" defTabSz="939363" rtl="0" eaLnBrk="1" latinLnBrk="0" hangingPunct="1">
        <a:defRPr sz="1849" kern="1200">
          <a:solidFill>
            <a:schemeClr val="tx1"/>
          </a:solidFill>
          <a:latin typeface="+mn-lt"/>
          <a:ea typeface="+mn-ea"/>
          <a:cs typeface="+mn-cs"/>
        </a:defRPr>
      </a:lvl6pPr>
      <a:lvl7pPr marL="2818089" algn="l" defTabSz="939363" rtl="0" eaLnBrk="1" latinLnBrk="0" hangingPunct="1">
        <a:defRPr sz="1849" kern="1200">
          <a:solidFill>
            <a:schemeClr val="tx1"/>
          </a:solidFill>
          <a:latin typeface="+mn-lt"/>
          <a:ea typeface="+mn-ea"/>
          <a:cs typeface="+mn-cs"/>
        </a:defRPr>
      </a:lvl7pPr>
      <a:lvl8pPr marL="3287771" algn="l" defTabSz="939363" rtl="0" eaLnBrk="1" latinLnBrk="0" hangingPunct="1">
        <a:defRPr sz="1849" kern="1200">
          <a:solidFill>
            <a:schemeClr val="tx1"/>
          </a:solidFill>
          <a:latin typeface="+mn-lt"/>
          <a:ea typeface="+mn-ea"/>
          <a:cs typeface="+mn-cs"/>
        </a:defRPr>
      </a:lvl8pPr>
      <a:lvl9pPr marL="3757452" algn="l" defTabSz="939363" rtl="0" eaLnBrk="1" latinLnBrk="0" hangingPunct="1">
        <a:defRPr sz="184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4D5A6ED1-8F35-956E-BDBC-599F663A1F8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9796" y="273994"/>
            <a:ext cx="10972409" cy="11432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D36CC759-B5C6-1219-7306-BAC05F3D05D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9796" y="1599929"/>
            <a:ext cx="10972409" cy="45257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E6B4F7-43D9-F70D-B045-8B0A9B506F9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64982" y="6355678"/>
            <a:ext cx="3862038" cy="3653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hangingPunct="1">
              <a:defRPr sz="12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FC74BE-9CE1-5522-6D32-BA1C533628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38448" y="6355678"/>
            <a:ext cx="2843757" cy="3653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hangingPunct="1">
              <a:defRPr sz="12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/>
              <a:t>1</a:t>
            </a:r>
          </a:p>
        </p:txBody>
      </p:sp>
      <p:grpSp>
        <p:nvGrpSpPr>
          <p:cNvPr id="1030" name="Group 9">
            <a:extLst>
              <a:ext uri="{FF2B5EF4-FFF2-40B4-BE49-F238E27FC236}">
                <a16:creationId xmlns:a16="http://schemas.microsoft.com/office/drawing/2014/main" id="{5DDFDE8F-FD3E-2EBB-95D2-037B7DE9DDAF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600026" y="6402974"/>
            <a:ext cx="1611578" cy="257685"/>
            <a:chOff x="7547500" y="6172925"/>
            <a:chExt cx="785225" cy="274320"/>
          </a:xfrm>
        </p:grpSpPr>
        <p:sp>
          <p:nvSpPr>
            <p:cNvPr id="1033" name="Rectangle 10">
              <a:extLst>
                <a:ext uri="{FF2B5EF4-FFF2-40B4-BE49-F238E27FC236}">
                  <a16:creationId xmlns:a16="http://schemas.microsoft.com/office/drawing/2014/main" id="{C1FE539C-D8C3-70D6-F9A7-9401F7913862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7559332" y="6195102"/>
              <a:ext cx="773393" cy="2329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en-US" sz="822" b="0">
                  <a:solidFill>
                    <a:schemeClr val="tx1"/>
                  </a:solidFill>
                </a:rPr>
                <a:t>OSHINEI JAPANESE</a:t>
              </a:r>
              <a:r>
                <a:rPr lang="th-TH" altLang="en-US" sz="822" b="0">
                  <a:solidFill>
                    <a:schemeClr val="tx1"/>
                  </a:solidFill>
                </a:rPr>
                <a:t> </a:t>
              </a:r>
              <a:r>
                <a:rPr lang="en-US" altLang="en-US" sz="822" b="0">
                  <a:solidFill>
                    <a:schemeClr val="tx1"/>
                  </a:solidFill>
                </a:rPr>
                <a:t>RESTAURANT</a:t>
              </a:r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89521F53-1DEA-19EA-64AB-38D52549839F}"/>
                </a:ext>
              </a:extLst>
            </p:cNvPr>
            <p:cNvCxnSpPr/>
            <p:nvPr userDrawn="1"/>
          </p:nvCxnSpPr>
          <p:spPr>
            <a:xfrm flipV="1">
              <a:off x="7547500" y="6172925"/>
              <a:ext cx="0" cy="274320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031" name="Picture 8">
            <a:extLst>
              <a:ext uri="{FF2B5EF4-FFF2-40B4-BE49-F238E27FC236}">
                <a16:creationId xmlns:a16="http://schemas.microsoft.com/office/drawing/2014/main" id="{FBFE7AAF-3664-1083-09BC-DED755CA4DA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7191" y="176139"/>
            <a:ext cx="1424810" cy="11171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8A15456-E1B9-6F48-AD9B-8F6D6122EFE5}"/>
              </a:ext>
            </a:extLst>
          </p:cNvPr>
          <p:cNvCxnSpPr/>
          <p:nvPr userDrawn="1"/>
        </p:nvCxnSpPr>
        <p:spPr>
          <a:xfrm rot="5400000" flipH="1" flipV="1">
            <a:off x="10381296" y="673569"/>
            <a:ext cx="799149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039443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52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520">
          <a:solidFill>
            <a:schemeClr val="tx1"/>
          </a:solidFill>
          <a:latin typeface="Calibri" panose="020F050202020403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520">
          <a:solidFill>
            <a:schemeClr val="tx1"/>
          </a:solidFill>
          <a:latin typeface="Calibri" panose="020F050202020403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520">
          <a:solidFill>
            <a:schemeClr val="tx1"/>
          </a:solidFill>
          <a:latin typeface="Calibri" panose="020F050202020403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520">
          <a:solidFill>
            <a:schemeClr val="tx1"/>
          </a:solidFill>
          <a:latin typeface="Calibri" panose="020F0502020204030204" pitchFamily="34" charset="0"/>
        </a:defRPr>
      </a:lvl5pPr>
      <a:lvl6pPr marL="469682" algn="ctr" rtl="0" fontAlgn="base">
        <a:spcBef>
          <a:spcPct val="0"/>
        </a:spcBef>
        <a:spcAft>
          <a:spcPct val="0"/>
        </a:spcAft>
        <a:defRPr sz="4520">
          <a:solidFill>
            <a:schemeClr val="tx1"/>
          </a:solidFill>
          <a:latin typeface="Calibri" panose="020F0502020204030204" pitchFamily="34" charset="0"/>
        </a:defRPr>
      </a:lvl6pPr>
      <a:lvl7pPr marL="939363" algn="ctr" rtl="0" fontAlgn="base">
        <a:spcBef>
          <a:spcPct val="0"/>
        </a:spcBef>
        <a:spcAft>
          <a:spcPct val="0"/>
        </a:spcAft>
        <a:defRPr sz="4520">
          <a:solidFill>
            <a:schemeClr val="tx1"/>
          </a:solidFill>
          <a:latin typeface="Calibri" panose="020F0502020204030204" pitchFamily="34" charset="0"/>
        </a:defRPr>
      </a:lvl7pPr>
      <a:lvl8pPr marL="1409045" algn="ctr" rtl="0" fontAlgn="base">
        <a:spcBef>
          <a:spcPct val="0"/>
        </a:spcBef>
        <a:spcAft>
          <a:spcPct val="0"/>
        </a:spcAft>
        <a:defRPr sz="4520">
          <a:solidFill>
            <a:schemeClr val="tx1"/>
          </a:solidFill>
          <a:latin typeface="Calibri" panose="020F0502020204030204" pitchFamily="34" charset="0"/>
        </a:defRPr>
      </a:lvl8pPr>
      <a:lvl9pPr marL="1878726" algn="ctr" rtl="0" fontAlgn="base">
        <a:spcBef>
          <a:spcPct val="0"/>
        </a:spcBef>
        <a:spcAft>
          <a:spcPct val="0"/>
        </a:spcAft>
        <a:defRPr sz="4520">
          <a:solidFill>
            <a:schemeClr val="tx1"/>
          </a:solidFill>
          <a:latin typeface="Calibri" panose="020F0502020204030204" pitchFamily="34" charset="0"/>
        </a:defRPr>
      </a:lvl9pPr>
    </p:titleStyle>
    <p:bodyStyle>
      <a:lvl1pPr marL="352261" indent="-352261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87" kern="1200">
          <a:solidFill>
            <a:schemeClr val="tx1"/>
          </a:solidFill>
          <a:latin typeface="+mn-lt"/>
          <a:ea typeface="+mn-ea"/>
          <a:cs typeface="+mn-cs"/>
        </a:defRPr>
      </a:lvl1pPr>
      <a:lvl2pPr marL="763233" indent="-293551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76" kern="1200">
          <a:solidFill>
            <a:schemeClr val="tx1"/>
          </a:solidFill>
          <a:latin typeface="+mn-lt"/>
          <a:ea typeface="+mn-ea"/>
          <a:cs typeface="+mn-cs"/>
        </a:defRPr>
      </a:lvl2pPr>
      <a:lvl3pPr marL="1174204" indent="-234841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66" kern="1200">
          <a:solidFill>
            <a:schemeClr val="tx1"/>
          </a:solidFill>
          <a:latin typeface="+mn-lt"/>
          <a:ea typeface="+mn-ea"/>
          <a:cs typeface="+mn-cs"/>
        </a:defRPr>
      </a:lvl3pPr>
      <a:lvl4pPr marL="1643885" indent="-234841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55" kern="1200">
          <a:solidFill>
            <a:schemeClr val="tx1"/>
          </a:solidFill>
          <a:latin typeface="+mn-lt"/>
          <a:ea typeface="+mn-ea"/>
          <a:cs typeface="+mn-cs"/>
        </a:defRPr>
      </a:lvl4pPr>
      <a:lvl5pPr marL="2113567" indent="-234841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55" kern="1200">
          <a:solidFill>
            <a:schemeClr val="tx1"/>
          </a:solidFill>
          <a:latin typeface="+mn-lt"/>
          <a:ea typeface="+mn-ea"/>
          <a:cs typeface="+mn-cs"/>
        </a:defRPr>
      </a:lvl5pPr>
      <a:lvl6pPr marL="2583249" indent="-234841" algn="l" defTabSz="939363" rtl="0" eaLnBrk="1" latinLnBrk="0" hangingPunct="1">
        <a:spcBef>
          <a:spcPct val="20000"/>
        </a:spcBef>
        <a:buFont typeface="Arial" pitchFamily="34" charset="0"/>
        <a:buChar char="•"/>
        <a:defRPr sz="2055" kern="1200">
          <a:solidFill>
            <a:schemeClr val="tx1"/>
          </a:solidFill>
          <a:latin typeface="+mn-lt"/>
          <a:ea typeface="+mn-ea"/>
          <a:cs typeface="+mn-cs"/>
        </a:defRPr>
      </a:lvl6pPr>
      <a:lvl7pPr marL="3052930" indent="-234841" algn="l" defTabSz="939363" rtl="0" eaLnBrk="1" latinLnBrk="0" hangingPunct="1">
        <a:spcBef>
          <a:spcPct val="20000"/>
        </a:spcBef>
        <a:buFont typeface="Arial" pitchFamily="34" charset="0"/>
        <a:buChar char="•"/>
        <a:defRPr sz="2055" kern="1200">
          <a:solidFill>
            <a:schemeClr val="tx1"/>
          </a:solidFill>
          <a:latin typeface="+mn-lt"/>
          <a:ea typeface="+mn-ea"/>
          <a:cs typeface="+mn-cs"/>
        </a:defRPr>
      </a:lvl7pPr>
      <a:lvl8pPr marL="3522612" indent="-234841" algn="l" defTabSz="939363" rtl="0" eaLnBrk="1" latinLnBrk="0" hangingPunct="1">
        <a:spcBef>
          <a:spcPct val="20000"/>
        </a:spcBef>
        <a:buFont typeface="Arial" pitchFamily="34" charset="0"/>
        <a:buChar char="•"/>
        <a:defRPr sz="2055" kern="1200">
          <a:solidFill>
            <a:schemeClr val="tx1"/>
          </a:solidFill>
          <a:latin typeface="+mn-lt"/>
          <a:ea typeface="+mn-ea"/>
          <a:cs typeface="+mn-cs"/>
        </a:defRPr>
      </a:lvl8pPr>
      <a:lvl9pPr marL="3992293" indent="-234841" algn="l" defTabSz="939363" rtl="0" eaLnBrk="1" latinLnBrk="0" hangingPunct="1">
        <a:spcBef>
          <a:spcPct val="20000"/>
        </a:spcBef>
        <a:buFont typeface="Arial" pitchFamily="34" charset="0"/>
        <a:buChar char="•"/>
        <a:defRPr sz="205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39363" rtl="0" eaLnBrk="1" latinLnBrk="0" hangingPunct="1">
        <a:defRPr sz="1849" kern="1200">
          <a:solidFill>
            <a:schemeClr val="tx1"/>
          </a:solidFill>
          <a:latin typeface="+mn-lt"/>
          <a:ea typeface="+mn-ea"/>
          <a:cs typeface="+mn-cs"/>
        </a:defRPr>
      </a:lvl1pPr>
      <a:lvl2pPr marL="469682" algn="l" defTabSz="939363" rtl="0" eaLnBrk="1" latinLnBrk="0" hangingPunct="1">
        <a:defRPr sz="1849" kern="1200">
          <a:solidFill>
            <a:schemeClr val="tx1"/>
          </a:solidFill>
          <a:latin typeface="+mn-lt"/>
          <a:ea typeface="+mn-ea"/>
          <a:cs typeface="+mn-cs"/>
        </a:defRPr>
      </a:lvl2pPr>
      <a:lvl3pPr marL="939363" algn="l" defTabSz="939363" rtl="0" eaLnBrk="1" latinLnBrk="0" hangingPunct="1">
        <a:defRPr sz="1849" kern="1200">
          <a:solidFill>
            <a:schemeClr val="tx1"/>
          </a:solidFill>
          <a:latin typeface="+mn-lt"/>
          <a:ea typeface="+mn-ea"/>
          <a:cs typeface="+mn-cs"/>
        </a:defRPr>
      </a:lvl3pPr>
      <a:lvl4pPr marL="1409045" algn="l" defTabSz="939363" rtl="0" eaLnBrk="1" latinLnBrk="0" hangingPunct="1">
        <a:defRPr sz="1849" kern="1200">
          <a:solidFill>
            <a:schemeClr val="tx1"/>
          </a:solidFill>
          <a:latin typeface="+mn-lt"/>
          <a:ea typeface="+mn-ea"/>
          <a:cs typeface="+mn-cs"/>
        </a:defRPr>
      </a:lvl4pPr>
      <a:lvl5pPr marL="1878726" algn="l" defTabSz="939363" rtl="0" eaLnBrk="1" latinLnBrk="0" hangingPunct="1">
        <a:defRPr sz="1849" kern="1200">
          <a:solidFill>
            <a:schemeClr val="tx1"/>
          </a:solidFill>
          <a:latin typeface="+mn-lt"/>
          <a:ea typeface="+mn-ea"/>
          <a:cs typeface="+mn-cs"/>
        </a:defRPr>
      </a:lvl5pPr>
      <a:lvl6pPr marL="2348408" algn="l" defTabSz="939363" rtl="0" eaLnBrk="1" latinLnBrk="0" hangingPunct="1">
        <a:defRPr sz="1849" kern="1200">
          <a:solidFill>
            <a:schemeClr val="tx1"/>
          </a:solidFill>
          <a:latin typeface="+mn-lt"/>
          <a:ea typeface="+mn-ea"/>
          <a:cs typeface="+mn-cs"/>
        </a:defRPr>
      </a:lvl6pPr>
      <a:lvl7pPr marL="2818089" algn="l" defTabSz="939363" rtl="0" eaLnBrk="1" latinLnBrk="0" hangingPunct="1">
        <a:defRPr sz="1849" kern="1200">
          <a:solidFill>
            <a:schemeClr val="tx1"/>
          </a:solidFill>
          <a:latin typeface="+mn-lt"/>
          <a:ea typeface="+mn-ea"/>
          <a:cs typeface="+mn-cs"/>
        </a:defRPr>
      </a:lvl7pPr>
      <a:lvl8pPr marL="3287771" algn="l" defTabSz="939363" rtl="0" eaLnBrk="1" latinLnBrk="0" hangingPunct="1">
        <a:defRPr sz="1849" kern="1200">
          <a:solidFill>
            <a:schemeClr val="tx1"/>
          </a:solidFill>
          <a:latin typeface="+mn-lt"/>
          <a:ea typeface="+mn-ea"/>
          <a:cs typeface="+mn-cs"/>
        </a:defRPr>
      </a:lvl8pPr>
      <a:lvl9pPr marL="3757452" algn="l" defTabSz="939363" rtl="0" eaLnBrk="1" latinLnBrk="0" hangingPunct="1">
        <a:defRPr sz="184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AC54200B-EB04-0EEC-DB7C-C1502572AF9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9796" y="273994"/>
            <a:ext cx="10972409" cy="11432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A4A5D632-59EF-3E1D-67C5-3169F8363B4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9796" y="1599929"/>
            <a:ext cx="10972409" cy="45257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D526E7-2171-3CC8-E347-6F3368874D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64982" y="6355678"/>
            <a:ext cx="3862038" cy="3653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hangingPunct="1">
              <a:defRPr sz="12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AD39BB-57AB-29BC-DB5E-6A1AD7F8D6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38448" y="6355678"/>
            <a:ext cx="2843757" cy="3653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hangingPunct="1">
              <a:defRPr sz="12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/>
              <a:t>1</a:t>
            </a:r>
          </a:p>
        </p:txBody>
      </p:sp>
      <p:grpSp>
        <p:nvGrpSpPr>
          <p:cNvPr id="1030" name="Group 9">
            <a:extLst>
              <a:ext uri="{FF2B5EF4-FFF2-40B4-BE49-F238E27FC236}">
                <a16:creationId xmlns:a16="http://schemas.microsoft.com/office/drawing/2014/main" id="{EA1E87F4-BA76-52F7-8D85-66F7357875C8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600026" y="6402974"/>
            <a:ext cx="1611578" cy="257685"/>
            <a:chOff x="7547500" y="6172925"/>
            <a:chExt cx="785225" cy="274320"/>
          </a:xfrm>
        </p:grpSpPr>
        <p:sp>
          <p:nvSpPr>
            <p:cNvPr id="1033" name="Rectangle 10">
              <a:extLst>
                <a:ext uri="{FF2B5EF4-FFF2-40B4-BE49-F238E27FC236}">
                  <a16:creationId xmlns:a16="http://schemas.microsoft.com/office/drawing/2014/main" id="{94CC78FD-070B-3CB2-6908-92B70E73DF2F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7559332" y="6195102"/>
              <a:ext cx="773393" cy="2329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en-US" sz="822" b="0">
                  <a:solidFill>
                    <a:schemeClr val="tx1"/>
                  </a:solidFill>
                </a:rPr>
                <a:t>OSHINEI JAPANESE</a:t>
              </a:r>
              <a:r>
                <a:rPr lang="th-TH" altLang="en-US" sz="822" b="0">
                  <a:solidFill>
                    <a:schemeClr val="tx1"/>
                  </a:solidFill>
                </a:rPr>
                <a:t> </a:t>
              </a:r>
              <a:r>
                <a:rPr lang="en-US" altLang="en-US" sz="822" b="0">
                  <a:solidFill>
                    <a:schemeClr val="tx1"/>
                  </a:solidFill>
                </a:rPr>
                <a:t>RESTAURANT</a:t>
              </a:r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324B64F2-3901-D3EE-645B-D70FE2E76BA1}"/>
                </a:ext>
              </a:extLst>
            </p:cNvPr>
            <p:cNvCxnSpPr/>
            <p:nvPr userDrawn="1"/>
          </p:nvCxnSpPr>
          <p:spPr>
            <a:xfrm flipV="1">
              <a:off x="7547500" y="6172925"/>
              <a:ext cx="0" cy="274320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031" name="Picture 8">
            <a:extLst>
              <a:ext uri="{FF2B5EF4-FFF2-40B4-BE49-F238E27FC236}">
                <a16:creationId xmlns:a16="http://schemas.microsoft.com/office/drawing/2014/main" id="{652E42F8-C51F-1F6B-FC39-D84682336F7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7191" y="176139"/>
            <a:ext cx="1424810" cy="11171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C1B21BF-36EC-53AE-39FD-7C5F69032271}"/>
              </a:ext>
            </a:extLst>
          </p:cNvPr>
          <p:cNvCxnSpPr/>
          <p:nvPr userDrawn="1"/>
        </p:nvCxnSpPr>
        <p:spPr>
          <a:xfrm rot="5400000" flipH="1" flipV="1">
            <a:off x="10381296" y="673569"/>
            <a:ext cx="799149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168123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52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520">
          <a:solidFill>
            <a:schemeClr val="tx1"/>
          </a:solidFill>
          <a:latin typeface="Calibri" panose="020F050202020403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520">
          <a:solidFill>
            <a:schemeClr val="tx1"/>
          </a:solidFill>
          <a:latin typeface="Calibri" panose="020F050202020403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520">
          <a:solidFill>
            <a:schemeClr val="tx1"/>
          </a:solidFill>
          <a:latin typeface="Calibri" panose="020F050202020403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520">
          <a:solidFill>
            <a:schemeClr val="tx1"/>
          </a:solidFill>
          <a:latin typeface="Calibri" panose="020F0502020204030204" pitchFamily="34" charset="0"/>
        </a:defRPr>
      </a:lvl5pPr>
      <a:lvl6pPr marL="469682" algn="ctr" rtl="0" fontAlgn="base">
        <a:spcBef>
          <a:spcPct val="0"/>
        </a:spcBef>
        <a:spcAft>
          <a:spcPct val="0"/>
        </a:spcAft>
        <a:defRPr sz="4520">
          <a:solidFill>
            <a:schemeClr val="tx1"/>
          </a:solidFill>
          <a:latin typeface="Calibri" panose="020F0502020204030204" pitchFamily="34" charset="0"/>
        </a:defRPr>
      </a:lvl6pPr>
      <a:lvl7pPr marL="939363" algn="ctr" rtl="0" fontAlgn="base">
        <a:spcBef>
          <a:spcPct val="0"/>
        </a:spcBef>
        <a:spcAft>
          <a:spcPct val="0"/>
        </a:spcAft>
        <a:defRPr sz="4520">
          <a:solidFill>
            <a:schemeClr val="tx1"/>
          </a:solidFill>
          <a:latin typeface="Calibri" panose="020F0502020204030204" pitchFamily="34" charset="0"/>
        </a:defRPr>
      </a:lvl7pPr>
      <a:lvl8pPr marL="1409045" algn="ctr" rtl="0" fontAlgn="base">
        <a:spcBef>
          <a:spcPct val="0"/>
        </a:spcBef>
        <a:spcAft>
          <a:spcPct val="0"/>
        </a:spcAft>
        <a:defRPr sz="4520">
          <a:solidFill>
            <a:schemeClr val="tx1"/>
          </a:solidFill>
          <a:latin typeface="Calibri" panose="020F0502020204030204" pitchFamily="34" charset="0"/>
        </a:defRPr>
      </a:lvl8pPr>
      <a:lvl9pPr marL="1878726" algn="ctr" rtl="0" fontAlgn="base">
        <a:spcBef>
          <a:spcPct val="0"/>
        </a:spcBef>
        <a:spcAft>
          <a:spcPct val="0"/>
        </a:spcAft>
        <a:defRPr sz="4520">
          <a:solidFill>
            <a:schemeClr val="tx1"/>
          </a:solidFill>
          <a:latin typeface="Calibri" panose="020F0502020204030204" pitchFamily="34" charset="0"/>
        </a:defRPr>
      </a:lvl9pPr>
    </p:titleStyle>
    <p:bodyStyle>
      <a:lvl1pPr marL="352261" indent="-352261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87" kern="1200">
          <a:solidFill>
            <a:schemeClr val="tx1"/>
          </a:solidFill>
          <a:latin typeface="+mn-lt"/>
          <a:ea typeface="+mn-ea"/>
          <a:cs typeface="+mn-cs"/>
        </a:defRPr>
      </a:lvl1pPr>
      <a:lvl2pPr marL="763233" indent="-293551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76" kern="1200">
          <a:solidFill>
            <a:schemeClr val="tx1"/>
          </a:solidFill>
          <a:latin typeface="+mn-lt"/>
          <a:ea typeface="+mn-ea"/>
          <a:cs typeface="+mn-cs"/>
        </a:defRPr>
      </a:lvl2pPr>
      <a:lvl3pPr marL="1174204" indent="-234841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66" kern="1200">
          <a:solidFill>
            <a:schemeClr val="tx1"/>
          </a:solidFill>
          <a:latin typeface="+mn-lt"/>
          <a:ea typeface="+mn-ea"/>
          <a:cs typeface="+mn-cs"/>
        </a:defRPr>
      </a:lvl3pPr>
      <a:lvl4pPr marL="1643885" indent="-234841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55" kern="1200">
          <a:solidFill>
            <a:schemeClr val="tx1"/>
          </a:solidFill>
          <a:latin typeface="+mn-lt"/>
          <a:ea typeface="+mn-ea"/>
          <a:cs typeface="+mn-cs"/>
        </a:defRPr>
      </a:lvl4pPr>
      <a:lvl5pPr marL="2113567" indent="-234841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55" kern="1200">
          <a:solidFill>
            <a:schemeClr val="tx1"/>
          </a:solidFill>
          <a:latin typeface="+mn-lt"/>
          <a:ea typeface="+mn-ea"/>
          <a:cs typeface="+mn-cs"/>
        </a:defRPr>
      </a:lvl5pPr>
      <a:lvl6pPr marL="2583249" indent="-234841" algn="l" defTabSz="939363" rtl="0" eaLnBrk="1" latinLnBrk="0" hangingPunct="1">
        <a:spcBef>
          <a:spcPct val="20000"/>
        </a:spcBef>
        <a:buFont typeface="Arial" pitchFamily="34" charset="0"/>
        <a:buChar char="•"/>
        <a:defRPr sz="2055" kern="1200">
          <a:solidFill>
            <a:schemeClr val="tx1"/>
          </a:solidFill>
          <a:latin typeface="+mn-lt"/>
          <a:ea typeface="+mn-ea"/>
          <a:cs typeface="+mn-cs"/>
        </a:defRPr>
      </a:lvl6pPr>
      <a:lvl7pPr marL="3052930" indent="-234841" algn="l" defTabSz="939363" rtl="0" eaLnBrk="1" latinLnBrk="0" hangingPunct="1">
        <a:spcBef>
          <a:spcPct val="20000"/>
        </a:spcBef>
        <a:buFont typeface="Arial" pitchFamily="34" charset="0"/>
        <a:buChar char="•"/>
        <a:defRPr sz="2055" kern="1200">
          <a:solidFill>
            <a:schemeClr val="tx1"/>
          </a:solidFill>
          <a:latin typeface="+mn-lt"/>
          <a:ea typeface="+mn-ea"/>
          <a:cs typeface="+mn-cs"/>
        </a:defRPr>
      </a:lvl7pPr>
      <a:lvl8pPr marL="3522612" indent="-234841" algn="l" defTabSz="939363" rtl="0" eaLnBrk="1" latinLnBrk="0" hangingPunct="1">
        <a:spcBef>
          <a:spcPct val="20000"/>
        </a:spcBef>
        <a:buFont typeface="Arial" pitchFamily="34" charset="0"/>
        <a:buChar char="•"/>
        <a:defRPr sz="2055" kern="1200">
          <a:solidFill>
            <a:schemeClr val="tx1"/>
          </a:solidFill>
          <a:latin typeface="+mn-lt"/>
          <a:ea typeface="+mn-ea"/>
          <a:cs typeface="+mn-cs"/>
        </a:defRPr>
      </a:lvl8pPr>
      <a:lvl9pPr marL="3992293" indent="-234841" algn="l" defTabSz="939363" rtl="0" eaLnBrk="1" latinLnBrk="0" hangingPunct="1">
        <a:spcBef>
          <a:spcPct val="20000"/>
        </a:spcBef>
        <a:buFont typeface="Arial" pitchFamily="34" charset="0"/>
        <a:buChar char="•"/>
        <a:defRPr sz="205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39363" rtl="0" eaLnBrk="1" latinLnBrk="0" hangingPunct="1">
        <a:defRPr sz="1849" kern="1200">
          <a:solidFill>
            <a:schemeClr val="tx1"/>
          </a:solidFill>
          <a:latin typeface="+mn-lt"/>
          <a:ea typeface="+mn-ea"/>
          <a:cs typeface="+mn-cs"/>
        </a:defRPr>
      </a:lvl1pPr>
      <a:lvl2pPr marL="469682" algn="l" defTabSz="939363" rtl="0" eaLnBrk="1" latinLnBrk="0" hangingPunct="1">
        <a:defRPr sz="1849" kern="1200">
          <a:solidFill>
            <a:schemeClr val="tx1"/>
          </a:solidFill>
          <a:latin typeface="+mn-lt"/>
          <a:ea typeface="+mn-ea"/>
          <a:cs typeface="+mn-cs"/>
        </a:defRPr>
      </a:lvl2pPr>
      <a:lvl3pPr marL="939363" algn="l" defTabSz="939363" rtl="0" eaLnBrk="1" latinLnBrk="0" hangingPunct="1">
        <a:defRPr sz="1849" kern="1200">
          <a:solidFill>
            <a:schemeClr val="tx1"/>
          </a:solidFill>
          <a:latin typeface="+mn-lt"/>
          <a:ea typeface="+mn-ea"/>
          <a:cs typeface="+mn-cs"/>
        </a:defRPr>
      </a:lvl3pPr>
      <a:lvl4pPr marL="1409045" algn="l" defTabSz="939363" rtl="0" eaLnBrk="1" latinLnBrk="0" hangingPunct="1">
        <a:defRPr sz="1849" kern="1200">
          <a:solidFill>
            <a:schemeClr val="tx1"/>
          </a:solidFill>
          <a:latin typeface="+mn-lt"/>
          <a:ea typeface="+mn-ea"/>
          <a:cs typeface="+mn-cs"/>
        </a:defRPr>
      </a:lvl4pPr>
      <a:lvl5pPr marL="1878726" algn="l" defTabSz="939363" rtl="0" eaLnBrk="1" latinLnBrk="0" hangingPunct="1">
        <a:defRPr sz="1849" kern="1200">
          <a:solidFill>
            <a:schemeClr val="tx1"/>
          </a:solidFill>
          <a:latin typeface="+mn-lt"/>
          <a:ea typeface="+mn-ea"/>
          <a:cs typeface="+mn-cs"/>
        </a:defRPr>
      </a:lvl5pPr>
      <a:lvl6pPr marL="2348408" algn="l" defTabSz="939363" rtl="0" eaLnBrk="1" latinLnBrk="0" hangingPunct="1">
        <a:defRPr sz="1849" kern="1200">
          <a:solidFill>
            <a:schemeClr val="tx1"/>
          </a:solidFill>
          <a:latin typeface="+mn-lt"/>
          <a:ea typeface="+mn-ea"/>
          <a:cs typeface="+mn-cs"/>
        </a:defRPr>
      </a:lvl6pPr>
      <a:lvl7pPr marL="2818089" algn="l" defTabSz="939363" rtl="0" eaLnBrk="1" latinLnBrk="0" hangingPunct="1">
        <a:defRPr sz="1849" kern="1200">
          <a:solidFill>
            <a:schemeClr val="tx1"/>
          </a:solidFill>
          <a:latin typeface="+mn-lt"/>
          <a:ea typeface="+mn-ea"/>
          <a:cs typeface="+mn-cs"/>
        </a:defRPr>
      </a:lvl7pPr>
      <a:lvl8pPr marL="3287771" algn="l" defTabSz="939363" rtl="0" eaLnBrk="1" latinLnBrk="0" hangingPunct="1">
        <a:defRPr sz="1849" kern="1200">
          <a:solidFill>
            <a:schemeClr val="tx1"/>
          </a:solidFill>
          <a:latin typeface="+mn-lt"/>
          <a:ea typeface="+mn-ea"/>
          <a:cs typeface="+mn-cs"/>
        </a:defRPr>
      </a:lvl8pPr>
      <a:lvl9pPr marL="3757452" algn="l" defTabSz="939363" rtl="0" eaLnBrk="1" latinLnBrk="0" hangingPunct="1">
        <a:defRPr sz="184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DFD0DE84-A776-D972-B292-953161F484F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9796" y="273994"/>
            <a:ext cx="10972409" cy="11432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2E726147-B212-BE41-4BFD-F8A73510898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9796" y="1599929"/>
            <a:ext cx="10972409" cy="45257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EB93B1-8551-F974-904E-DE9D6B7FDA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64982" y="6355678"/>
            <a:ext cx="3862038" cy="3653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hangingPunct="1">
              <a:defRPr sz="12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A29DC3-8C2C-F7E1-E2FE-3AB34F43C7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38448" y="6355678"/>
            <a:ext cx="2843757" cy="3653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hangingPunct="1">
              <a:defRPr sz="12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/>
              <a:t>1</a:t>
            </a:r>
          </a:p>
        </p:txBody>
      </p:sp>
      <p:grpSp>
        <p:nvGrpSpPr>
          <p:cNvPr id="1030" name="Group 9">
            <a:extLst>
              <a:ext uri="{FF2B5EF4-FFF2-40B4-BE49-F238E27FC236}">
                <a16:creationId xmlns:a16="http://schemas.microsoft.com/office/drawing/2014/main" id="{0559C877-52AF-5468-0111-3CF0C0D577D4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600026" y="6402974"/>
            <a:ext cx="1611578" cy="257685"/>
            <a:chOff x="7547500" y="6172925"/>
            <a:chExt cx="785225" cy="274320"/>
          </a:xfrm>
        </p:grpSpPr>
        <p:sp>
          <p:nvSpPr>
            <p:cNvPr id="1033" name="Rectangle 10">
              <a:extLst>
                <a:ext uri="{FF2B5EF4-FFF2-40B4-BE49-F238E27FC236}">
                  <a16:creationId xmlns:a16="http://schemas.microsoft.com/office/drawing/2014/main" id="{DF7EC332-F09F-D360-1ACF-A556FB726289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7559332" y="6195102"/>
              <a:ext cx="773393" cy="2329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en-US" sz="822" b="0">
                  <a:solidFill>
                    <a:schemeClr val="tx1"/>
                  </a:solidFill>
                </a:rPr>
                <a:t>OSHINEI JAPANESE</a:t>
              </a:r>
              <a:r>
                <a:rPr lang="th-TH" altLang="en-US" sz="822" b="0">
                  <a:solidFill>
                    <a:schemeClr val="tx1"/>
                  </a:solidFill>
                </a:rPr>
                <a:t> </a:t>
              </a:r>
              <a:r>
                <a:rPr lang="en-US" altLang="en-US" sz="822" b="0">
                  <a:solidFill>
                    <a:schemeClr val="tx1"/>
                  </a:solidFill>
                </a:rPr>
                <a:t>RESTAURANT</a:t>
              </a:r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12017CCF-AEBB-3C07-38BE-1F83030FD3AB}"/>
                </a:ext>
              </a:extLst>
            </p:cNvPr>
            <p:cNvCxnSpPr/>
            <p:nvPr userDrawn="1"/>
          </p:nvCxnSpPr>
          <p:spPr>
            <a:xfrm flipV="1">
              <a:off x="7547500" y="6172925"/>
              <a:ext cx="0" cy="274320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031" name="Picture 8">
            <a:extLst>
              <a:ext uri="{FF2B5EF4-FFF2-40B4-BE49-F238E27FC236}">
                <a16:creationId xmlns:a16="http://schemas.microsoft.com/office/drawing/2014/main" id="{B7D7193E-D306-2F00-EFC4-2C625FA5E24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7191" y="176139"/>
            <a:ext cx="1424810" cy="11171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28BA17B-A9D2-E609-D28D-C6392ED3E721}"/>
              </a:ext>
            </a:extLst>
          </p:cNvPr>
          <p:cNvCxnSpPr/>
          <p:nvPr userDrawn="1"/>
        </p:nvCxnSpPr>
        <p:spPr>
          <a:xfrm rot="5400000" flipH="1" flipV="1">
            <a:off x="10381296" y="673569"/>
            <a:ext cx="799149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346320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52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520">
          <a:solidFill>
            <a:schemeClr val="tx1"/>
          </a:solidFill>
          <a:latin typeface="Calibri" panose="020F050202020403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520">
          <a:solidFill>
            <a:schemeClr val="tx1"/>
          </a:solidFill>
          <a:latin typeface="Calibri" panose="020F050202020403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520">
          <a:solidFill>
            <a:schemeClr val="tx1"/>
          </a:solidFill>
          <a:latin typeface="Calibri" panose="020F050202020403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520">
          <a:solidFill>
            <a:schemeClr val="tx1"/>
          </a:solidFill>
          <a:latin typeface="Calibri" panose="020F0502020204030204" pitchFamily="34" charset="0"/>
        </a:defRPr>
      </a:lvl5pPr>
      <a:lvl6pPr marL="469682" algn="ctr" rtl="0" fontAlgn="base">
        <a:spcBef>
          <a:spcPct val="0"/>
        </a:spcBef>
        <a:spcAft>
          <a:spcPct val="0"/>
        </a:spcAft>
        <a:defRPr sz="4520">
          <a:solidFill>
            <a:schemeClr val="tx1"/>
          </a:solidFill>
          <a:latin typeface="Calibri" panose="020F0502020204030204" pitchFamily="34" charset="0"/>
        </a:defRPr>
      </a:lvl6pPr>
      <a:lvl7pPr marL="939363" algn="ctr" rtl="0" fontAlgn="base">
        <a:spcBef>
          <a:spcPct val="0"/>
        </a:spcBef>
        <a:spcAft>
          <a:spcPct val="0"/>
        </a:spcAft>
        <a:defRPr sz="4520">
          <a:solidFill>
            <a:schemeClr val="tx1"/>
          </a:solidFill>
          <a:latin typeface="Calibri" panose="020F0502020204030204" pitchFamily="34" charset="0"/>
        </a:defRPr>
      </a:lvl7pPr>
      <a:lvl8pPr marL="1409045" algn="ctr" rtl="0" fontAlgn="base">
        <a:spcBef>
          <a:spcPct val="0"/>
        </a:spcBef>
        <a:spcAft>
          <a:spcPct val="0"/>
        </a:spcAft>
        <a:defRPr sz="4520">
          <a:solidFill>
            <a:schemeClr val="tx1"/>
          </a:solidFill>
          <a:latin typeface="Calibri" panose="020F0502020204030204" pitchFamily="34" charset="0"/>
        </a:defRPr>
      </a:lvl8pPr>
      <a:lvl9pPr marL="1878726" algn="ctr" rtl="0" fontAlgn="base">
        <a:spcBef>
          <a:spcPct val="0"/>
        </a:spcBef>
        <a:spcAft>
          <a:spcPct val="0"/>
        </a:spcAft>
        <a:defRPr sz="4520">
          <a:solidFill>
            <a:schemeClr val="tx1"/>
          </a:solidFill>
          <a:latin typeface="Calibri" panose="020F0502020204030204" pitchFamily="34" charset="0"/>
        </a:defRPr>
      </a:lvl9pPr>
    </p:titleStyle>
    <p:bodyStyle>
      <a:lvl1pPr marL="352261" indent="-352261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87" kern="1200">
          <a:solidFill>
            <a:schemeClr val="tx1"/>
          </a:solidFill>
          <a:latin typeface="+mn-lt"/>
          <a:ea typeface="+mn-ea"/>
          <a:cs typeface="+mn-cs"/>
        </a:defRPr>
      </a:lvl1pPr>
      <a:lvl2pPr marL="763233" indent="-293551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76" kern="1200">
          <a:solidFill>
            <a:schemeClr val="tx1"/>
          </a:solidFill>
          <a:latin typeface="+mn-lt"/>
          <a:ea typeface="+mn-ea"/>
          <a:cs typeface="+mn-cs"/>
        </a:defRPr>
      </a:lvl2pPr>
      <a:lvl3pPr marL="1174204" indent="-234841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66" kern="1200">
          <a:solidFill>
            <a:schemeClr val="tx1"/>
          </a:solidFill>
          <a:latin typeface="+mn-lt"/>
          <a:ea typeface="+mn-ea"/>
          <a:cs typeface="+mn-cs"/>
        </a:defRPr>
      </a:lvl3pPr>
      <a:lvl4pPr marL="1643885" indent="-234841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55" kern="1200">
          <a:solidFill>
            <a:schemeClr val="tx1"/>
          </a:solidFill>
          <a:latin typeface="+mn-lt"/>
          <a:ea typeface="+mn-ea"/>
          <a:cs typeface="+mn-cs"/>
        </a:defRPr>
      </a:lvl4pPr>
      <a:lvl5pPr marL="2113567" indent="-234841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55" kern="1200">
          <a:solidFill>
            <a:schemeClr val="tx1"/>
          </a:solidFill>
          <a:latin typeface="+mn-lt"/>
          <a:ea typeface="+mn-ea"/>
          <a:cs typeface="+mn-cs"/>
        </a:defRPr>
      </a:lvl5pPr>
      <a:lvl6pPr marL="2583249" indent="-234841" algn="l" defTabSz="939363" rtl="0" eaLnBrk="1" latinLnBrk="0" hangingPunct="1">
        <a:spcBef>
          <a:spcPct val="20000"/>
        </a:spcBef>
        <a:buFont typeface="Arial" pitchFamily="34" charset="0"/>
        <a:buChar char="•"/>
        <a:defRPr sz="2055" kern="1200">
          <a:solidFill>
            <a:schemeClr val="tx1"/>
          </a:solidFill>
          <a:latin typeface="+mn-lt"/>
          <a:ea typeface="+mn-ea"/>
          <a:cs typeface="+mn-cs"/>
        </a:defRPr>
      </a:lvl6pPr>
      <a:lvl7pPr marL="3052930" indent="-234841" algn="l" defTabSz="939363" rtl="0" eaLnBrk="1" latinLnBrk="0" hangingPunct="1">
        <a:spcBef>
          <a:spcPct val="20000"/>
        </a:spcBef>
        <a:buFont typeface="Arial" pitchFamily="34" charset="0"/>
        <a:buChar char="•"/>
        <a:defRPr sz="2055" kern="1200">
          <a:solidFill>
            <a:schemeClr val="tx1"/>
          </a:solidFill>
          <a:latin typeface="+mn-lt"/>
          <a:ea typeface="+mn-ea"/>
          <a:cs typeface="+mn-cs"/>
        </a:defRPr>
      </a:lvl7pPr>
      <a:lvl8pPr marL="3522612" indent="-234841" algn="l" defTabSz="939363" rtl="0" eaLnBrk="1" latinLnBrk="0" hangingPunct="1">
        <a:spcBef>
          <a:spcPct val="20000"/>
        </a:spcBef>
        <a:buFont typeface="Arial" pitchFamily="34" charset="0"/>
        <a:buChar char="•"/>
        <a:defRPr sz="2055" kern="1200">
          <a:solidFill>
            <a:schemeClr val="tx1"/>
          </a:solidFill>
          <a:latin typeface="+mn-lt"/>
          <a:ea typeface="+mn-ea"/>
          <a:cs typeface="+mn-cs"/>
        </a:defRPr>
      </a:lvl8pPr>
      <a:lvl9pPr marL="3992293" indent="-234841" algn="l" defTabSz="939363" rtl="0" eaLnBrk="1" latinLnBrk="0" hangingPunct="1">
        <a:spcBef>
          <a:spcPct val="20000"/>
        </a:spcBef>
        <a:buFont typeface="Arial" pitchFamily="34" charset="0"/>
        <a:buChar char="•"/>
        <a:defRPr sz="205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39363" rtl="0" eaLnBrk="1" latinLnBrk="0" hangingPunct="1">
        <a:defRPr sz="1849" kern="1200">
          <a:solidFill>
            <a:schemeClr val="tx1"/>
          </a:solidFill>
          <a:latin typeface="+mn-lt"/>
          <a:ea typeface="+mn-ea"/>
          <a:cs typeface="+mn-cs"/>
        </a:defRPr>
      </a:lvl1pPr>
      <a:lvl2pPr marL="469682" algn="l" defTabSz="939363" rtl="0" eaLnBrk="1" latinLnBrk="0" hangingPunct="1">
        <a:defRPr sz="1849" kern="1200">
          <a:solidFill>
            <a:schemeClr val="tx1"/>
          </a:solidFill>
          <a:latin typeface="+mn-lt"/>
          <a:ea typeface="+mn-ea"/>
          <a:cs typeface="+mn-cs"/>
        </a:defRPr>
      </a:lvl2pPr>
      <a:lvl3pPr marL="939363" algn="l" defTabSz="939363" rtl="0" eaLnBrk="1" latinLnBrk="0" hangingPunct="1">
        <a:defRPr sz="1849" kern="1200">
          <a:solidFill>
            <a:schemeClr val="tx1"/>
          </a:solidFill>
          <a:latin typeface="+mn-lt"/>
          <a:ea typeface="+mn-ea"/>
          <a:cs typeface="+mn-cs"/>
        </a:defRPr>
      </a:lvl3pPr>
      <a:lvl4pPr marL="1409045" algn="l" defTabSz="939363" rtl="0" eaLnBrk="1" latinLnBrk="0" hangingPunct="1">
        <a:defRPr sz="1849" kern="1200">
          <a:solidFill>
            <a:schemeClr val="tx1"/>
          </a:solidFill>
          <a:latin typeface="+mn-lt"/>
          <a:ea typeface="+mn-ea"/>
          <a:cs typeface="+mn-cs"/>
        </a:defRPr>
      </a:lvl4pPr>
      <a:lvl5pPr marL="1878726" algn="l" defTabSz="939363" rtl="0" eaLnBrk="1" latinLnBrk="0" hangingPunct="1">
        <a:defRPr sz="1849" kern="1200">
          <a:solidFill>
            <a:schemeClr val="tx1"/>
          </a:solidFill>
          <a:latin typeface="+mn-lt"/>
          <a:ea typeface="+mn-ea"/>
          <a:cs typeface="+mn-cs"/>
        </a:defRPr>
      </a:lvl5pPr>
      <a:lvl6pPr marL="2348408" algn="l" defTabSz="939363" rtl="0" eaLnBrk="1" latinLnBrk="0" hangingPunct="1">
        <a:defRPr sz="1849" kern="1200">
          <a:solidFill>
            <a:schemeClr val="tx1"/>
          </a:solidFill>
          <a:latin typeface="+mn-lt"/>
          <a:ea typeface="+mn-ea"/>
          <a:cs typeface="+mn-cs"/>
        </a:defRPr>
      </a:lvl6pPr>
      <a:lvl7pPr marL="2818089" algn="l" defTabSz="939363" rtl="0" eaLnBrk="1" latinLnBrk="0" hangingPunct="1">
        <a:defRPr sz="1849" kern="1200">
          <a:solidFill>
            <a:schemeClr val="tx1"/>
          </a:solidFill>
          <a:latin typeface="+mn-lt"/>
          <a:ea typeface="+mn-ea"/>
          <a:cs typeface="+mn-cs"/>
        </a:defRPr>
      </a:lvl7pPr>
      <a:lvl8pPr marL="3287771" algn="l" defTabSz="939363" rtl="0" eaLnBrk="1" latinLnBrk="0" hangingPunct="1">
        <a:defRPr sz="1849" kern="1200">
          <a:solidFill>
            <a:schemeClr val="tx1"/>
          </a:solidFill>
          <a:latin typeface="+mn-lt"/>
          <a:ea typeface="+mn-ea"/>
          <a:cs typeface="+mn-cs"/>
        </a:defRPr>
      </a:lvl8pPr>
      <a:lvl9pPr marL="3757452" algn="l" defTabSz="939363" rtl="0" eaLnBrk="1" latinLnBrk="0" hangingPunct="1">
        <a:defRPr sz="184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0578" cy="6858000"/>
          </a:xfrm>
          <a:prstGeom prst="rect">
            <a:avLst/>
          </a:prstGeom>
          <a:solidFill>
            <a:srgbClr val="203C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0785" y="51759"/>
            <a:ext cx="1171755" cy="117175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3826" y="6338272"/>
            <a:ext cx="11098174" cy="36200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00000" y="230000"/>
            <a:ext cx="1115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i="0" spc="15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OSHINEI ENTERPRISE ERP  ·  รายงานสรุปสำหรับที่ประชุม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0000" y="2550000"/>
            <a:ext cx="10300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203C81"/>
                </a:solidFill>
                <a:latin typeface="Tahoma"/>
                <a:ea typeface="Tahoma"/>
                <a:cs typeface="Tahoma"/>
              </a:rPr>
              <a:t>ต้นทุนวัตถุดิบเทียบยอดขาย</a:t>
            </a:r>
          </a:p>
          <a:p>
            <a:pPr algn="ctr">
              <a:spcBef>
                <a:spcPts val="600"/>
              </a:spcBef>
            </a:pPr>
            <a:r>
              <a:rPr sz="3200" b="1" i="0">
                <a:solidFill>
                  <a:srgbClr val="203C81"/>
                </a:solidFill>
                <a:latin typeface="Tahoma"/>
                <a:ea typeface="Tahoma"/>
                <a:cs typeface="Tahoma"/>
              </a:rPr>
              <a:t>และแผนสั่งซื้อวัตถุดิบหลัก 48 ชนิด แยกรายสาขา</a:t>
            </a:r>
          </a:p>
        </p:txBody>
      </p:sp>
      <p:sp>
        <p:nvSpPr>
          <p:cNvPr id="7" name="Alternate process 6"/>
          <p:cNvSpPr/>
          <p:nvPr/>
        </p:nvSpPr>
        <p:spPr>
          <a:xfrm>
            <a:off x="3672056" y="4300000"/>
            <a:ext cx="4850000" cy="600000"/>
          </a:xfrm>
          <a:prstGeom prst="flowChartAlternateProcess">
            <a:avLst/>
          </a:prstGeom>
          <a:solidFill>
            <a:srgbClr val="203C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 i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รายงานประจำเดือน · 22 กันยายน 2569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0000" y="5150000"/>
            <a:ext cx="103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ฐานหลัก: สิงหาคม 2569 (เดือนล่าสุดที่ปิดครบเดือน)  ·  แผนสั่งซื้อ: ข้อมูลขาย 28 วันล่าสุด  ·  28 สาขา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0000" y="5150000"/>
            <a:ext cx="103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0578" cy="6858000"/>
          </a:xfrm>
          <a:prstGeom prst="rect">
            <a:avLst/>
          </a:prstGeom>
          <a:solidFill>
            <a:srgbClr val="203C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0785" y="51759"/>
            <a:ext cx="1171755" cy="117175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00000" y="230000"/>
            <a:ext cx="1115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i="0" spc="15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ระเบียบวาระ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00" y="420000"/>
            <a:ext cx="1115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203C81"/>
                </a:solidFill>
                <a:latin typeface="Tahoma"/>
                <a:ea typeface="Tahoma"/>
                <a:cs typeface="Tahoma"/>
              </a:rPr>
              <a:t>หัวข้อในรายงานฉบับนี้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0000" y="1400000"/>
            <a:ext cx="11150000" cy="2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1600"/>
              </a:spcAft>
              <a:buClr>
                <a:srgbClr val="203C81"/>
              </a:buClr>
              <a:buFont typeface="Tahoma"/>
              <a:buChar char="—"/>
            </a:pPr>
            <a:r>
              <a:rPr sz="1500" b="0" i="0">
                <a:solidFill>
                  <a:srgbClr val="1F2937"/>
                </a:solidFill>
                <a:latin typeface="Tahoma"/>
                <a:ea typeface="Tahoma"/>
                <a:cs typeface="Tahoma"/>
              </a:rPr>
              <a:t>1.  ยอดซื้อ (ต้นทุนวัตถุดิบ) เทียบยอดขาย — ต้นทุนวัตถุดิบตามสูตร (BoM) เทียบยอดขาย รายสาขา</a:t>
            </a:r>
          </a:p>
          <a:p>
            <a:pPr marL="228600" indent="-228600">
              <a:spcAft>
                <a:spcPts val="1600"/>
              </a:spcAft>
              <a:buClr>
                <a:srgbClr val="203C81"/>
              </a:buClr>
              <a:buFont typeface="Tahoma"/>
              <a:buChar char="—"/>
            </a:pPr>
            <a:r>
              <a:rPr sz="1500" b="0" i="0">
                <a:solidFill>
                  <a:srgbClr val="1F2937"/>
                </a:solidFill>
                <a:latin typeface="Tahoma"/>
                <a:ea typeface="Tahoma"/>
                <a:cs typeface="Tahoma"/>
              </a:rPr>
              <a:t>2.  แผนสั่งซื้อวัตถุดิบหลัก 48 ชนิด แยกรายสาขา — ปริมาณที่ควรสั่งซื้อ คำนวณจากยอดขายจริง × สูตรอาหาร</a:t>
            </a:r>
          </a:p>
          <a:p>
            <a:pPr marL="228600" indent="-228600">
              <a:spcAft>
                <a:spcPts val="1600"/>
              </a:spcAft>
              <a:buClr>
                <a:srgbClr val="203C81"/>
              </a:buClr>
              <a:buFont typeface="Tahoma"/>
              <a:buChar char="—"/>
            </a:pPr>
            <a:r>
              <a:rPr sz="1500" b="0" i="0">
                <a:solidFill>
                  <a:srgbClr val="1F2937"/>
                </a:solidFill>
                <a:latin typeface="Tahoma"/>
                <a:ea typeface="Tahoma"/>
                <a:cs typeface="Tahoma"/>
              </a:rPr>
              <a:t>3.  รายละเอียดรายสาขา — สถิติ เมนูต้นทุนขึ้น/ลงสูงสุด และวัตถุดิบมูลค่าสูงสุด ของแต่ละสาขา (28 สาขา)</a:t>
            </a:r>
          </a:p>
          <a:p>
            <a:pPr marL="228600" indent="-228600">
              <a:spcAft>
                <a:spcPts val="1600"/>
              </a:spcAft>
              <a:buClr>
                <a:srgbClr val="203C81"/>
              </a:buClr>
              <a:buFont typeface="Tahoma"/>
              <a:buChar char="—"/>
            </a:pPr>
            <a:r>
              <a:rPr sz="1500" b="0" i="0">
                <a:solidFill>
                  <a:srgbClr val="1F2937"/>
                </a:solidFill>
                <a:latin typeface="Tahoma"/>
                <a:ea typeface="Tahoma"/>
                <a:cs typeface="Tahoma"/>
              </a:rPr>
              <a:t>4.  งานที่ควรเห็นเพิ่มเติม — รายการที่ควรตรวจสอบ/ดำเนินการต่อ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0000" y="4550000"/>
            <a:ext cx="11150000" cy="900000"/>
          </a:xfrm>
          <a:prstGeom prst="roundRect">
            <a:avLst>
              <a:gd name="adj" fmla="val 6000"/>
            </a:avLst>
          </a:prstGeom>
          <a:solidFill>
            <a:srgbClr val="ECFDF5"/>
          </a:solidFill>
          <a:ln w="9525">
            <a:solidFill>
              <a:srgbClr val="203C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0000" tIns="90000" rIns="160000"/>
          <a:lstStyle/>
          <a:p>
            <a:pPr algn="ctr"/>
            <a:r>
              <a:rPr sz="1300" b="0" i="0">
                <a:solidFill>
                  <a:srgbClr val="1F2937"/>
                </a:solidFill>
                <a:latin typeface="Tahoma"/>
                <a:ea typeface="Tahoma"/>
                <a:cs typeface="Tahoma"/>
              </a:rPr>
              <a:t>หมายเหตุสำคัญ: ระบบยังไม่มีข้อมูล "ยอดซื้อจริง" — ตัวเลขต้นทุนในหน้าถัดไปเป็นค่าทฤษฎีจากสูตรอาหาร (BoM) ไม่ใช่ยอดซื้อจากใบสั่งซื้อจริง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0000" y="6600000"/>
            <a:ext cx="11150000" cy="2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Oshinei · ต้นทุนวัตถุดิบเทียบยอดขาย &amp; แผนสั่งซื้อวัตถุดิบหลัก 48 ชนิด  ·  2/92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0578" cy="6858000"/>
          </a:xfrm>
          <a:prstGeom prst="rect">
            <a:avLst/>
          </a:prstGeom>
          <a:solidFill>
            <a:srgbClr val="203C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0785" y="51759"/>
            <a:ext cx="1171755" cy="117175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00000" y="230000"/>
            <a:ext cx="1115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i="0" spc="15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ส่วนที่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00" y="420000"/>
            <a:ext cx="1115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203C81"/>
                </a:solidFill>
                <a:latin typeface="Tahoma"/>
                <a:ea typeface="Tahoma"/>
                <a:cs typeface="Tahoma"/>
              </a:rPr>
              <a:t>ยอดซื้อ (ต้นทุนวัตถุดิบ) เทียบยอดขาย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0000" y="950000"/>
            <a:ext cx="1115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สิงหาคม 2569 · เทียบยอดขายเดือนล่าสุดที่ปิดครบเดือน · 28 สาขา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0000" y="1450000"/>
            <a:ext cx="2682500" cy="125000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0000" rIns="120000" tIns="110000" bIns="80000"/>
          <a:lstStyle/>
          <a:p>
            <a:pPr algn="ctr"/>
            <a:r>
              <a:rPr sz="1100" b="0" i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ยอดขาย (ไม่รวม VAT)</a:t>
            </a:r>
          </a:p>
          <a:p>
            <a:pPr>
              <a:spcBef>
                <a:spcPts val="400"/>
              </a:spcBef>
            </a:pPr>
            <a:r>
              <a:rPr sz="2000" b="1" i="0">
                <a:solidFill>
                  <a:srgbClr val="1F2937"/>
                </a:solidFill>
                <a:latin typeface="Tahoma"/>
                <a:ea typeface="Tahoma"/>
                <a:cs typeface="Tahoma"/>
              </a:rPr>
              <a:t>฿94,146,777</a:t>
            </a:r>
          </a:p>
          <a:p>
            <a:pPr>
              <a:spcBef>
                <a:spcPts val="400"/>
              </a:spcBef>
            </a:pPr>
            <a:r>
              <a:rPr sz="1050" b="0" i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สิงหาคม 2569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2500" y="1450000"/>
            <a:ext cx="2682500" cy="125000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0000" rIns="120000" tIns="110000" bIns="80000"/>
          <a:lstStyle/>
          <a:p>
            <a:pPr algn="ctr"/>
            <a:r>
              <a:rPr sz="1100" b="0" i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ต้นทุนวัตถุดิบตามสูตร (ทฤษฎี)</a:t>
            </a:r>
          </a:p>
          <a:p>
            <a:pPr>
              <a:spcBef>
                <a:spcPts val="400"/>
              </a:spcBef>
            </a:pPr>
            <a:r>
              <a:rPr sz="2000" b="1" i="0">
                <a:solidFill>
                  <a:srgbClr val="1F2937"/>
                </a:solidFill>
                <a:latin typeface="Tahoma"/>
                <a:ea typeface="Tahoma"/>
                <a:cs typeface="Tahoma"/>
              </a:rPr>
              <a:t>฿57,138,635</a:t>
            </a:r>
          </a:p>
          <a:p>
            <a:pPr>
              <a:spcBef>
                <a:spcPts val="400"/>
              </a:spcBef>
            </a:pPr>
            <a:r>
              <a:rPr sz="1050" b="0" i="0">
                <a:solidFill>
                  <a:srgbClr val="B91C1C"/>
                </a:solidFill>
                <a:latin typeface="Tahoma"/>
                <a:ea typeface="Tahoma"/>
                <a:cs typeface="Tahoma"/>
              </a:rPr>
              <a:t>66.8% ของยอดขาย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5000" y="1450000"/>
            <a:ext cx="2682500" cy="125000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0000" rIns="120000" tIns="110000" bIns="80000"/>
          <a:lstStyle/>
          <a:p>
            <a:pPr algn="ctr"/>
            <a:r>
              <a:rPr sz="1100" b="0" i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สาขาต้นทุนสูงสุด</a:t>
            </a:r>
          </a:p>
          <a:p>
            <a:pPr>
              <a:spcBef>
                <a:spcPts val="400"/>
              </a:spcBef>
            </a:pPr>
            <a:r>
              <a:rPr sz="2000" b="1" i="0">
                <a:solidFill>
                  <a:srgbClr val="1F2937"/>
                </a:solidFill>
                <a:latin typeface="Tahoma"/>
                <a:ea typeface="Tahoma"/>
                <a:cs typeface="Tahoma"/>
              </a:rPr>
              <a:t>มหาสารคาม</a:t>
            </a:r>
          </a:p>
          <a:p>
            <a:pPr>
              <a:spcBef>
                <a:spcPts val="400"/>
              </a:spcBef>
            </a:pPr>
            <a:r>
              <a:rPr sz="1050" b="0" i="0">
                <a:solidFill>
                  <a:srgbClr val="B91C1C"/>
                </a:solidFill>
                <a:latin typeface="Tahoma"/>
                <a:ea typeface="Tahoma"/>
                <a:cs typeface="Tahoma"/>
              </a:rPr>
              <a:t>75.6%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67500" y="1450000"/>
            <a:ext cx="2682500" cy="125000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0000" rIns="120000" tIns="110000" bIns="80000"/>
          <a:lstStyle/>
          <a:p>
            <a:pPr algn="ctr"/>
            <a:r>
              <a:rPr sz="1100" b="0" i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ยอดซื้อจริงที่บันทึกในระบบ</a:t>
            </a:r>
          </a:p>
          <a:p>
            <a:pPr>
              <a:spcBef>
                <a:spcPts val="400"/>
              </a:spcBef>
            </a:pPr>
            <a:r>
              <a:rPr sz="2000" b="1" i="0">
                <a:solidFill>
                  <a:srgbClr val="1F2937"/>
                </a:solidFill>
                <a:latin typeface="Tahoma"/>
                <a:ea typeface="Tahoma"/>
                <a:cs typeface="Tahoma"/>
              </a:rPr>
              <a:t>฿0</a:t>
            </a:r>
          </a:p>
          <a:p>
            <a:pPr>
              <a:spcBef>
                <a:spcPts val="400"/>
              </a:spcBef>
            </a:pPr>
            <a:r>
              <a:rPr sz="1050" b="0" i="0">
                <a:solidFill>
                  <a:srgbClr val="B91C1C"/>
                </a:solidFill>
                <a:latin typeface="Tahoma"/>
                <a:ea typeface="Tahoma"/>
                <a:cs typeface="Tahoma"/>
              </a:rPr>
              <a:t>นำเข้าแล้ว 0/355 สัปดาห์-สาขา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0000" y="3150000"/>
            <a:ext cx="11150000" cy="1400000"/>
          </a:xfrm>
          <a:prstGeom prst="roundRect">
            <a:avLst>
              <a:gd name="adj" fmla="val 6000"/>
            </a:avLst>
          </a:prstGeom>
          <a:solidFill>
            <a:srgbClr val="FFFBEB"/>
          </a:solidFill>
          <a:ln w="127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0" tIns="140000" rIns="180000"/>
          <a:lstStyle/>
          <a:p>
            <a:pPr algn="ctr"/>
            <a:r>
              <a:rPr sz="1400" b="1" i="0">
                <a:solidFill>
                  <a:srgbClr val="B45309"/>
                </a:solidFill>
                <a:latin typeface="Tahoma"/>
                <a:ea typeface="Tahoma"/>
                <a:cs typeface="Tahoma"/>
              </a:rPr>
              <a:t>ข้อจำกัดข้อมูล</a:t>
            </a:r>
          </a:p>
          <a:p>
            <a:pPr>
              <a:spcBef>
                <a:spcPts val="800"/>
              </a:spcBef>
            </a:pPr>
            <a:r>
              <a:rPr sz="1300" b="0" i="0">
                <a:solidFill>
                  <a:srgbClr val="1F2937"/>
                </a:solidFill>
                <a:latin typeface="Tahoma"/>
                <a:ea typeface="Tahoma"/>
                <a:cs typeface="Tahoma"/>
              </a:rPr>
              <a:t>ระบบมีฟอร์มนำเข้ายอดซื้อวัตถุดิบจริงรายสัปดาห์ต่อสาขาอยู่แล้ว แต่ยังไม่เคยมีการนำเข้าข้อมูลเลย (0 จาก 355 สัปดาห์-สาขาในช่วง 12 สัปดาห์ล่าสุด) ตัวเลขในรายงานนี้จึงเป็นต้นทุนวัตถุดิบตามสูตรอาหาร (BoM) ซึ่งคือสิ่งที่ "ควรใช้" ตามยอดขายจริง — ยังไม่ใช่ยอดซื้อจริงจากใบสั่งซื้อ/ใบเสร็จ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0000" y="6600000"/>
            <a:ext cx="11150000" cy="2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Oshinei · ต้นทุนวัตถุดิบเทียบยอดขาย &amp; แผนสั่งซื้อวัตถุดิบหลัก 48 ชนิด  ·  3/92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0578" cy="6858000"/>
          </a:xfrm>
          <a:prstGeom prst="rect">
            <a:avLst/>
          </a:prstGeom>
          <a:solidFill>
            <a:srgbClr val="203C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0785" y="51759"/>
            <a:ext cx="1171755" cy="117175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00000" y="230000"/>
            <a:ext cx="1115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i="0" spc="15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ส่วนที่ 1 (ต่อ)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00" y="420000"/>
            <a:ext cx="1115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203C81"/>
                </a:solidFill>
                <a:latin typeface="Tahoma"/>
                <a:ea typeface="Tahoma"/>
                <a:cs typeface="Tahoma"/>
              </a:rPr>
              <a:t>สาขาต้นทุนอาหารสูงสุด / ต่ำสุด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0000" y="950000"/>
            <a:ext cx="1115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ต้นทุนวัตถุดิบตามสูตร ÷ ยอดขาย — สิงหาคม 2569 เทียบกรกฎาคม 2569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00000" y="1500000"/>
          <a:ext cx="11150000" cy="204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00000"/>
                <a:gridCol w="2800000"/>
                <a:gridCol w="2200000"/>
                <a:gridCol w="2200000"/>
                <a:gridCol w="1500000"/>
                <a:gridCol w="1950000"/>
              </a:tblGrid>
              <a:tr h="340000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#</a:t>
                      </a:r>
                    </a:p>
                  </a:txBody>
                  <a:tcPr marL="70000" marR="70000" marT="35000" marB="35000" anchor="ctr">
                    <a:solidFill>
                      <a:srgbClr val="203C8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สาขา</a:t>
                      </a:r>
                    </a:p>
                  </a:txBody>
                  <a:tcPr marL="70000" marR="70000" marT="35000" marB="35000" anchor="ctr">
                    <a:solidFill>
                      <a:srgbClr val="203C8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ยอดขาย (฿)</a:t>
                      </a:r>
                    </a:p>
                  </a:txBody>
                  <a:tcPr marL="70000" marR="70000" marT="35000" marB="35000" anchor="ctr">
                    <a:solidFill>
                      <a:srgbClr val="203C8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ต้นทุน (฿)</a:t>
                      </a:r>
                    </a:p>
                  </a:txBody>
                  <a:tcPr marL="70000" marR="70000" marT="35000" marB="35000" anchor="ctr">
                    <a:solidFill>
                      <a:srgbClr val="203C8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% ต้นทุน</a:t>
                      </a:r>
                    </a:p>
                  </a:txBody>
                  <a:tcPr marL="70000" marR="70000" marT="35000" marB="35000" anchor="ctr">
                    <a:solidFill>
                      <a:srgbClr val="203C8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เปลี่ยน MoM</a:t>
                      </a:r>
                    </a:p>
                  </a:txBody>
                  <a:tcPr marL="70000" marR="70000" marT="35000" marB="35000" anchor="ctr">
                    <a:solidFill>
                      <a:srgbClr val="203C81"/>
                    </a:solidFill>
                  </a:tcPr>
                </a:tc>
              </a:tr>
              <a:tr h="340000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มหาสารคาม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2,786,653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2,105,810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75.6%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+4.4 จุด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</a:tr>
              <a:tr h="340000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</a:t>
                      </a:r>
                    </a:p>
                  </a:txBody>
                  <a:tcPr marL="70000" marR="70000" marT="35000" marB="35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สุพรรณบุรี</a:t>
                      </a:r>
                    </a:p>
                  </a:txBody>
                  <a:tcPr marL="70000" marR="70000" marT="35000" marB="35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2,133,080</a:t>
                      </a:r>
                    </a:p>
                  </a:txBody>
                  <a:tcPr marL="70000" marR="70000" marT="35000" marB="35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1,596,837</a:t>
                      </a:r>
                    </a:p>
                  </a:txBody>
                  <a:tcPr marL="70000" marR="70000" marT="35000" marB="35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74.9%</a:t>
                      </a:r>
                    </a:p>
                  </a:txBody>
                  <a:tcPr marL="70000" marR="70000" marT="35000" marB="35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+4.0 จุด</a:t>
                      </a:r>
                    </a:p>
                  </a:txBody>
                  <a:tcPr marL="70000" marR="70000" marT="35000" marB="35000" anchor="ctr">
                    <a:solidFill>
                      <a:srgbClr val="F8FAFC"/>
                    </a:solidFill>
                  </a:tcPr>
                </a:tc>
              </a:tr>
              <a:tr h="340000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ขอนแก่น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8,752,923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6,239,124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71.3%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+4.8 จุด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</a:tr>
              <a:tr h="340000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</a:t>
                      </a:r>
                    </a:p>
                  </a:txBody>
                  <a:tcPr marL="70000" marR="70000" marT="35000" marB="35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ร้อยเอ็ด</a:t>
                      </a:r>
                    </a:p>
                  </a:txBody>
                  <a:tcPr marL="70000" marR="70000" marT="35000" marB="35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3,843,865</a:t>
                      </a:r>
                    </a:p>
                  </a:txBody>
                  <a:tcPr marL="70000" marR="70000" marT="35000" marB="35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2,728,585</a:t>
                      </a:r>
                    </a:p>
                  </a:txBody>
                  <a:tcPr marL="70000" marR="70000" marT="35000" marB="35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71.0%</a:t>
                      </a:r>
                    </a:p>
                  </a:txBody>
                  <a:tcPr marL="70000" marR="70000" marT="35000" marB="35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+2.7 จุด</a:t>
                      </a:r>
                    </a:p>
                  </a:txBody>
                  <a:tcPr marL="70000" marR="70000" marT="35000" marB="35000" anchor="ctr">
                    <a:solidFill>
                      <a:srgbClr val="F8FAFC"/>
                    </a:solidFill>
                  </a:tcPr>
                </a:tc>
              </a:tr>
              <a:tr h="340000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5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ลพบุรี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3,605,529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2,511,345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69.7%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+1.8 จุด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00000" y="1230000"/>
            <a:ext cx="300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B91C1C"/>
                </a:solidFill>
                <a:latin typeface="Tahoma"/>
                <a:ea typeface="Tahoma"/>
                <a:cs typeface="Tahoma"/>
              </a:rPr>
              <a:t>สูงสุด 5 อันดับ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00000" y="4150000"/>
          <a:ext cx="11150000" cy="204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00000"/>
                <a:gridCol w="2800000"/>
                <a:gridCol w="2200000"/>
                <a:gridCol w="2200000"/>
                <a:gridCol w="1500000"/>
                <a:gridCol w="1950000"/>
              </a:tblGrid>
              <a:tr h="340000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#</a:t>
                      </a:r>
                    </a:p>
                  </a:txBody>
                  <a:tcPr marL="70000" marR="70000" marT="35000" marB="35000" anchor="ctr">
                    <a:solidFill>
                      <a:srgbClr val="203C8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สาขา</a:t>
                      </a:r>
                    </a:p>
                  </a:txBody>
                  <a:tcPr marL="70000" marR="70000" marT="35000" marB="35000" anchor="ctr">
                    <a:solidFill>
                      <a:srgbClr val="203C8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ยอดขาย (฿)</a:t>
                      </a:r>
                    </a:p>
                  </a:txBody>
                  <a:tcPr marL="70000" marR="70000" marT="35000" marB="35000" anchor="ctr">
                    <a:solidFill>
                      <a:srgbClr val="203C8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ต้นทุน (฿)</a:t>
                      </a:r>
                    </a:p>
                  </a:txBody>
                  <a:tcPr marL="70000" marR="70000" marT="35000" marB="35000" anchor="ctr">
                    <a:solidFill>
                      <a:srgbClr val="203C8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% ต้นทุน</a:t>
                      </a:r>
                    </a:p>
                  </a:txBody>
                  <a:tcPr marL="70000" marR="70000" marT="35000" marB="35000" anchor="ctr">
                    <a:solidFill>
                      <a:srgbClr val="203C8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เปลี่ยน MoM</a:t>
                      </a:r>
                    </a:p>
                  </a:txBody>
                  <a:tcPr marL="70000" marR="70000" marT="35000" marB="35000" anchor="ctr">
                    <a:solidFill>
                      <a:srgbClr val="203C81"/>
                    </a:solidFill>
                  </a:tcPr>
                </a:tc>
              </a:tr>
              <a:tr h="340000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สกลนคร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2,099,431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1,120,542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53.4%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-0.3 จุด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</a:tr>
              <a:tr h="340000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</a:t>
                      </a:r>
                    </a:p>
                  </a:txBody>
                  <a:tcPr marL="70000" marR="70000" marT="35000" marB="35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สุรินทร์</a:t>
                      </a:r>
                    </a:p>
                  </a:txBody>
                  <a:tcPr marL="70000" marR="70000" marT="35000" marB="35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2,022,602</a:t>
                      </a:r>
                    </a:p>
                  </a:txBody>
                  <a:tcPr marL="70000" marR="70000" marT="35000" marB="35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1,034,377</a:t>
                      </a:r>
                    </a:p>
                  </a:txBody>
                  <a:tcPr marL="70000" marR="70000" marT="35000" marB="35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51.1%</a:t>
                      </a:r>
                    </a:p>
                  </a:txBody>
                  <a:tcPr marL="70000" marR="70000" marT="35000" marB="35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+0.9 จุด</a:t>
                      </a:r>
                    </a:p>
                  </a:txBody>
                  <a:tcPr marL="70000" marR="70000" marT="35000" marB="35000" anchor="ctr">
                    <a:solidFill>
                      <a:srgbClr val="F8FAFC"/>
                    </a:solidFill>
                  </a:tcPr>
                </a:tc>
              </a:tr>
              <a:tr h="340000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มุกดาหาร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2,926,886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1,453,142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49.6%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+0.1 จุด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</a:tr>
              <a:tr h="340000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</a:t>
                      </a:r>
                    </a:p>
                  </a:txBody>
                  <a:tcPr marL="70000" marR="70000" marT="35000" marB="35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ปลวกแดง</a:t>
                      </a:r>
                    </a:p>
                  </a:txBody>
                  <a:tcPr marL="70000" marR="70000" marT="35000" marB="35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3,039,630</a:t>
                      </a:r>
                    </a:p>
                  </a:txBody>
                  <a:tcPr marL="70000" marR="70000" marT="35000" marB="35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1,470,840</a:t>
                      </a:r>
                    </a:p>
                  </a:txBody>
                  <a:tcPr marL="70000" marR="70000" marT="35000" marB="35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48.4%</a:t>
                      </a:r>
                    </a:p>
                  </a:txBody>
                  <a:tcPr marL="70000" marR="70000" marT="35000" marB="35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—</a:t>
                      </a:r>
                    </a:p>
                  </a:txBody>
                  <a:tcPr marL="70000" marR="70000" marT="35000" marB="35000" anchor="ctr">
                    <a:solidFill>
                      <a:srgbClr val="F8FAFC"/>
                    </a:solidFill>
                  </a:tcPr>
                </a:tc>
              </a:tr>
              <a:tr h="340000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5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หาดใหญ่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2,060,027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944,063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45.8%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-1.9 จุด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00000" y="3880000"/>
            <a:ext cx="300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047757"/>
                </a:solidFill>
                <a:latin typeface="Tahoma"/>
                <a:ea typeface="Tahoma"/>
                <a:cs typeface="Tahoma"/>
              </a:rPr>
              <a:t>ต่ำสุด 5 อันดับ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0000" y="6600000"/>
            <a:ext cx="11150000" cy="2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Oshinei · ต้นทุนวัตถุดิบเทียบยอดขาย &amp; แผนสั่งซื้อวัตถุดิบหลัก 48 ชนิด  ·  4/92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0578" cy="6858000"/>
          </a:xfrm>
          <a:prstGeom prst="rect">
            <a:avLst/>
          </a:prstGeom>
          <a:solidFill>
            <a:srgbClr val="203C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0785" y="51759"/>
            <a:ext cx="1171755" cy="117175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00000" y="230000"/>
            <a:ext cx="1115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i="0" spc="15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ส่วนที่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00" y="420000"/>
            <a:ext cx="1115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203C81"/>
                </a:solidFill>
                <a:latin typeface="Tahoma"/>
                <a:ea typeface="Tahoma"/>
                <a:cs typeface="Tahoma"/>
              </a:rPr>
              <a:t>แผนสั่งซื้อวัตถุดิบหลัก 48 ชนิด แยกรายสาขา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0000" y="950000"/>
            <a:ext cx="1115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ยอดขายจริง 28 วันล่าสุด × สูตรอาหาร (BoM) เฉพาะรายการบังคับสั่งส่วนกลาง · เผื่อสต๊อก 10% · ปัดขึ้นเป็นจำนวนเต็มทุกกรณี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0000" y="1500000"/>
            <a:ext cx="2682500" cy="125000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0000" rIns="120000" tIns="110000" bIns="80000"/>
          <a:lstStyle/>
          <a:p>
            <a:pPr algn="ctr"/>
            <a:r>
              <a:rPr sz="1100" b="0" i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มูลค่าที่ควรสั่งซื้อรวม/เดือน</a:t>
            </a:r>
          </a:p>
          <a:p>
            <a:pPr>
              <a:spcBef>
                <a:spcPts val="400"/>
              </a:spcBef>
            </a:pPr>
            <a:r>
              <a:rPr sz="2000" b="1" i="0">
                <a:solidFill>
                  <a:srgbClr val="1F2937"/>
                </a:solidFill>
                <a:latin typeface="Tahoma"/>
                <a:ea typeface="Tahoma"/>
                <a:cs typeface="Tahoma"/>
              </a:rPr>
              <a:t>฿17,874,975</a:t>
            </a:r>
          </a:p>
          <a:p>
            <a:pPr>
              <a:spcBef>
                <a:spcPts val="400"/>
              </a:spcBef>
            </a:pPr>
            <a:r>
              <a:rPr sz="1050" b="0" i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28 สาขา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2500" y="1500000"/>
            <a:ext cx="2682500" cy="125000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0000" rIns="120000" tIns="110000" bIns="80000"/>
          <a:lstStyle/>
          <a:p>
            <a:pPr algn="ctr"/>
            <a:r>
              <a:rPr sz="1100" b="0" i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มูลค่าที่ควรสั่งซื้อรวม/สัปดาห์</a:t>
            </a:r>
          </a:p>
          <a:p>
            <a:pPr>
              <a:spcBef>
                <a:spcPts val="400"/>
              </a:spcBef>
            </a:pPr>
            <a:r>
              <a:rPr sz="2000" b="1" i="0">
                <a:solidFill>
                  <a:srgbClr val="1F2937"/>
                </a:solidFill>
                <a:latin typeface="Tahoma"/>
                <a:ea typeface="Tahoma"/>
                <a:cs typeface="Tahoma"/>
              </a:rPr>
              <a:t>฿5,023,961</a:t>
            </a:r>
          </a:p>
          <a:p>
            <a:pPr>
              <a:spcBef>
                <a:spcPts val="400"/>
              </a:spcBef>
            </a:pPr>
            <a:r>
              <a:rPr sz="1050" b="0" i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/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5000" y="1500000"/>
            <a:ext cx="2682500" cy="125000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0000" rIns="120000" tIns="110000" bIns="80000"/>
          <a:lstStyle/>
          <a:p>
            <a:pPr algn="ctr"/>
            <a:r>
              <a:rPr sz="1100" b="0" i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ความครอบคลุม</a:t>
            </a:r>
          </a:p>
          <a:p>
            <a:pPr>
              <a:spcBef>
                <a:spcPts val="400"/>
              </a:spcBef>
            </a:pPr>
            <a:r>
              <a:rPr sz="2000" b="1" i="0">
                <a:solidFill>
                  <a:srgbClr val="1F2937"/>
                </a:solidFill>
                <a:latin typeface="Tahoma"/>
                <a:ea typeface="Tahoma"/>
                <a:cs typeface="Tahoma"/>
              </a:rPr>
              <a:t>87.7%</a:t>
            </a:r>
          </a:p>
          <a:p>
            <a:pPr>
              <a:spcBef>
                <a:spcPts val="400"/>
              </a:spcBef>
            </a:pPr>
            <a:r>
              <a:rPr sz="1050" b="0" i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ของปริมาณอาหารขายจริงทั้งเครือ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67500" y="1500000"/>
            <a:ext cx="2682500" cy="125000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0000" rIns="120000" tIns="110000" bIns="80000"/>
          <a:lstStyle/>
          <a:p>
            <a:pPr algn="ctr"/>
            <a:r>
              <a:rPr sz="1100" b="0" i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สาขาสูงสุด</a:t>
            </a:r>
          </a:p>
          <a:p>
            <a:pPr>
              <a:spcBef>
                <a:spcPts val="400"/>
              </a:spcBef>
            </a:pPr>
            <a:r>
              <a:rPr sz="2000" b="1" i="0">
                <a:solidFill>
                  <a:srgbClr val="1F2937"/>
                </a:solidFill>
                <a:latin typeface="Tahoma"/>
                <a:ea typeface="Tahoma"/>
                <a:cs typeface="Tahoma"/>
              </a:rPr>
              <a:t>ขอนแก่น</a:t>
            </a:r>
          </a:p>
          <a:p>
            <a:pPr>
              <a:spcBef>
                <a:spcPts val="400"/>
              </a:spcBef>
            </a:pPr>
            <a:r>
              <a:rPr sz="1050" b="0" i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฿1,441,483/เดือน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0000" y="3200000"/>
            <a:ext cx="11150000" cy="135000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0" tIns="140000" rIns="180000"/>
          <a:lstStyle/>
          <a:p>
            <a:pPr algn="ctr"/>
            <a:r>
              <a:rPr sz="1350" b="0" i="0">
                <a:solidFill>
                  <a:srgbClr val="1F2937"/>
                </a:solidFill>
                <a:latin typeface="Tahoma"/>
                <a:ea typeface="Tahoma"/>
                <a:cs typeface="Tahoma"/>
              </a:rPr>
              <a:t>วัตถุดิบหลัก 48 รายการ (รวม 54 รหัสวัตถุดิบ เมื่อรวมรหัสคลัง/รหัสสูตรของรายการเดียวกัน) จากไฟล์ forced_order_2026-09.csv — รายละเอียดครบทุกรายการ ทุกสาขา (1 แผ่นต่อสาขา) อยู่ในไฟล์ Excel แนบ order_plan_by_branch.xlsx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0000" y="6600000"/>
            <a:ext cx="11150000" cy="2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Oshinei · ต้นทุนวัตถุดิบเทียบยอดขาย &amp; แผนสั่งซื้อวัตถุดิบหลัก 48 ชนิด  ·  5/92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0578" cy="6858000"/>
          </a:xfrm>
          <a:prstGeom prst="rect">
            <a:avLst/>
          </a:prstGeom>
          <a:solidFill>
            <a:srgbClr val="203C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0785" y="51759"/>
            <a:ext cx="1171755" cy="117175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00000" y="230000"/>
            <a:ext cx="1115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i="0" spc="15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ส่วนที่ 2 (ต่อ)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00" y="420000"/>
            <a:ext cx="1115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203C81"/>
                </a:solidFill>
                <a:latin typeface="Tahoma"/>
                <a:ea typeface="Tahoma"/>
                <a:cs typeface="Tahoma"/>
              </a:rPr>
              <a:t>สาขามูลค่าสั่งซื้อสูงสุด &amp; วัตถุดิบมูลค่าสูงสุด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0000" y="1150000"/>
            <a:ext cx="400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203C81"/>
                </a:solidFill>
                <a:latin typeface="Tahoma"/>
                <a:ea typeface="Tahoma"/>
                <a:cs typeface="Tahoma"/>
              </a:rPr>
              <a:t>5 สาขามูลค่าสูงสุด (ต่อเดือน)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00000" y="1450000"/>
          <a:ext cx="6650000" cy="204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50000"/>
                <a:gridCol w="2600000"/>
                <a:gridCol w="1500000"/>
                <a:gridCol w="2100000"/>
              </a:tblGrid>
              <a:tr h="340000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#</a:t>
                      </a:r>
                    </a:p>
                  </a:txBody>
                  <a:tcPr marL="70000" marR="70000" marT="35000" marB="35000" anchor="ctr">
                    <a:solidFill>
                      <a:srgbClr val="203C8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สาขา</a:t>
                      </a:r>
                    </a:p>
                  </a:txBody>
                  <a:tcPr marL="70000" marR="70000" marT="35000" marB="35000" anchor="ctr">
                    <a:solidFill>
                      <a:srgbClr val="203C8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รายการ</a:t>
                      </a:r>
                    </a:p>
                  </a:txBody>
                  <a:tcPr marL="70000" marR="70000" marT="35000" marB="35000" anchor="ctr">
                    <a:solidFill>
                      <a:srgbClr val="203C8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มูลค่า/เดือน (฿)</a:t>
                      </a:r>
                    </a:p>
                  </a:txBody>
                  <a:tcPr marL="70000" marR="70000" marT="35000" marB="35000" anchor="ctr">
                    <a:solidFill>
                      <a:srgbClr val="203C81"/>
                    </a:solidFill>
                  </a:tcPr>
                </a:tc>
              </a:tr>
              <a:tr h="340000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ขอนแก่น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53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1,441,483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</a:tr>
              <a:tr h="340000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</a:t>
                      </a:r>
                    </a:p>
                  </a:txBody>
                  <a:tcPr marL="70000" marR="70000" marT="35000" marB="35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ชลบุรี</a:t>
                      </a:r>
                    </a:p>
                  </a:txBody>
                  <a:tcPr marL="70000" marR="70000" marT="35000" marB="35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50</a:t>
                      </a:r>
                    </a:p>
                  </a:txBody>
                  <a:tcPr marL="70000" marR="70000" marT="35000" marB="35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969,569</a:t>
                      </a:r>
                    </a:p>
                  </a:txBody>
                  <a:tcPr marL="70000" marR="70000" marT="35000" marB="35000" anchor="ctr">
                    <a:solidFill>
                      <a:srgbClr val="F8FAFC"/>
                    </a:solidFill>
                  </a:tcPr>
                </a:tc>
              </a:tr>
              <a:tr h="340000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อยุธยา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50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951,755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</a:tr>
              <a:tr h="340000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</a:t>
                      </a:r>
                    </a:p>
                  </a:txBody>
                  <a:tcPr marL="70000" marR="70000" marT="35000" marB="35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ระยอง</a:t>
                      </a:r>
                    </a:p>
                  </a:txBody>
                  <a:tcPr marL="70000" marR="70000" marT="35000" marB="35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53</a:t>
                      </a:r>
                    </a:p>
                  </a:txBody>
                  <a:tcPr marL="70000" marR="70000" marT="35000" marB="35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928,320</a:t>
                      </a:r>
                    </a:p>
                  </a:txBody>
                  <a:tcPr marL="70000" marR="70000" marT="35000" marB="35000" anchor="ctr">
                    <a:solidFill>
                      <a:srgbClr val="F8FAFC"/>
                    </a:solidFill>
                  </a:tcPr>
                </a:tc>
              </a:tr>
              <a:tr h="340000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5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เชียงราย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52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919,951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350000" y="1150000"/>
            <a:ext cx="440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203C81"/>
                </a:solidFill>
                <a:latin typeface="Tahoma"/>
                <a:ea typeface="Tahoma"/>
                <a:cs typeface="Tahoma"/>
              </a:rPr>
              <a:t>5 วัตถุดิบมูลค่าสูงสุด (ทั้งเครือ ต่อเดือน)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350000" y="1450000"/>
          <a:ext cx="4350000" cy="204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50000"/>
                <a:gridCol w="2400000"/>
                <a:gridCol w="1600000"/>
              </a:tblGrid>
              <a:tr h="340000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#</a:t>
                      </a:r>
                    </a:p>
                  </a:txBody>
                  <a:tcPr marL="70000" marR="70000" marT="35000" marB="35000" anchor="ctr">
                    <a:solidFill>
                      <a:srgbClr val="203C8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วัตถุดิบ</a:t>
                      </a:r>
                    </a:p>
                  </a:txBody>
                  <a:tcPr marL="70000" marR="70000" marT="35000" marB="35000" anchor="ctr">
                    <a:solidFill>
                      <a:srgbClr val="203C8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มูลค่า/เดือน (฿)</a:t>
                      </a:r>
                    </a:p>
                  </a:txBody>
                  <a:tcPr marL="70000" marR="70000" marT="35000" marB="35000" anchor="ctr">
                    <a:solidFill>
                      <a:srgbClr val="203C81"/>
                    </a:solidFill>
                  </a:tcPr>
                </a:tc>
              </a:tr>
              <a:tr h="34000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กุ้งแกะเปลือก  5 ตัวละ 15 กรัม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2,038,484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</a:tr>
              <a:tr h="34000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</a:t>
                      </a:r>
                    </a:p>
                  </a:txBody>
                  <a:tcPr marL="70000" marR="70000" marT="35000" marB="35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เนื้อปลาทูน่า 1 ชิ้น</a:t>
                      </a:r>
                    </a:p>
                  </a:txBody>
                  <a:tcPr marL="70000" marR="70000" marT="35000" marB="35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1,822,360</a:t>
                      </a:r>
                    </a:p>
                  </a:txBody>
                  <a:tcPr marL="70000" marR="70000" marT="35000" marB="35000" anchor="ctr">
                    <a:solidFill>
                      <a:srgbClr val="F8FAFC"/>
                    </a:solidFill>
                  </a:tcPr>
                </a:tc>
              </a:tr>
              <a:tr h="34000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หอยเซลล์ต้ม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1,082,120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</a:tr>
              <a:tr h="34000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</a:t>
                      </a:r>
                    </a:p>
                  </a:txBody>
                  <a:tcPr marL="70000" marR="70000" marT="35000" marB="35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เนื้อใบพายออสเตรเลียสไลด์</a:t>
                      </a:r>
                    </a:p>
                  </a:txBody>
                  <a:tcPr marL="70000" marR="70000" marT="35000" marB="35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893,470</a:t>
                      </a:r>
                    </a:p>
                  </a:txBody>
                  <a:tcPr marL="70000" marR="70000" marT="35000" marB="35000" anchor="ctr">
                    <a:solidFill>
                      <a:srgbClr val="F8FAFC"/>
                    </a:solidFill>
                  </a:tcPr>
                </a:tc>
              </a:tr>
              <a:tr h="34000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5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ปลาไหลอูนางิ 70 P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799,615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600000" y="3600000"/>
            <a:ext cx="11150000" cy="1600000"/>
          </a:xfrm>
          <a:prstGeom prst="roundRect">
            <a:avLst>
              <a:gd name="adj" fmla="val 6000"/>
            </a:avLst>
          </a:prstGeom>
          <a:solidFill>
            <a:srgbClr val="FFFBEB"/>
          </a:solidFill>
          <a:ln w="127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0" tIns="140000" rIns="180000"/>
          <a:lstStyle/>
          <a:p>
            <a:pPr algn="ctr"/>
            <a:r>
              <a:rPr sz="1400" b="1" i="0">
                <a:solidFill>
                  <a:srgbClr val="B45309"/>
                </a:solidFill>
                <a:latin typeface="Tahoma"/>
                <a:ea typeface="Tahoma"/>
                <a:cs typeface="Tahoma"/>
              </a:rPr>
              <a:t>คุณภาพข้อมูล</a:t>
            </a:r>
          </a:p>
          <a:p>
            <a:pPr>
              <a:spcBef>
                <a:spcPts val="800"/>
              </a:spcBef>
            </a:pPr>
            <a:r>
              <a:rPr sz="1300" b="0" i="0">
                <a:solidFill>
                  <a:srgbClr val="1F2937"/>
                </a:solidFill>
                <a:latin typeface="Tahoma"/>
                <a:ea typeface="Tahoma"/>
                <a:cs typeface="Tahoma"/>
              </a:rPr>
              <a:t>18 จาก 54 รหัสวัตถุดิบหลัก ยังไม่ได้ตั้งขนาดบรรจุ (pack size) ในระบบ → ปริมาณที่แนะนำให้สั่งจึงปัดเป็น กก./ลิตร มาตรฐานแทนแพ็ค/เคสจริงที่ซัพพลายเออร์ขาย ควรให้ฝ่ายจัดซื้อกรอกขนาดบรรจุจริงเพื่อความแม่นยำของใบสั่งซื้อ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0000" y="6600000"/>
            <a:ext cx="11150000" cy="2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Oshinei · ต้นทุนวัตถุดิบเทียบยอดขาย &amp; แผนสั่งซื้อวัตถุดิบหลัก 48 ชนิด  ·  6/92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0578" cy="6858000"/>
          </a:xfrm>
          <a:prstGeom prst="rect">
            <a:avLst/>
          </a:prstGeom>
          <a:solidFill>
            <a:srgbClr val="203C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0785" y="51759"/>
            <a:ext cx="1171755" cy="117175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00000" y="230000"/>
            <a:ext cx="1115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i="0" spc="15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ส่วนที่ 3 · รายละเอียดรายสาขา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00" y="420000"/>
            <a:ext cx="1115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203C81"/>
                </a:solidFill>
                <a:latin typeface="Tahoma"/>
                <a:ea typeface="Tahoma"/>
                <a:cs typeface="Tahoma"/>
              </a:rPr>
              <a:t>ขอนแก่น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0000" y="950000"/>
            <a:ext cx="1115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อันดับต้นทุนอาหาร #3/28 (1=สูงสุด)  ·  อันดับมูลค่าสั่งซื้อ #1/28 (1=สูงสุด)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0000" y="1350000"/>
            <a:ext cx="2682500" cy="100000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0000" rIns="120000" tIns="110000" bIns="80000"/>
          <a:lstStyle/>
          <a:p>
            <a:pPr algn="ctr"/>
            <a:r>
              <a:rPr sz="1100" b="0" i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ยอดขาย (ไม่รวม VAT)</a:t>
            </a:r>
          </a:p>
          <a:p>
            <a:pPr>
              <a:spcBef>
                <a:spcPts val="400"/>
              </a:spcBef>
            </a:pPr>
            <a:r>
              <a:rPr sz="2000" b="1" i="0">
                <a:solidFill>
                  <a:srgbClr val="1F2937"/>
                </a:solidFill>
                <a:latin typeface="Tahoma"/>
                <a:ea typeface="Tahoma"/>
                <a:cs typeface="Tahoma"/>
              </a:rPr>
              <a:t>฿8,752,923</a:t>
            </a:r>
          </a:p>
          <a:p>
            <a:pPr>
              <a:spcBef>
                <a:spcPts val="400"/>
              </a:spcBef>
            </a:pPr>
            <a:r>
              <a:rPr sz="1050" b="0" i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/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2500" y="1350000"/>
            <a:ext cx="2682500" cy="100000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0000" rIns="120000" tIns="110000" bIns="80000"/>
          <a:lstStyle/>
          <a:p>
            <a:pPr algn="ctr"/>
            <a:r>
              <a:rPr sz="1100" b="0" i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ต้นทุนวัตถุดิบตามสูตร</a:t>
            </a:r>
          </a:p>
          <a:p>
            <a:pPr>
              <a:spcBef>
                <a:spcPts val="400"/>
              </a:spcBef>
            </a:pPr>
            <a:r>
              <a:rPr sz="2000" b="1" i="0">
                <a:solidFill>
                  <a:srgbClr val="1F2937"/>
                </a:solidFill>
                <a:latin typeface="Tahoma"/>
                <a:ea typeface="Tahoma"/>
                <a:cs typeface="Tahoma"/>
              </a:rPr>
              <a:t>฿6,239,124</a:t>
            </a:r>
          </a:p>
          <a:p>
            <a:pPr>
              <a:spcBef>
                <a:spcPts val="400"/>
              </a:spcBef>
            </a:pPr>
            <a:r>
              <a:rPr sz="1050" b="0" i="0">
                <a:solidFill>
                  <a:srgbClr val="B91C1C"/>
                </a:solidFill>
                <a:latin typeface="Tahoma"/>
                <a:ea typeface="Tahoma"/>
                <a:cs typeface="Tahoma"/>
              </a:rPr>
              <a:t>71.3% ของยอดขาย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5000" y="1350000"/>
            <a:ext cx="2682500" cy="100000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0000" rIns="120000" tIns="110000" bIns="80000"/>
          <a:lstStyle/>
          <a:p>
            <a:pPr algn="ctr"/>
            <a:r>
              <a:rPr sz="1100" b="0" i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เปลี่ยนจากเดือนก่อน</a:t>
            </a:r>
          </a:p>
          <a:p>
            <a:pPr>
              <a:spcBef>
                <a:spcPts val="400"/>
              </a:spcBef>
            </a:pPr>
            <a:r>
              <a:rPr sz="2000" b="1" i="0">
                <a:solidFill>
                  <a:srgbClr val="1F2937"/>
                </a:solidFill>
                <a:latin typeface="Tahoma"/>
                <a:ea typeface="Tahoma"/>
                <a:cs typeface="Tahoma"/>
              </a:rPr>
              <a:t>+4.8 จุด</a:t>
            </a:r>
          </a:p>
          <a:p>
            <a:pPr>
              <a:spcBef>
                <a:spcPts val="400"/>
              </a:spcBef>
            </a:pPr>
            <a:r>
              <a:rPr sz="1050" b="0" i="0">
                <a:solidFill>
                  <a:srgbClr val="B91C1C"/>
                </a:solidFill>
                <a:latin typeface="Tahoma"/>
                <a:ea typeface="Tahoma"/>
                <a:cs typeface="Tahoma"/>
              </a:rPr>
              <a:t>66.5% เดือนก่อน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67500" y="1350000"/>
            <a:ext cx="2682500" cy="100000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0000" rIns="120000" tIns="110000" bIns="80000"/>
          <a:lstStyle/>
          <a:p>
            <a:pPr algn="ctr"/>
            <a:r>
              <a:rPr sz="1100" b="0" i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ควรสั่งซื้อ 48 รายการหลัก/เดือน</a:t>
            </a:r>
          </a:p>
          <a:p>
            <a:pPr>
              <a:spcBef>
                <a:spcPts val="400"/>
              </a:spcBef>
            </a:pPr>
            <a:r>
              <a:rPr sz="2000" b="1" i="0">
                <a:solidFill>
                  <a:srgbClr val="1F2937"/>
                </a:solidFill>
                <a:latin typeface="Tahoma"/>
                <a:ea typeface="Tahoma"/>
                <a:cs typeface="Tahoma"/>
              </a:rPr>
              <a:t>฿1,440,538</a:t>
            </a:r>
          </a:p>
          <a:p>
            <a:pPr>
              <a:spcBef>
                <a:spcPts val="400"/>
              </a:spcBef>
            </a:pPr>
            <a:r>
              <a:rPr sz="1050" b="0" i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53 รายการ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0000" y="2500000"/>
            <a:ext cx="5500000" cy="2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B91C1C"/>
                </a:solidFill>
                <a:latin typeface="Tahoma"/>
                <a:ea typeface="Tahoma"/>
                <a:cs typeface="Tahoma"/>
              </a:rPr>
              <a:t>เมนูต้นทุนเพิ่มขึ้นมากสุด (MoM)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00000" y="2780000"/>
          <a:ext cx="5300000" cy="120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00000"/>
                <a:gridCol w="1700000"/>
                <a:gridCol w="1500000"/>
              </a:tblGrid>
              <a:tr h="300000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เมนู</a:t>
                      </a:r>
                    </a:p>
                  </a:txBody>
                  <a:tcPr marL="70000" marR="70000" marT="35000" marB="35000" anchor="ctr">
                    <a:solidFill>
                      <a:srgbClr val="203C8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ต้นทุนเดือนนี้</a:t>
                      </a:r>
                    </a:p>
                  </a:txBody>
                  <a:tcPr marL="70000" marR="70000" marT="35000" marB="35000" anchor="ctr">
                    <a:solidFill>
                      <a:srgbClr val="203C8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เปลี่ยน</a:t>
                      </a:r>
                    </a:p>
                  </a:txBody>
                  <a:tcPr marL="70000" marR="70000" marT="35000" marB="35000" anchor="ctr">
                    <a:solidFill>
                      <a:srgbClr val="203C81"/>
                    </a:solidFill>
                  </a:tcPr>
                </a:tc>
              </a:tr>
              <a:tr h="30000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(B) ทุเรียน (1 เม็ด)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฿1,406,852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+฿473,348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(B) แซลมอน ซาชิมิ (1 ชิ้น)</a:t>
                      </a:r>
                    </a:p>
                  </a:txBody>
                  <a:tcPr marL="70000" marR="70000" marT="35000" marB="35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฿999,983</a:t>
                      </a:r>
                    </a:p>
                  </a:txBody>
                  <a:tcPr marL="70000" marR="70000" marT="35000" marB="35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+฿171,171</a:t>
                      </a:r>
                    </a:p>
                  </a:txBody>
                  <a:tcPr marL="70000" marR="70000" marT="35000" marB="35000" anchor="ctr">
                    <a:solidFill>
                      <a:srgbClr val="F8FAFC"/>
                    </a:solidFill>
                  </a:tcPr>
                </a:tc>
              </a:tr>
              <a:tr h="30000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(B) แซลมอนดอง (3 ชิ้น)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฿331,497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+฿54,706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6200000" y="2500000"/>
            <a:ext cx="5500000" cy="2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047757"/>
                </a:solidFill>
                <a:latin typeface="Tahoma"/>
                <a:ea typeface="Tahoma"/>
                <a:cs typeface="Tahoma"/>
              </a:rPr>
              <a:t>เมนูต้นทุนลดลงมากสุด (MoM)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6200000" y="2780000"/>
          <a:ext cx="5300000" cy="120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00000"/>
                <a:gridCol w="1700000"/>
                <a:gridCol w="1500000"/>
              </a:tblGrid>
              <a:tr h="300000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เมนู</a:t>
                      </a:r>
                    </a:p>
                  </a:txBody>
                  <a:tcPr marL="70000" marR="70000" marT="35000" marB="35000" anchor="ctr">
                    <a:solidFill>
                      <a:srgbClr val="203C8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ต้นทุนเดือนนี้</a:t>
                      </a:r>
                    </a:p>
                  </a:txBody>
                  <a:tcPr marL="70000" marR="70000" marT="35000" marB="35000" anchor="ctr">
                    <a:solidFill>
                      <a:srgbClr val="203C8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เปลี่ยน</a:t>
                      </a:r>
                    </a:p>
                  </a:txBody>
                  <a:tcPr marL="70000" marR="70000" marT="35000" marB="35000" anchor="ctr">
                    <a:solidFill>
                      <a:srgbClr val="203C81"/>
                    </a:solidFill>
                  </a:tcPr>
                </a:tc>
              </a:tr>
              <a:tr h="30000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(B) ซูพรีม อูนิ ซูชิ (1 ช…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฿82,455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฿-37,790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(B) กุ้งอาเจนติน่าซาชิมิ …</a:t>
                      </a:r>
                    </a:p>
                  </a:txBody>
                  <a:tcPr marL="70000" marR="70000" marT="35000" marB="35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฿112,462</a:t>
                      </a:r>
                    </a:p>
                  </a:txBody>
                  <a:tcPr marL="70000" marR="70000" marT="35000" marB="35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฿-35,589</a:t>
                      </a:r>
                    </a:p>
                  </a:txBody>
                  <a:tcPr marL="70000" marR="70000" marT="35000" marB="35000" anchor="ctr">
                    <a:solidFill>
                      <a:srgbClr val="F8FAFC"/>
                    </a:solidFill>
                  </a:tcPr>
                </a:tc>
              </a:tr>
              <a:tr h="30000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(B) หอยนางรมเสิร์ฟพร้อมน้…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฿84,897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฿-34,130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600000" y="4100000"/>
            <a:ext cx="9000000" cy="2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203C81"/>
                </a:solidFill>
                <a:latin typeface="Tahoma"/>
                <a:ea typeface="Tahoma"/>
                <a:cs typeface="Tahoma"/>
              </a:rPr>
              <a:t>วัตถุดิบทั้งหมดที่ควรสั่งซื้อ (53 รายการ) — ดูสไลด์ถัดไป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0000" y="6600000"/>
            <a:ext cx="11150000" cy="2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Oshinei · ต้นทุนวัตถุดิบเทียบยอดขาย &amp; แผนสั่งซื้อวัตถุดิบหลัก 48 ชนิด  ·  7/92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0578" cy="6858000"/>
          </a:xfrm>
          <a:prstGeom prst="rect">
            <a:avLst/>
          </a:prstGeom>
          <a:solidFill>
            <a:srgbClr val="203C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0785" y="51759"/>
            <a:ext cx="1171755" cy="117175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00000" y="230000"/>
            <a:ext cx="1115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i="0" spc="15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ส่วนที่ 3 · รายละเอียดรายสาขา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00" y="420000"/>
            <a:ext cx="1115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 i="0">
                <a:solidFill>
                  <a:srgbClr val="203C81"/>
                </a:solidFill>
                <a:latin typeface="Tahoma"/>
                <a:ea typeface="Tahoma"/>
                <a:cs typeface="Tahoma"/>
              </a:rPr>
              <a:t>ขอนแก่น — วัตถุดิบทั้งหมดที่ควรสั่งซื้อ (53 รายการ) (หน้า 1/2)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00000" y="1300000"/>
          <a:ext cx="11150000" cy="515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00000"/>
                <a:gridCol w="6200000"/>
                <a:gridCol w="2700000"/>
                <a:gridCol w="1850000"/>
              </a:tblGrid>
              <a:tr h="200000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#</a:t>
                      </a:r>
                    </a:p>
                  </a:txBody>
                  <a:tcPr marL="70000" marR="70000" marT="12000" marB="12000" anchor="ctr">
                    <a:solidFill>
                      <a:srgbClr val="203C8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วัตถุดิบ</a:t>
                      </a:r>
                    </a:p>
                  </a:txBody>
                  <a:tcPr marL="70000" marR="70000" marT="12000" marB="12000" anchor="ctr">
                    <a:solidFill>
                      <a:srgbClr val="203C8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ควรสั่ง/เดือน</a:t>
                      </a:r>
                    </a:p>
                  </a:txBody>
                  <a:tcPr marL="70000" marR="70000" marT="12000" marB="12000" anchor="ctr">
                    <a:solidFill>
                      <a:srgbClr val="203C8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มูลค่า/เดือน (฿)</a:t>
                      </a:r>
                    </a:p>
                  </a:txBody>
                  <a:tcPr marL="70000" marR="70000" marT="12000" marB="12000" anchor="ctr">
                    <a:solidFill>
                      <a:srgbClr val="203C81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กุ้งแกะเปลือก  5 ตัวละ 15 กรัม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56 แพ็ค 10 กก. (560.00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173,488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หอยเซลล์ต้ม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262 แพ็ค 1 กก. (262.00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136,240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เนื้อปลาทูน่า 1 ชิ้น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219 แพ็ค 1 กก. (219.00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127,020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สาหร่ายโนริแผ่น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17,402 แผ่น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63,675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5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หนวดปลาหมึกยักษ์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10 แพ็ค 12 กก. (120.00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62,350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6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เนื้อใบพายออสเตรเลียสไลด์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130 แพ็ค 1 กก. (130.00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61,100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7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ปลาไหลอูนางิ 70 P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608 แพ็ค 120 กรัม (72.96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57,760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8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เนื้อเสือร้องไห้สไลด์ ( 5 ชิ้นละ 10 กรัม 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16 แพ็ค 10 กก. (160.00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56,320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9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หอยนางรมญี่ปุ่น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4,217 ตัว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55,113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10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ไข่หอยเม่น แช่แข็ง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208 แพ็ค 100 กรัม (20.80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53,040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11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ปลาซาบะดอง 6 ชิ้น ชิ้นละ 10 กรัม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7 แพ็ค 12.5 กก. (87.50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49,721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12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ปลาเนื้อขาวหั่นเต๋า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15 แพ็ค 10 กก. (150.00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42,195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13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ปลาไหลอนาโงะสไลด์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255 แพ็ค 200 กรัม (51.00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41,820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14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เนื้อชาโรเล่ส์หมักเสียบไม้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4,543 ชิ้น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38,609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15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ไข่กุ้ง Ebiko Grade A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8 แพ็ค 10 กก. (80.00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35,456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16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ปลาหมึกกระดอง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11 แพ็ค 10 กก. (110.00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35,200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17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มันปูปรงรส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54 แพ็ค 1 กก. (54.00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34,398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18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กุ้งอาเจนติน่า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36 แพ็ค 2 กก. (72.00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29,052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19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ปลาไหลสไลด์ 9 ชิ้น ชิ้นละ 6 กรัม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 แพ็ค 7.2 กก. (28.80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25,920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20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ปลาซาบะ ½ ตัว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6 แพ็ค 20 กก. (120.00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23,868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21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เนื้อออสเตรเลียแบบตัด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42 แพ็ค 1 กก. (42.00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23,688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22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ไข่หวานหั่นเต๋า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12 แพ็ค 10 กก. (120.00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21,828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23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ปลาฮามาจิ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21 แพ็ค 1.85 กก. (38.85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20,286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24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เนื้อสไลด์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54 กก.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17,821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25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ปีกไก่สำเร็จรูป 1 ชิ้น / 35 กรัม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5 แพ็ค 10 กก. (50.00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17,232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26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เบสซอฟต์ครีมรสมัตฉะ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58 แพ็ค 4.4 กก. (255.20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15,735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27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ตับปลาอังกิโมะ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1,738 แพ็ค 15 กรัม (26.07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13,904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28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กุ้งเทมปุระ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2,864 ชิ้น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13,833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29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เบสซอฟต์ครีมทูโทน (รสมัตฉะ และรสนม)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40 แพ็ค 4.4 กก. (176.00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10,856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30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ปลาดอลลี่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12 แพ็ค 10 กก. (120.00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9,828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00000" y="6600000"/>
            <a:ext cx="11150000" cy="2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Oshinei · ต้นทุนวัตถุดิบเทียบยอดขาย &amp; แผนสั่งซื้อวัตถุดิบหลัก 48 ชนิด  ·  8/92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0578" cy="6858000"/>
          </a:xfrm>
          <a:prstGeom prst="rect">
            <a:avLst/>
          </a:prstGeom>
          <a:solidFill>
            <a:srgbClr val="203C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0785" y="51759"/>
            <a:ext cx="1171755" cy="117175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00000" y="230000"/>
            <a:ext cx="1115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i="0" spc="15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ส่วนที่ 3 · รายละเอียดรายสาขา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00" y="420000"/>
            <a:ext cx="1115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 i="0">
                <a:solidFill>
                  <a:srgbClr val="203C81"/>
                </a:solidFill>
                <a:latin typeface="Tahoma"/>
                <a:ea typeface="Tahoma"/>
                <a:cs typeface="Tahoma"/>
              </a:rPr>
              <a:t>ขอนแก่น — วัตถุดิบทั้งหมดที่ควรสั่งซื้อ (53 รายการ) (หน้า 2/2)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00000" y="1300000"/>
          <a:ext cx="11150000" cy="3995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00000"/>
                <a:gridCol w="6200000"/>
                <a:gridCol w="2700000"/>
                <a:gridCol w="1850000"/>
              </a:tblGrid>
              <a:tr h="200000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#</a:t>
                      </a:r>
                    </a:p>
                  </a:txBody>
                  <a:tcPr marL="70000" marR="70000" marT="12000" marB="12000" anchor="ctr">
                    <a:solidFill>
                      <a:srgbClr val="203C8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วัตถุดิบ</a:t>
                      </a:r>
                    </a:p>
                  </a:txBody>
                  <a:tcPr marL="70000" marR="70000" marT="12000" marB="12000" anchor="ctr">
                    <a:solidFill>
                      <a:srgbClr val="203C8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ควรสั่ง/เดือน</a:t>
                      </a:r>
                    </a:p>
                  </a:txBody>
                  <a:tcPr marL="70000" marR="70000" marT="12000" marB="12000" anchor="ctr">
                    <a:solidFill>
                      <a:srgbClr val="203C8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มูลค่า/เดือน (฿)</a:t>
                      </a:r>
                    </a:p>
                  </a:txBody>
                  <a:tcPr marL="70000" marR="70000" marT="12000" marB="12000" anchor="ctr">
                    <a:solidFill>
                      <a:srgbClr val="203C81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31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น้ำดองสไลต์เกาหลี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 แพ็ค 20 ลิตร (80.00 ลิตร)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8,480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32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เนื้อชาโรเล่ส์หมักเสียบไม้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998 ไม้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8,305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33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สาเกสำหรับปรุงอาหาร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 แพ็ค 18 ลิตร (72.00 ลิตร)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8,184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34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เกี๊ยวซ่าอูนิ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633 ชิ้น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7,595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35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ปลาเงินทอดกรอบ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22 แพ็ค 250 กรัม (5.50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6,951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36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หอยเป๋าฮื้อ ตุ๋นปรุงรส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125 ตัว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4,962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37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วาซาบิ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 แพ็ค 10 กก. (10.00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4,789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38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หอยสังข์ญี่ปุ่น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13 แพ็ค 120 กรัม (1.56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3,445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39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ข้าวญี่ปุ่นปรุงรส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 แพ็ค 25 กก. (75.00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3,240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40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เบสซอฟต์ครีมรสนม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11 แพ็ค 4.4 กก. (48.40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2,987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41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สาหร่ายโนรี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 กก.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2,430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42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เนื้อออสเตรเลียสไลด์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 แพ็ค 1 กก. (3.00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2,148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43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เนื้อวากิวพับนอก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 แพ็ค 1 กก. (4.00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2,135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44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มิริน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 แพ็ค 20 ลิตร (20.00 ลิตร)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1,648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45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แป้งเทมปุระผง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 แพ็ค 10 กก. (20.00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1,541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46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สาหร่ายวากาแมะ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 กก.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1,480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47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กุ้งยืด Ebi Tempura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293 ตัว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1,412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48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กุ้งลายเสือ (อิงราคากุ้งอาร์เจนติน่า/ตัว)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37 ตัว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602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49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หอยนางรมญี่ปุ่น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36 ชิ้น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462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50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ไข่ปลาแซลมอน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 กก.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180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51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หอยแครงยักษ์สไลด์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15 ชิ้น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157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52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ปลาฮามาจิ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 กก.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49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53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สาหร่ายโนริหั่นฝอย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 ชิ้น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0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00000" y="6600000"/>
            <a:ext cx="11150000" cy="2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Oshinei · ต้นทุนวัตถุดิบเทียบยอดขาย &amp; แผนสั่งซื้อวัตถุดิบหลัก 48 ชนิด  ·  9/92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0578" cy="6858000"/>
          </a:xfrm>
          <a:prstGeom prst="rect">
            <a:avLst/>
          </a:prstGeom>
          <a:solidFill>
            <a:srgbClr val="203C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0785" y="51759"/>
            <a:ext cx="1171755" cy="117175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00000" y="230000"/>
            <a:ext cx="1115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i="0" spc="15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ส่วนที่ 3 · รายละเอียดรายสาขา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00" y="420000"/>
            <a:ext cx="1115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203C81"/>
                </a:solidFill>
                <a:latin typeface="Tahoma"/>
                <a:ea typeface="Tahoma"/>
                <a:cs typeface="Tahoma"/>
              </a:rPr>
              <a:t>ฉะเชิงเทรา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0000" y="950000"/>
            <a:ext cx="1115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อันดับต้นทุนอาหาร #10/28 (1=สูงสุด)  ·  อันดับมูลค่าสั่งซื้อ #9/28 (1=สูงสุด)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0000" y="1350000"/>
            <a:ext cx="2682500" cy="100000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0000" rIns="120000" tIns="110000" bIns="80000"/>
          <a:lstStyle/>
          <a:p>
            <a:pPr algn="ctr"/>
            <a:r>
              <a:rPr sz="1100" b="0" i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ยอดขาย (ไม่รวม VAT)</a:t>
            </a:r>
          </a:p>
          <a:p>
            <a:pPr>
              <a:spcBef>
                <a:spcPts val="400"/>
              </a:spcBef>
            </a:pPr>
            <a:r>
              <a:rPr sz="2000" b="1" i="0">
                <a:solidFill>
                  <a:srgbClr val="1F2937"/>
                </a:solidFill>
                <a:latin typeface="Tahoma"/>
                <a:ea typeface="Tahoma"/>
                <a:cs typeface="Tahoma"/>
              </a:rPr>
              <a:t>฿3,555,143</a:t>
            </a:r>
          </a:p>
          <a:p>
            <a:pPr>
              <a:spcBef>
                <a:spcPts val="400"/>
              </a:spcBef>
            </a:pPr>
            <a:r>
              <a:rPr sz="1050" b="0" i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/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2500" y="1350000"/>
            <a:ext cx="2682500" cy="100000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0000" rIns="120000" tIns="110000" bIns="80000"/>
          <a:lstStyle/>
          <a:p>
            <a:pPr algn="ctr"/>
            <a:r>
              <a:rPr sz="1100" b="0" i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ต้นทุนวัตถุดิบตามสูตร</a:t>
            </a:r>
          </a:p>
          <a:p>
            <a:pPr>
              <a:spcBef>
                <a:spcPts val="400"/>
              </a:spcBef>
            </a:pPr>
            <a:r>
              <a:rPr sz="2000" b="1" i="0">
                <a:solidFill>
                  <a:srgbClr val="1F2937"/>
                </a:solidFill>
                <a:latin typeface="Tahoma"/>
                <a:ea typeface="Tahoma"/>
                <a:cs typeface="Tahoma"/>
              </a:rPr>
              <a:t>฿2,219,281</a:t>
            </a:r>
          </a:p>
          <a:p>
            <a:pPr>
              <a:spcBef>
                <a:spcPts val="400"/>
              </a:spcBef>
            </a:pPr>
            <a:r>
              <a:rPr sz="1050" b="0" i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62.4% ของยอดขาย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5000" y="1350000"/>
            <a:ext cx="2682500" cy="100000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0000" rIns="120000" tIns="110000" bIns="80000"/>
          <a:lstStyle/>
          <a:p>
            <a:pPr algn="ctr"/>
            <a:r>
              <a:rPr sz="1100" b="0" i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เปลี่ยนจากเดือนก่อน</a:t>
            </a:r>
          </a:p>
          <a:p>
            <a:pPr>
              <a:spcBef>
                <a:spcPts val="400"/>
              </a:spcBef>
            </a:pPr>
            <a:r>
              <a:rPr sz="2000" b="1" i="0">
                <a:solidFill>
                  <a:srgbClr val="1F2937"/>
                </a:solidFill>
                <a:latin typeface="Tahoma"/>
                <a:ea typeface="Tahoma"/>
                <a:cs typeface="Tahoma"/>
              </a:rPr>
              <a:t>+0.5 จุด</a:t>
            </a:r>
          </a:p>
          <a:p>
            <a:pPr>
              <a:spcBef>
                <a:spcPts val="400"/>
              </a:spcBef>
            </a:pPr>
            <a:r>
              <a:rPr sz="1050" b="0" i="0">
                <a:solidFill>
                  <a:srgbClr val="B91C1C"/>
                </a:solidFill>
                <a:latin typeface="Tahoma"/>
                <a:ea typeface="Tahoma"/>
                <a:cs typeface="Tahoma"/>
              </a:rPr>
              <a:t>61.9% เดือนก่อน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67500" y="1350000"/>
            <a:ext cx="2682500" cy="100000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0000" rIns="120000" tIns="110000" bIns="80000"/>
          <a:lstStyle/>
          <a:p>
            <a:pPr algn="ctr"/>
            <a:r>
              <a:rPr sz="1100" b="0" i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ควรสั่งซื้อ 48 รายการหลัก/เดือน</a:t>
            </a:r>
          </a:p>
          <a:p>
            <a:pPr>
              <a:spcBef>
                <a:spcPts val="400"/>
              </a:spcBef>
            </a:pPr>
            <a:r>
              <a:rPr sz="2000" b="1" i="0">
                <a:solidFill>
                  <a:srgbClr val="1F2937"/>
                </a:solidFill>
                <a:latin typeface="Tahoma"/>
                <a:ea typeface="Tahoma"/>
                <a:cs typeface="Tahoma"/>
              </a:rPr>
              <a:t>฿766,004</a:t>
            </a:r>
          </a:p>
          <a:p>
            <a:pPr>
              <a:spcBef>
                <a:spcPts val="400"/>
              </a:spcBef>
            </a:pPr>
            <a:r>
              <a:rPr sz="1050" b="0" i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51 รายการ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0000" y="2500000"/>
            <a:ext cx="5500000" cy="2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B91C1C"/>
                </a:solidFill>
                <a:latin typeface="Tahoma"/>
                <a:ea typeface="Tahoma"/>
                <a:cs typeface="Tahoma"/>
              </a:rPr>
              <a:t>เมนูต้นทุนเพิ่มขึ้นมากสุด (MoM)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00000" y="2780000"/>
          <a:ext cx="5300000" cy="120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00000"/>
                <a:gridCol w="1700000"/>
                <a:gridCol w="1500000"/>
              </a:tblGrid>
              <a:tr h="300000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เมนู</a:t>
                      </a:r>
                    </a:p>
                  </a:txBody>
                  <a:tcPr marL="70000" marR="70000" marT="35000" marB="35000" anchor="ctr">
                    <a:solidFill>
                      <a:srgbClr val="203C8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ต้นทุนเดือนนี้</a:t>
                      </a:r>
                    </a:p>
                  </a:txBody>
                  <a:tcPr marL="70000" marR="70000" marT="35000" marB="35000" anchor="ctr">
                    <a:solidFill>
                      <a:srgbClr val="203C8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เปลี่ยน</a:t>
                      </a:r>
                    </a:p>
                  </a:txBody>
                  <a:tcPr marL="70000" marR="70000" marT="35000" marB="35000" anchor="ctr">
                    <a:solidFill>
                      <a:srgbClr val="203C81"/>
                    </a:solidFill>
                  </a:tcPr>
                </a:tc>
              </a:tr>
              <a:tr h="30000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(B) แซลมอน ซาชิมิ (1 ชิ้น)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฿390,885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+฿63,365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(B) แซลมอนดอง (3 ชิ้น)</a:t>
                      </a:r>
                    </a:p>
                  </a:txBody>
                  <a:tcPr marL="70000" marR="70000" marT="35000" marB="35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฿144,968</a:t>
                      </a:r>
                    </a:p>
                  </a:txBody>
                  <a:tcPr marL="70000" marR="70000" marT="35000" marB="35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+฿28,589</a:t>
                      </a:r>
                    </a:p>
                  </a:txBody>
                  <a:tcPr marL="70000" marR="70000" marT="35000" marB="35000" anchor="ctr">
                    <a:solidFill>
                      <a:srgbClr val="F8FAFC"/>
                    </a:solidFill>
                  </a:tcPr>
                </a:tc>
              </a:tr>
              <a:tr h="30000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(B) ปลาฮามาจิ ซาชิมิ (1ชิ…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฿59,837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+฿13,891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6200000" y="2500000"/>
            <a:ext cx="5500000" cy="2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047757"/>
                </a:solidFill>
                <a:latin typeface="Tahoma"/>
                <a:ea typeface="Tahoma"/>
                <a:cs typeface="Tahoma"/>
              </a:rPr>
              <a:t>เมนูต้นทุนลดลงมากสุด (MoM)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6200000" y="2780000"/>
          <a:ext cx="5300000" cy="120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00000"/>
                <a:gridCol w="1700000"/>
                <a:gridCol w="1500000"/>
              </a:tblGrid>
              <a:tr h="300000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เมนู</a:t>
                      </a:r>
                    </a:p>
                  </a:txBody>
                  <a:tcPr marL="70000" marR="70000" marT="35000" marB="35000" anchor="ctr">
                    <a:solidFill>
                      <a:srgbClr val="203C8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ต้นทุนเดือนนี้</a:t>
                      </a:r>
                    </a:p>
                  </a:txBody>
                  <a:tcPr marL="70000" marR="70000" marT="35000" marB="35000" anchor="ctr">
                    <a:solidFill>
                      <a:srgbClr val="203C8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เปลี่ยน</a:t>
                      </a:r>
                    </a:p>
                  </a:txBody>
                  <a:tcPr marL="70000" marR="70000" marT="35000" marB="35000" anchor="ctr">
                    <a:solidFill>
                      <a:srgbClr val="203C81"/>
                    </a:solidFill>
                  </a:tcPr>
                </a:tc>
              </a:tr>
              <a:tr h="30000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(B) ทุเรียน (1 เม็ด)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฿0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฿-8,024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(B) เกี๊ยวซ่าชีส (1 ชิ้น)</a:t>
                      </a:r>
                    </a:p>
                  </a:txBody>
                  <a:tcPr marL="70000" marR="70000" marT="35000" marB="35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฿12,788</a:t>
                      </a:r>
                    </a:p>
                  </a:txBody>
                  <a:tcPr marL="70000" marR="70000" marT="35000" marB="35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฿-3,039</a:t>
                      </a:r>
                    </a:p>
                  </a:txBody>
                  <a:tcPr marL="70000" marR="70000" marT="35000" marB="35000" anchor="ctr">
                    <a:solidFill>
                      <a:srgbClr val="F8FAFC"/>
                    </a:solidFill>
                  </a:tcPr>
                </a:tc>
              </a:tr>
              <a:tr h="30000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(B) หนังปลาแซลมอนทอดกรอบห…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฿8,409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฿-1,748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600000" y="4100000"/>
            <a:ext cx="9000000" cy="2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203C81"/>
                </a:solidFill>
                <a:latin typeface="Tahoma"/>
                <a:ea typeface="Tahoma"/>
                <a:cs typeface="Tahoma"/>
              </a:rPr>
              <a:t>วัตถุดิบทั้งหมดที่ควรสั่งซื้อ (51 รายการ) — ดูสไลด์ถัดไป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0000" y="6600000"/>
            <a:ext cx="11150000" cy="2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Oshinei · ต้นทุนวัตถุดิบเทียบยอดขาย &amp; แผนสั่งซื้อวัตถุดิบหลัก 48 ชนิด  ·  10/92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0578" cy="6858000"/>
          </a:xfrm>
          <a:prstGeom prst="rect">
            <a:avLst/>
          </a:prstGeom>
          <a:solidFill>
            <a:srgbClr val="203C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0785" y="51759"/>
            <a:ext cx="1171755" cy="117175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00000" y="230000"/>
            <a:ext cx="1115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i="0" spc="15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ส่วนที่ 3 · รายละเอียดรายสาขา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00" y="420000"/>
            <a:ext cx="1115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 i="0">
                <a:solidFill>
                  <a:srgbClr val="203C81"/>
                </a:solidFill>
                <a:latin typeface="Tahoma"/>
                <a:ea typeface="Tahoma"/>
                <a:cs typeface="Tahoma"/>
              </a:rPr>
              <a:t>ฉะเชิงเทรา — วัตถุดิบทั้งหมดที่ควรสั่งซื้อ (51 รายการ) (หน้า 1/2)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00000" y="1300000"/>
          <a:ext cx="11150000" cy="515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00000"/>
                <a:gridCol w="6200000"/>
                <a:gridCol w="2700000"/>
                <a:gridCol w="1850000"/>
              </a:tblGrid>
              <a:tr h="200000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#</a:t>
                      </a:r>
                    </a:p>
                  </a:txBody>
                  <a:tcPr marL="70000" marR="70000" marT="12000" marB="12000" anchor="ctr">
                    <a:solidFill>
                      <a:srgbClr val="203C8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วัตถุดิบ</a:t>
                      </a:r>
                    </a:p>
                  </a:txBody>
                  <a:tcPr marL="70000" marR="70000" marT="12000" marB="12000" anchor="ctr">
                    <a:solidFill>
                      <a:srgbClr val="203C8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ควรสั่ง/เดือน</a:t>
                      </a:r>
                    </a:p>
                  </a:txBody>
                  <a:tcPr marL="70000" marR="70000" marT="12000" marB="12000" anchor="ctr">
                    <a:solidFill>
                      <a:srgbClr val="203C8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มูลค่า/เดือน (฿)</a:t>
                      </a:r>
                    </a:p>
                  </a:txBody>
                  <a:tcPr marL="70000" marR="70000" marT="12000" marB="12000" anchor="ctr">
                    <a:solidFill>
                      <a:srgbClr val="203C81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เนื้อปลาทูน่า 1 ชิ้น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138 แพ็ค 1 กก. (138.00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80,040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กุ้งแกะเปลือก  5 ตัวละ 15 กรัม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19 แพ็ค 10 กก. (190.00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58,862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หอยเซลล์ต้ม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107 แพ็ค 1 กก. (107.00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55,640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ปลาไหลอูนางิ 70 P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445 แพ็ค 120 กรัม (53.40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42,275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5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ไข่หอยเม่น แช่แข็ง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164 แพ็ค 100 กรัม (16.40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41,820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6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เนื้อใบพายออสเตรเลียสไลด์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86 แพ็ค 1 กก. (86.00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40,420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7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หอยนางรมญี่ปุ่น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2,926 ตัว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38,231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8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เนื้อเสือร้องไห้สไลด์ ( 5 ชิ้นละ 10 กรัม 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8 แพ็ค 10 กก. (80.00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28,160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9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เนื้อออสเตรเลียแบบตัด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46 แพ็ค 1 กก. (46.00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25,944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10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ปลาฮามาจิ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26 แพ็ค 1.85 กก. (48.10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25,116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11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หนวดปลาหมึกยักษ์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 แพ็ค 12 กก. (48.00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24,940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12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สาหร่ายโนริแผ่น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6,439 แผ่น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23,528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13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กุ้งอาเจนติน่า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28 แพ็ค 2 กก. (56.00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22,596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14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ปลาเนื้อขาวหั่นเต๋า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8 แพ็ค 10 กก. (80.00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22,504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15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ปลาซาบะดอง 6 ชิ้น ชิ้นละ 10 กรัม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 แพ็ค 12.5 กก. (37.50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21,309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16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ปลาหมึกกระดอง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6 แพ็ค 10 กก. (60.00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19,200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17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มันปูปรงรส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29 แพ็ค 1 กก. (29.00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18,473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18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ปลาไหลอนาโงะสไลด์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93 แพ็ค 200 กรัม (18.60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15,252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19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เนื้อชาโรเล่ส์หมักเสียบไม้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1,728 ชิ้น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14,686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20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ไข่กุ้ง Ebiko Grade A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 แพ็ค 10 กก. (30.00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13,296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21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ปลาไหลสไลด์ 9 ชิ้น ชิ้นละ 6 กรัม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 แพ็ค 7.2 กก. (14.40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12,960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22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ปลาซาบะ ½ ตัว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 แพ็ค 20 กก. (60.00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11,934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23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เบสซอฟต์ครีมรสมัตฉะ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41 แพ็ค 4.4 กก. (180.40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11,123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24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ไข่หวานหั่นเต๋า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6 แพ็ค 10 กก. (60.00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10,914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25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ปีกไก่สำเร็จรูป 1 ชิ้น / 35 กรัม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 แพ็ค 10 กก. (30.00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10,339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26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เนื้อสไลด์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25 กก.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8,316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27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ตับปลาอังกิโมะ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1,027 แพ็ค 15 กรัม (15.40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8,216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28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สาเกสำหรับปรุงอาหาร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 แพ็ค 18 ลิตร (54.00 ลิตร)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6,138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29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ปลาดอลลี่ ½ ตัว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7 แพ็ค 10 กก. (70.00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5,733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30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กุ้งเทมปุระ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1,167 ชิ้น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5,636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00000" y="6600000"/>
            <a:ext cx="11150000" cy="2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Oshinei · ต้นทุนวัตถุดิบเทียบยอดขาย &amp; แผนสั่งซื้อวัตถุดิบหลัก 48 ชนิด  ·  11/92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0578" cy="6858000"/>
          </a:xfrm>
          <a:prstGeom prst="rect">
            <a:avLst/>
          </a:prstGeom>
          <a:solidFill>
            <a:srgbClr val="203C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0785" y="51759"/>
            <a:ext cx="1171755" cy="117175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00000" y="230000"/>
            <a:ext cx="1115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i="0" spc="15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ส่วนที่ 3 · รายละเอียดรายสาขา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00" y="420000"/>
            <a:ext cx="1115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 i="0">
                <a:solidFill>
                  <a:srgbClr val="203C81"/>
                </a:solidFill>
                <a:latin typeface="Tahoma"/>
                <a:ea typeface="Tahoma"/>
                <a:cs typeface="Tahoma"/>
              </a:rPr>
              <a:t>ฉะเชิงเทรา — วัตถุดิบทั้งหมดที่ควรสั่งซื้อ (51 รายการ) (หน้า 2/2)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00000" y="1300000"/>
          <a:ext cx="11150000" cy="3665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00000"/>
                <a:gridCol w="6200000"/>
                <a:gridCol w="2700000"/>
                <a:gridCol w="1850000"/>
              </a:tblGrid>
              <a:tr h="200000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#</a:t>
                      </a:r>
                    </a:p>
                  </a:txBody>
                  <a:tcPr marL="70000" marR="70000" marT="12000" marB="12000" anchor="ctr">
                    <a:solidFill>
                      <a:srgbClr val="203C8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วัตถุดิบ</a:t>
                      </a:r>
                    </a:p>
                  </a:txBody>
                  <a:tcPr marL="70000" marR="70000" marT="12000" marB="12000" anchor="ctr">
                    <a:solidFill>
                      <a:srgbClr val="203C8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ควรสั่ง/เดือน</a:t>
                      </a:r>
                    </a:p>
                  </a:txBody>
                  <a:tcPr marL="70000" marR="70000" marT="12000" marB="12000" anchor="ctr">
                    <a:solidFill>
                      <a:srgbClr val="203C8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มูลค่า/เดือน (฿)</a:t>
                      </a:r>
                    </a:p>
                  </a:txBody>
                  <a:tcPr marL="70000" marR="70000" marT="12000" marB="12000" anchor="ctr">
                    <a:solidFill>
                      <a:srgbClr val="203C81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31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ปลาเงินทอดกรอบ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16 แพ็ค 250 กรัม (4.00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5,055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32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วาซาบิ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 แพ็ค 10 กก. (10.00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4,789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33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เกี๊ยวซ่าอูนิ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390 ชิ้น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4,672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34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หอยสังข์ญี่ปุ่น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17 แพ็ค 120 กรัม (2.04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4,505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35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น้ำดองสไลต์เกาหลี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 แพ็ค 20 ลิตร (40.00 ลิตร)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4,240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36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เนื้อชาโรเล่ส์หมักเสียบไม้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481 ไม้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4,007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37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หอยเป๋าฮื้อ ตุ๋นปรุงรส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90 ตัว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3,558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38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เนื้อออสเตรเลียสไลด์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 แพ็ค 1 กก. (4.00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2,864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39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มิริน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 แพ็ค 20 ลิตร (20.00 ลิตร)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1,648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40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เนื้อวากิวพับนอก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 แพ็ค 1 กก. (3.00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1,601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41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สาหร่ายวากาแมะ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 กก.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1,476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42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ข้าวญี่ปุ่นปรุงรส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 แพ็ค 25 กก. (25.00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1,080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43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สาหร่ายโนรี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 กก.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994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44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แป้งเทมปุระผง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 แพ็ค 10 กก. (10.00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770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45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กุ้งยืด Ebi Tempura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81 ตัว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387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46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เบสซอฟต์ครีมทูโทน (รสมัตฉะ และรสนม)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 แพ็ค 4.4 กก. (4.40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271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47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ไข่ปลาแซลมอน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 กก.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260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48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กุ้งลายเสือ (อิงราคากุ้งอาร์เจนติน่า/ตัว)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8 ตัว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117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49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หอยนางรมญี่ปุ่น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5 ชิ้น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62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50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หอยเชลล์ต้ม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 กก.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41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51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สาหร่ายโนริหั่นฝอย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 ชิ้น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6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00000" y="6600000"/>
            <a:ext cx="11150000" cy="2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Oshinei · ต้นทุนวัตถุดิบเทียบยอดขาย &amp; แผนสั่งซื้อวัตถุดิบหลัก 48 ชนิด  ·  12/92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0578" cy="6858000"/>
          </a:xfrm>
          <a:prstGeom prst="rect">
            <a:avLst/>
          </a:prstGeom>
          <a:solidFill>
            <a:srgbClr val="203C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0785" y="51759"/>
            <a:ext cx="1171755" cy="117175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00000" y="230000"/>
            <a:ext cx="1115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i="0" spc="15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ส่วนที่ 3 · รายละเอียดรายสาขา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00" y="420000"/>
            <a:ext cx="1115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203C81"/>
                </a:solidFill>
                <a:latin typeface="Tahoma"/>
                <a:ea typeface="Tahoma"/>
                <a:cs typeface="Tahoma"/>
              </a:rPr>
              <a:t>ชลบุรี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0000" y="950000"/>
            <a:ext cx="1115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อันดับต้นทุนอาหาร #17/28 (1=สูงสุด)  ·  อันดับมูลค่าสั่งซื้อ #2/28 (1=สูงสุด)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0000" y="1350000"/>
            <a:ext cx="2682500" cy="100000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0000" rIns="120000" tIns="110000" bIns="80000"/>
          <a:lstStyle/>
          <a:p>
            <a:pPr algn="ctr"/>
            <a:r>
              <a:rPr sz="1100" b="0" i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ยอดขาย (ไม่รวม VAT)</a:t>
            </a:r>
          </a:p>
          <a:p>
            <a:pPr>
              <a:spcBef>
                <a:spcPts val="400"/>
              </a:spcBef>
            </a:pPr>
            <a:r>
              <a:rPr sz="2000" b="1" i="0">
                <a:solidFill>
                  <a:srgbClr val="1F2937"/>
                </a:solidFill>
                <a:latin typeface="Tahoma"/>
                <a:ea typeface="Tahoma"/>
                <a:cs typeface="Tahoma"/>
              </a:rPr>
              <a:t>฿5,119,857</a:t>
            </a:r>
          </a:p>
          <a:p>
            <a:pPr>
              <a:spcBef>
                <a:spcPts val="400"/>
              </a:spcBef>
            </a:pPr>
            <a:r>
              <a:rPr sz="1050" b="0" i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/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2500" y="1350000"/>
            <a:ext cx="2682500" cy="100000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0000" rIns="120000" tIns="110000" bIns="80000"/>
          <a:lstStyle/>
          <a:p>
            <a:pPr algn="ctr"/>
            <a:r>
              <a:rPr sz="1100" b="0" i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ต้นทุนวัตถุดิบตามสูตร</a:t>
            </a:r>
          </a:p>
          <a:p>
            <a:pPr>
              <a:spcBef>
                <a:spcPts val="400"/>
              </a:spcBef>
            </a:pPr>
            <a:r>
              <a:rPr sz="2000" b="1" i="0">
                <a:solidFill>
                  <a:srgbClr val="1F2937"/>
                </a:solidFill>
                <a:latin typeface="Tahoma"/>
                <a:ea typeface="Tahoma"/>
                <a:cs typeface="Tahoma"/>
              </a:rPr>
              <a:t>฿2,928,474</a:t>
            </a:r>
          </a:p>
          <a:p>
            <a:pPr>
              <a:spcBef>
                <a:spcPts val="400"/>
              </a:spcBef>
            </a:pPr>
            <a:r>
              <a:rPr sz="1050" b="0" i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57.2% ของยอดขาย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5000" y="1350000"/>
            <a:ext cx="2682500" cy="100000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0000" rIns="120000" tIns="110000" bIns="80000"/>
          <a:lstStyle/>
          <a:p>
            <a:pPr algn="ctr"/>
            <a:r>
              <a:rPr sz="1100" b="0" i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เปลี่ยนจากเดือนก่อน</a:t>
            </a:r>
          </a:p>
          <a:p>
            <a:pPr>
              <a:spcBef>
                <a:spcPts val="400"/>
              </a:spcBef>
            </a:pPr>
            <a:r>
              <a:rPr sz="2000" b="1" i="0">
                <a:solidFill>
                  <a:srgbClr val="1F2937"/>
                </a:solidFill>
                <a:latin typeface="Tahoma"/>
                <a:ea typeface="Tahoma"/>
                <a:cs typeface="Tahoma"/>
              </a:rPr>
              <a:t>-0.7 จุด</a:t>
            </a:r>
          </a:p>
          <a:p>
            <a:pPr>
              <a:spcBef>
                <a:spcPts val="400"/>
              </a:spcBef>
            </a:pPr>
            <a:r>
              <a:rPr sz="1050" b="0" i="0">
                <a:solidFill>
                  <a:srgbClr val="047757"/>
                </a:solidFill>
                <a:latin typeface="Tahoma"/>
                <a:ea typeface="Tahoma"/>
                <a:cs typeface="Tahoma"/>
              </a:rPr>
              <a:t>57.9% เดือนก่อน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67500" y="1350000"/>
            <a:ext cx="2682500" cy="100000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0000" rIns="120000" tIns="110000" bIns="80000"/>
          <a:lstStyle/>
          <a:p>
            <a:pPr algn="ctr"/>
            <a:r>
              <a:rPr sz="1100" b="0" i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ควรสั่งซื้อ 48 รายการหลัก/เดือน</a:t>
            </a:r>
          </a:p>
          <a:p>
            <a:pPr>
              <a:spcBef>
                <a:spcPts val="400"/>
              </a:spcBef>
            </a:pPr>
            <a:r>
              <a:rPr sz="2000" b="1" i="0">
                <a:solidFill>
                  <a:srgbClr val="1F2937"/>
                </a:solidFill>
                <a:latin typeface="Tahoma"/>
                <a:ea typeface="Tahoma"/>
                <a:cs typeface="Tahoma"/>
              </a:rPr>
              <a:t>฿973,533</a:t>
            </a:r>
          </a:p>
          <a:p>
            <a:pPr>
              <a:spcBef>
                <a:spcPts val="400"/>
              </a:spcBef>
            </a:pPr>
            <a:r>
              <a:rPr sz="1050" b="0" i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50 รายการ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0000" y="2500000"/>
            <a:ext cx="5500000" cy="2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B91C1C"/>
                </a:solidFill>
                <a:latin typeface="Tahoma"/>
                <a:ea typeface="Tahoma"/>
                <a:cs typeface="Tahoma"/>
              </a:rPr>
              <a:t>เมนูต้นทุนเพิ่มขึ้นมากสุด (MoM)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00000" y="2780000"/>
          <a:ext cx="5300000" cy="120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00000"/>
                <a:gridCol w="1700000"/>
                <a:gridCol w="1500000"/>
              </a:tblGrid>
              <a:tr h="300000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เมนู</a:t>
                      </a:r>
                    </a:p>
                  </a:txBody>
                  <a:tcPr marL="70000" marR="70000" marT="35000" marB="35000" anchor="ctr">
                    <a:solidFill>
                      <a:srgbClr val="203C8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ต้นทุนเดือนนี้</a:t>
                      </a:r>
                    </a:p>
                  </a:txBody>
                  <a:tcPr marL="70000" marR="70000" marT="35000" marB="35000" anchor="ctr">
                    <a:solidFill>
                      <a:srgbClr val="203C8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เปลี่ยน</a:t>
                      </a:r>
                    </a:p>
                  </a:txBody>
                  <a:tcPr marL="70000" marR="70000" marT="35000" marB="35000" anchor="ctr">
                    <a:solidFill>
                      <a:srgbClr val="203C81"/>
                    </a:solidFill>
                  </a:tcPr>
                </a:tc>
              </a:tr>
              <a:tr h="30000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(B) แซลมอน ซาชิมิ (1 ชิ้น)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฿541,989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+฿66,442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(B) เนื้อใบพายออสเตรเลียส…</a:t>
                      </a:r>
                    </a:p>
                  </a:txBody>
                  <a:tcPr marL="70000" marR="70000" marT="35000" marB="35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฿65,904</a:t>
                      </a:r>
                    </a:p>
                  </a:txBody>
                  <a:tcPr marL="70000" marR="70000" marT="35000" marB="35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+฿11,775</a:t>
                      </a:r>
                    </a:p>
                  </a:txBody>
                  <a:tcPr marL="70000" marR="70000" marT="35000" marB="35000" anchor="ctr">
                    <a:solidFill>
                      <a:srgbClr val="F8FAFC"/>
                    </a:solidFill>
                  </a:tcPr>
                </a:tc>
              </a:tr>
              <a:tr h="30000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(B) ยำแซลมอนน้ำปลาร้า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฿124,241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+฿10,913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6200000" y="2500000"/>
            <a:ext cx="5500000" cy="2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047757"/>
                </a:solidFill>
                <a:latin typeface="Tahoma"/>
                <a:ea typeface="Tahoma"/>
                <a:cs typeface="Tahoma"/>
              </a:rPr>
              <a:t>เมนูต้นทุนลดลงมากสุด (MoM)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6200000" y="2780000"/>
          <a:ext cx="5300000" cy="120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00000"/>
                <a:gridCol w="1700000"/>
                <a:gridCol w="1500000"/>
              </a:tblGrid>
              <a:tr h="300000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เมนู</a:t>
                      </a:r>
                    </a:p>
                  </a:txBody>
                  <a:tcPr marL="70000" marR="70000" marT="35000" marB="35000" anchor="ctr">
                    <a:solidFill>
                      <a:srgbClr val="203C8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ต้นทุนเดือนนี้</a:t>
                      </a:r>
                    </a:p>
                  </a:txBody>
                  <a:tcPr marL="70000" marR="70000" marT="35000" marB="35000" anchor="ctr">
                    <a:solidFill>
                      <a:srgbClr val="203C8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เปลี่ยน</a:t>
                      </a:r>
                    </a:p>
                  </a:txBody>
                  <a:tcPr marL="70000" marR="70000" marT="35000" marB="35000" anchor="ctr">
                    <a:solidFill>
                      <a:srgbClr val="203C81"/>
                    </a:solidFill>
                  </a:tcPr>
                </a:tc>
              </a:tr>
              <a:tr h="30000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(B) ทุเรียน (1 เม็ด)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฿0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฿-47,192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(B) ซูพรีม อูนิ ซูชิ (1 ช…</a:t>
                      </a:r>
                    </a:p>
                  </a:txBody>
                  <a:tcPr marL="70000" marR="70000" marT="35000" marB="35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฿55,912</a:t>
                      </a:r>
                    </a:p>
                  </a:txBody>
                  <a:tcPr marL="70000" marR="70000" marT="35000" marB="35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฿-11,326</a:t>
                      </a:r>
                    </a:p>
                  </a:txBody>
                  <a:tcPr marL="70000" marR="70000" marT="35000" marB="35000" anchor="ctr">
                    <a:solidFill>
                      <a:srgbClr val="F8FAFC"/>
                    </a:solidFill>
                  </a:tcPr>
                </a:tc>
              </a:tr>
              <a:tr h="30000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(B) ปลาไหลย่างซีอิ๊ว (1ตั…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฿43,706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฿-5,540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600000" y="4100000"/>
            <a:ext cx="9000000" cy="2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203C81"/>
                </a:solidFill>
                <a:latin typeface="Tahoma"/>
                <a:ea typeface="Tahoma"/>
                <a:cs typeface="Tahoma"/>
              </a:rPr>
              <a:t>วัตถุดิบทั้งหมดที่ควรสั่งซื้อ (50 รายการ) — ดูสไลด์ถัดไป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0000" y="6600000"/>
            <a:ext cx="11150000" cy="2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Oshinei · ต้นทุนวัตถุดิบเทียบยอดขาย &amp; แผนสั่งซื้อวัตถุดิบหลัก 48 ชนิด  ·  13/92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0578" cy="6858000"/>
          </a:xfrm>
          <a:prstGeom prst="rect">
            <a:avLst/>
          </a:prstGeom>
          <a:solidFill>
            <a:srgbClr val="203C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0785" y="51759"/>
            <a:ext cx="1171755" cy="117175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00000" y="230000"/>
            <a:ext cx="1115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i="0" spc="15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ส่วนที่ 3 · รายละเอียดรายสาขา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00" y="420000"/>
            <a:ext cx="1115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 i="0">
                <a:solidFill>
                  <a:srgbClr val="203C81"/>
                </a:solidFill>
                <a:latin typeface="Tahoma"/>
                <a:ea typeface="Tahoma"/>
                <a:cs typeface="Tahoma"/>
              </a:rPr>
              <a:t>ชลบุรี — วัตถุดิบทั้งหมดที่ควรสั่งซื้อ (50 รายการ) (หน้า 1/2)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00000" y="1300000"/>
          <a:ext cx="11150000" cy="515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00000"/>
                <a:gridCol w="6200000"/>
                <a:gridCol w="2700000"/>
                <a:gridCol w="1850000"/>
              </a:tblGrid>
              <a:tr h="200000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#</a:t>
                      </a:r>
                    </a:p>
                  </a:txBody>
                  <a:tcPr marL="70000" marR="70000" marT="12000" marB="12000" anchor="ctr">
                    <a:solidFill>
                      <a:srgbClr val="203C8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วัตถุดิบ</a:t>
                      </a:r>
                    </a:p>
                  </a:txBody>
                  <a:tcPr marL="70000" marR="70000" marT="12000" marB="12000" anchor="ctr">
                    <a:solidFill>
                      <a:srgbClr val="203C8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ควรสั่ง/เดือน</a:t>
                      </a:r>
                    </a:p>
                  </a:txBody>
                  <a:tcPr marL="70000" marR="70000" marT="12000" marB="12000" anchor="ctr">
                    <a:solidFill>
                      <a:srgbClr val="203C8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มูลค่า/เดือน (฿)</a:t>
                      </a:r>
                    </a:p>
                  </a:txBody>
                  <a:tcPr marL="70000" marR="70000" marT="12000" marB="12000" anchor="ctr">
                    <a:solidFill>
                      <a:srgbClr val="203C81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กุ้งลายเสือ (อิงราคากุ้งอาร์เจนติน่า/ตัว)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6,734 ตัว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111,030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เนื้อปลาทูน่า 1 ชิ้น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190 แพ็ค 1 กก. (190.00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110,200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กุ้งแกะเปลือก  5 ตัวละ 15 กรัม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21 แพ็ค 10 กก. (210.00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65,058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เนื้อใบพายออสเตรเลียสไลด์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129 แพ็ค 1 กก. (129.00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60,630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5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ไข่หอยเม่น แช่แข็ง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221 แพ็ค 100 กรัม (22.10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56,355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6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หอยเซลล์ต้ม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102 แพ็ค 1 กก. (102.00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53,040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7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ปลาไหลอูนางิ 70 P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498 แพ็ค 120 กรัม (59.76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47,310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8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หนวดปลาหมึกยักษ์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5 แพ็ค 12 กก. (60.00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31,175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9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สาหร่ายโนริ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8,050 แผ่น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29,514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10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ปลาฮามาจิ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28 แพ็ค 1.85 กก. (51.80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27,048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11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ปลาหมึกกระดอง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8 แพ็ค 10 กก. (80.00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25,600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12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ปลาเนื้อขาวหั่นเต๋า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9 แพ็ค 10 กก. (90.00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25,317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13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หอยนางรมญี่ปุ่น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1,904 ตัว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24,876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14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เนื้อเสือร้องไห้ ออสเตรเลียสไลด์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7 แพ็ค 10 กก. (70.00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24,640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15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ปลาซาบะดอง 6 ชิ้น ชิ้นละ 10 กรัม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 แพ็ค 12.5 กก. (37.50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21,309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16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เนื้อออสเตรเลียแบบตัด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36 แพ็ค 1 กก. (36.00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20,304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17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เนื้อชาโรเล่ส์หมักเสียบไม้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2,310 ชิ้น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19,635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18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ไข่กุ้ง Ebiko Grade A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 แพ็ค 10 กก. (40.00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17,728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19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กุ้งอาเจนติน่า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21 แพ็ค 2 กก. (42.00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16,947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20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ปลาซาบะ1 ชิ้น ½ ตัว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 แพ็ค 20 กก. (80.00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15,912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21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ปลาไหลอนาโงะ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95 แพ็ค 200 กรัม (19.00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15,580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22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ไข่หวานหั่นเต๋า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8 แพ็ค 10 กก. (80.00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14,552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23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เนื้อสไลด์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43 กก.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14,197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24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มันปูปรงรส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21 แพ็ค 1 กก. (21.00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13,377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25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ปลาไหลสไลด์ 9 ชิ้น ชิ้นละ 6 กรัม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 แพ็ค 7.2 กก. (14.40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12,960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26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ปีกไก่สำเร็จรูป 1 ชิ้น / 35 กรัม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 แพ็ค 10 กก. (30.00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10,339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27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ตับปลาอังกิโมะ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1,132 แพ็ค 15 กรัม (16.98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9,056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28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กุ้งเทมปุระ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1,709 ชิ้น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8,254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29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ปลาดอลลี่แช่แข็ง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10 แพ็ค 10 กก. (100.00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8,190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30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เบสซอฟต์ครีมรสมัตฉะ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26 แพ็ค 4.4 กก. (114.40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7,054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00000" y="6600000"/>
            <a:ext cx="11150000" cy="2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Oshinei · ต้นทุนวัตถุดิบเทียบยอดขาย &amp; แผนสั่งซื้อวัตถุดิบหลัก 48 ชนิด  ·  14/92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0578" cy="6858000"/>
          </a:xfrm>
          <a:prstGeom prst="rect">
            <a:avLst/>
          </a:prstGeom>
          <a:solidFill>
            <a:srgbClr val="203C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0785" y="51759"/>
            <a:ext cx="1171755" cy="117175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00000" y="230000"/>
            <a:ext cx="1115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i="0" spc="15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ส่วนที่ 3 · รายละเอียดรายสาขา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00" y="420000"/>
            <a:ext cx="1115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 i="0">
                <a:solidFill>
                  <a:srgbClr val="203C81"/>
                </a:solidFill>
                <a:latin typeface="Tahoma"/>
                <a:ea typeface="Tahoma"/>
                <a:cs typeface="Tahoma"/>
              </a:rPr>
              <a:t>ชลบุรี — วัตถุดิบทั้งหมดที่ควรสั่งซื้อ (50 รายการ) (หน้า 2/2)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00000" y="1300000"/>
          <a:ext cx="11150000" cy="350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00000"/>
                <a:gridCol w="6200000"/>
                <a:gridCol w="2700000"/>
                <a:gridCol w="1850000"/>
              </a:tblGrid>
              <a:tr h="200000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#</a:t>
                      </a:r>
                    </a:p>
                  </a:txBody>
                  <a:tcPr marL="70000" marR="70000" marT="12000" marB="12000" anchor="ctr">
                    <a:solidFill>
                      <a:srgbClr val="203C8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วัตถุดิบ</a:t>
                      </a:r>
                    </a:p>
                  </a:txBody>
                  <a:tcPr marL="70000" marR="70000" marT="12000" marB="12000" anchor="ctr">
                    <a:solidFill>
                      <a:srgbClr val="203C8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ควรสั่ง/เดือน</a:t>
                      </a:r>
                    </a:p>
                  </a:txBody>
                  <a:tcPr marL="70000" marR="70000" marT="12000" marB="12000" anchor="ctr">
                    <a:solidFill>
                      <a:srgbClr val="203C8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มูลค่า/เดือน (฿)</a:t>
                      </a:r>
                    </a:p>
                  </a:txBody>
                  <a:tcPr marL="70000" marR="70000" marT="12000" marB="12000" anchor="ctr">
                    <a:solidFill>
                      <a:srgbClr val="203C81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31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เบสซอฟต์ครีมรสนม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24 แพ็ค 4.4 กก. (105.60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6,517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32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สาเกสำหรับปรุงอาหาร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 แพ็ค 18 ลิตร (54.00 ลิตร)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6,138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33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วาซาบิ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 แพ็ค 10 กก. (10.00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4,789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34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ปลาเงินทอดกรอบ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15 แพ็ค 250 กรัม (3.75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4,739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35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เกี๊ยวซ่าอูนิ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393 ชิ้น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4,710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36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น้ำดองซีอิ๊ว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 แพ็ค 20 ลิตร (40.00 ลิตร)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4,240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37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หอยสังข์ญี่ปุ่น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16 แพ็ค 120 กรัม (1.92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4,240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38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เนื้อชาโรเล่ส์หมักเสียบไม้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507 ไม้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4,213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39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เนื้อออสเตรเลียสไลด์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5 แพ็ค 1 กก. (5.00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3,580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40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หอยเป๋าฮื้อ ตุ๋นปรุงรส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79 ตัว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3,136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41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ข้าวญี่ปุ่นปรุงรส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 แพ็ค 25 กก. (50.00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2,160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42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สาหร่ายโนรี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 กก.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2,007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43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เนื้อวากิวพับนอก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 แพ็ค 1 กก. (3.00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1,601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44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แป้งเทมปุระผง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 แพ็ค 10 กก. (20.00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1,541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45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สาหร่ายวากาแมะ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 กก.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928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46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กุ้งยืด Ebi Tempura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163 ตัว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786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47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ปลาฮามาจิ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 กก.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584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48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ไข่ปลาแซลมอน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 กก.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398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49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สาหร่ายโนริหั่นฝอย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7 ชิ้น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23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50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หอยนางรมญี่ปุ่น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 ชิ้น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15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00000" y="6600000"/>
            <a:ext cx="11150000" cy="2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Oshinei · ต้นทุนวัตถุดิบเทียบยอดขาย &amp; แผนสั่งซื้อวัตถุดิบหลัก 48 ชนิด  ·  15/92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0578" cy="6858000"/>
          </a:xfrm>
          <a:prstGeom prst="rect">
            <a:avLst/>
          </a:prstGeom>
          <a:solidFill>
            <a:srgbClr val="203C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0785" y="51759"/>
            <a:ext cx="1171755" cy="117175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00000" y="230000"/>
            <a:ext cx="1115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i="0" spc="15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ส่วนที่ 3 · รายละเอียดรายสาขา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00" y="420000"/>
            <a:ext cx="1115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203C81"/>
                </a:solidFill>
                <a:latin typeface="Tahoma"/>
                <a:ea typeface="Tahoma"/>
                <a:cs typeface="Tahoma"/>
              </a:rPr>
              <a:t>นครปฐม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0000" y="950000"/>
            <a:ext cx="1115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อันดับต้นทุนอาหาร #19/28 (1=สูงสุด)  ·  อันดับมูลค่าสั่งซื้อ #6/28 (1=สูงสุด)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0000" y="1350000"/>
            <a:ext cx="2682500" cy="100000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0000" rIns="120000" tIns="110000" bIns="80000"/>
          <a:lstStyle/>
          <a:p>
            <a:pPr algn="ctr"/>
            <a:r>
              <a:rPr sz="1100" b="0" i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ยอดขาย (ไม่รวม VAT)</a:t>
            </a:r>
          </a:p>
          <a:p>
            <a:pPr>
              <a:spcBef>
                <a:spcPts val="400"/>
              </a:spcBef>
            </a:pPr>
            <a:r>
              <a:rPr sz="2000" b="1" i="0">
                <a:solidFill>
                  <a:srgbClr val="1F2937"/>
                </a:solidFill>
                <a:latin typeface="Tahoma"/>
                <a:ea typeface="Tahoma"/>
                <a:cs typeface="Tahoma"/>
              </a:rPr>
              <a:t>฿4,822,431</a:t>
            </a:r>
          </a:p>
          <a:p>
            <a:pPr>
              <a:spcBef>
                <a:spcPts val="400"/>
              </a:spcBef>
            </a:pPr>
            <a:r>
              <a:rPr sz="1050" b="0" i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/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2500" y="1350000"/>
            <a:ext cx="2682500" cy="100000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0000" rIns="120000" tIns="110000" bIns="80000"/>
          <a:lstStyle/>
          <a:p>
            <a:pPr algn="ctr"/>
            <a:r>
              <a:rPr sz="1100" b="0" i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ต้นทุนวัตถุดิบตามสูตร</a:t>
            </a:r>
          </a:p>
          <a:p>
            <a:pPr>
              <a:spcBef>
                <a:spcPts val="400"/>
              </a:spcBef>
            </a:pPr>
            <a:r>
              <a:rPr sz="2000" b="1" i="0">
                <a:solidFill>
                  <a:srgbClr val="1F2937"/>
                </a:solidFill>
                <a:latin typeface="Tahoma"/>
                <a:ea typeface="Tahoma"/>
                <a:cs typeface="Tahoma"/>
              </a:rPr>
              <a:t>฿2,718,677</a:t>
            </a:r>
          </a:p>
          <a:p>
            <a:pPr>
              <a:spcBef>
                <a:spcPts val="400"/>
              </a:spcBef>
            </a:pPr>
            <a:r>
              <a:rPr sz="1050" b="0" i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56.4% ของยอดขาย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5000" y="1350000"/>
            <a:ext cx="2682500" cy="100000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0000" rIns="120000" tIns="110000" bIns="80000"/>
          <a:lstStyle/>
          <a:p>
            <a:pPr algn="ctr"/>
            <a:r>
              <a:rPr sz="1100" b="0" i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เปลี่ยนจากเดือนก่อน</a:t>
            </a:r>
          </a:p>
          <a:p>
            <a:pPr>
              <a:spcBef>
                <a:spcPts val="400"/>
              </a:spcBef>
            </a:pPr>
            <a:r>
              <a:rPr sz="2000" b="1" i="0">
                <a:solidFill>
                  <a:srgbClr val="1F2937"/>
                </a:solidFill>
                <a:latin typeface="Tahoma"/>
                <a:ea typeface="Tahoma"/>
                <a:cs typeface="Tahoma"/>
              </a:rPr>
              <a:t>+0.7 จุด</a:t>
            </a:r>
          </a:p>
          <a:p>
            <a:pPr>
              <a:spcBef>
                <a:spcPts val="400"/>
              </a:spcBef>
            </a:pPr>
            <a:r>
              <a:rPr sz="1050" b="0" i="0">
                <a:solidFill>
                  <a:srgbClr val="B91C1C"/>
                </a:solidFill>
                <a:latin typeface="Tahoma"/>
                <a:ea typeface="Tahoma"/>
                <a:cs typeface="Tahoma"/>
              </a:rPr>
              <a:t>55.7% เดือนก่อน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67500" y="1350000"/>
            <a:ext cx="2682500" cy="100000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0000" rIns="120000" tIns="110000" bIns="80000"/>
          <a:lstStyle/>
          <a:p>
            <a:pPr algn="ctr"/>
            <a:r>
              <a:rPr sz="1100" b="0" i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ควรสั่งซื้อ 48 รายการหลัก/เดือน</a:t>
            </a:r>
          </a:p>
          <a:p>
            <a:pPr>
              <a:spcBef>
                <a:spcPts val="400"/>
              </a:spcBef>
            </a:pPr>
            <a:r>
              <a:rPr sz="2000" b="1" i="0">
                <a:solidFill>
                  <a:srgbClr val="1F2937"/>
                </a:solidFill>
                <a:latin typeface="Tahoma"/>
                <a:ea typeface="Tahoma"/>
                <a:cs typeface="Tahoma"/>
              </a:rPr>
              <a:t>฿872,276</a:t>
            </a:r>
          </a:p>
          <a:p>
            <a:pPr>
              <a:spcBef>
                <a:spcPts val="400"/>
              </a:spcBef>
            </a:pPr>
            <a:r>
              <a:rPr sz="1050" b="0" i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53 รายการ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0000" y="2500000"/>
            <a:ext cx="5500000" cy="2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B91C1C"/>
                </a:solidFill>
                <a:latin typeface="Tahoma"/>
                <a:ea typeface="Tahoma"/>
                <a:cs typeface="Tahoma"/>
              </a:rPr>
              <a:t>เมนูต้นทุนเพิ่มขึ้นมากสุด (MoM)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00000" y="2780000"/>
          <a:ext cx="5300000" cy="120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00000"/>
                <a:gridCol w="1700000"/>
                <a:gridCol w="1500000"/>
              </a:tblGrid>
              <a:tr h="300000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เมนู</a:t>
                      </a:r>
                    </a:p>
                  </a:txBody>
                  <a:tcPr marL="70000" marR="70000" marT="35000" marB="35000" anchor="ctr">
                    <a:solidFill>
                      <a:srgbClr val="203C8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ต้นทุนเดือนนี้</a:t>
                      </a:r>
                    </a:p>
                  </a:txBody>
                  <a:tcPr marL="70000" marR="70000" marT="35000" marB="35000" anchor="ctr">
                    <a:solidFill>
                      <a:srgbClr val="203C8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เปลี่ยน</a:t>
                      </a:r>
                    </a:p>
                  </a:txBody>
                  <a:tcPr marL="70000" marR="70000" marT="35000" marB="35000" anchor="ctr">
                    <a:solidFill>
                      <a:srgbClr val="203C81"/>
                    </a:solidFill>
                  </a:tcPr>
                </a:tc>
              </a:tr>
              <a:tr h="30000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(B) แซลมอน ซาชิมิ (1 ชิ้น)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฿543,220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+฿69,738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(B) แซลมอนดอง (3 ชิ้น)</a:t>
                      </a:r>
                    </a:p>
                  </a:txBody>
                  <a:tcPr marL="70000" marR="70000" marT="35000" marB="35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฿159,897</a:t>
                      </a:r>
                    </a:p>
                  </a:txBody>
                  <a:tcPr marL="70000" marR="70000" marT="35000" marB="35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+฿19,391</a:t>
                      </a:r>
                    </a:p>
                  </a:txBody>
                  <a:tcPr marL="70000" marR="70000" marT="35000" marB="35000" anchor="ctr">
                    <a:solidFill>
                      <a:srgbClr val="F8FAFC"/>
                    </a:solidFill>
                  </a:tcPr>
                </a:tc>
              </a:tr>
              <a:tr h="30000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(B) เนื้อใบพายออสเตรเลียส…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฿35,683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+฿9,941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6200000" y="2500000"/>
            <a:ext cx="5500000" cy="2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047757"/>
                </a:solidFill>
                <a:latin typeface="Tahoma"/>
                <a:ea typeface="Tahoma"/>
                <a:cs typeface="Tahoma"/>
              </a:rPr>
              <a:t>เมนูต้นทุนลดลงมากสุด (MoM)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6200000" y="2780000"/>
          <a:ext cx="5300000" cy="120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00000"/>
                <a:gridCol w="1700000"/>
                <a:gridCol w="1500000"/>
              </a:tblGrid>
              <a:tr h="300000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เมนู</a:t>
                      </a:r>
                    </a:p>
                  </a:txBody>
                  <a:tcPr marL="70000" marR="70000" marT="35000" marB="35000" anchor="ctr">
                    <a:solidFill>
                      <a:srgbClr val="203C8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ต้นทุนเดือนนี้</a:t>
                      </a:r>
                    </a:p>
                  </a:txBody>
                  <a:tcPr marL="70000" marR="70000" marT="35000" marB="35000" anchor="ctr">
                    <a:solidFill>
                      <a:srgbClr val="203C8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เปลี่ยน</a:t>
                      </a:r>
                    </a:p>
                  </a:txBody>
                  <a:tcPr marL="70000" marR="70000" marT="35000" marB="35000" anchor="ctr">
                    <a:solidFill>
                      <a:srgbClr val="203C81"/>
                    </a:solidFill>
                  </a:tcPr>
                </a:tc>
              </a:tr>
              <a:tr h="30000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ค็อกเทลแซลมอน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฿0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฿-34,819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(B) ซูพรีม อูนิ ซูชิ (1 ช…</a:t>
                      </a:r>
                    </a:p>
                  </a:txBody>
                  <a:tcPr marL="70000" marR="70000" marT="35000" marB="35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฿72,968</a:t>
                      </a:r>
                    </a:p>
                  </a:txBody>
                  <a:tcPr marL="70000" marR="70000" marT="35000" marB="35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฿-24,198</a:t>
                      </a:r>
                    </a:p>
                  </a:txBody>
                  <a:tcPr marL="70000" marR="70000" marT="35000" marB="35000" anchor="ctr">
                    <a:solidFill>
                      <a:srgbClr val="F8FAFC"/>
                    </a:solidFill>
                  </a:tcPr>
                </a:tc>
              </a:tr>
              <a:tr h="30000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(B) ข้าวหน้ามันปู(Buffet)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฿35,271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฿-17,520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600000" y="4100000"/>
            <a:ext cx="9000000" cy="2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203C81"/>
                </a:solidFill>
                <a:latin typeface="Tahoma"/>
                <a:ea typeface="Tahoma"/>
                <a:cs typeface="Tahoma"/>
              </a:rPr>
              <a:t>วัตถุดิบทั้งหมดที่ควรสั่งซื้อ (53 รายการ) — ดูสไลด์ถัดไป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0000" y="6600000"/>
            <a:ext cx="11150000" cy="2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Oshinei · ต้นทุนวัตถุดิบเทียบยอดขาย &amp; แผนสั่งซื้อวัตถุดิบหลัก 48 ชนิด  ·  16/92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0578" cy="6858000"/>
          </a:xfrm>
          <a:prstGeom prst="rect">
            <a:avLst/>
          </a:prstGeom>
          <a:solidFill>
            <a:srgbClr val="203C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0785" y="51759"/>
            <a:ext cx="1171755" cy="117175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00000" y="230000"/>
            <a:ext cx="1115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i="0" spc="15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ส่วนที่ 3 · รายละเอียดรายสาขา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00" y="420000"/>
            <a:ext cx="1115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 i="0">
                <a:solidFill>
                  <a:srgbClr val="203C81"/>
                </a:solidFill>
                <a:latin typeface="Tahoma"/>
                <a:ea typeface="Tahoma"/>
                <a:cs typeface="Tahoma"/>
              </a:rPr>
              <a:t>นครปฐม — วัตถุดิบทั้งหมดที่ควรสั่งซื้อ (53 รายการ) (หน้า 1/2)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00000" y="1300000"/>
          <a:ext cx="11150000" cy="515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00000"/>
                <a:gridCol w="6200000"/>
                <a:gridCol w="2700000"/>
                <a:gridCol w="1850000"/>
              </a:tblGrid>
              <a:tr h="200000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#</a:t>
                      </a:r>
                    </a:p>
                  </a:txBody>
                  <a:tcPr marL="70000" marR="70000" marT="12000" marB="12000" anchor="ctr">
                    <a:solidFill>
                      <a:srgbClr val="203C8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วัตถุดิบ</a:t>
                      </a:r>
                    </a:p>
                  </a:txBody>
                  <a:tcPr marL="70000" marR="70000" marT="12000" marB="12000" anchor="ctr">
                    <a:solidFill>
                      <a:srgbClr val="203C8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ควรสั่ง/เดือน</a:t>
                      </a:r>
                    </a:p>
                  </a:txBody>
                  <a:tcPr marL="70000" marR="70000" marT="12000" marB="12000" anchor="ctr">
                    <a:solidFill>
                      <a:srgbClr val="203C8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มูลค่า/เดือน (฿)</a:t>
                      </a:r>
                    </a:p>
                  </a:txBody>
                  <a:tcPr marL="70000" marR="70000" marT="12000" marB="12000" anchor="ctr">
                    <a:solidFill>
                      <a:srgbClr val="203C81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เนื้อปลาทูน่า 1 ชิ้น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192 แพ็ค 1 กก. (192.00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111,360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กุ้งแกะเปลือก  5 ตัวละ 15 กรัม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25 แพ็ค 10 กก. (250.00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77,450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หอยเซลล์ต้ม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95 แพ็ค 1 กก. (95.00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49,400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ไข่หอยเม่น แช่แข็ง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193 แพ็ค 100 กรัม (19.30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49,215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5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ปลาไหลอูนางิ 70 P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490 แพ็ค 120 กรัม (58.80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46,550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6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เนื้อใบพายออสเตรเลียสไลด์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99 แพ็ค 1 กก. (99.00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46,530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7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หนวดปลาหมึกยักษ์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6 แพ็ค 12 กก. (72.00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37,410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8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เนื้อเสือร้องไห้สไลด์ ( 5 ชิ้นละ 10 กรัม 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10 แพ็ค 10 กก. (100.00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35,200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9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สาหร่ายโนริแผ่น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8,925 แผ่น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32,633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10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ปลาซาบะดอง  1 ชิ้น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 แพ็ค 12.5 กก. (50.00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28,412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11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ปลาเนื้อขาวหั่นเต๋า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10 แพ็ค 10 กก. (100.00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28,130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12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หอยนางรมญี่ปุ่น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2,083 ตัว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27,218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13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ปลาไหลอนาโงะสไลด์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143 แพ็ค 200 กรัม (28.60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23,452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14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ปลาฮามาจิ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22 แพ็ค 1.85 กก. (40.70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21,252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15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ปลาซาบะ ½ ตัว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5 แพ็ค 20 กก. (100.00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19,890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16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ไข่กุ้ง Ebiko Grade A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 แพ็ค 10 กก. (40.00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17,728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17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เนื้อชาโรเล่ส์หมักเสียบไม้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2,079 ชิ้น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17,672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18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เนื้อออสเตรเลียแบบตัด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31 แพ็ค 1 กก. (31.00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17,484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19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ไข่หอยเม่น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27 แพ็ค 1 กก. (27.00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17,199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20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ไข่หวานหั่นเต๋า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9 แพ็ค 10 กก. (90.00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16,371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21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ปลาหมึกกระดอง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5 แพ็ค 10 กก. (50.00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16,000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22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ปีกไก่สำเร็จรูป 1 ชิ้น / 35 กรัม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 แพ็ค 10 กก. (40.00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13,785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23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ตับปลาอังกิโมะ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1,625 แพ็ค 15 กรัม (24.38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13,000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24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ปลาไหลสไลด์ 9 ชิ้น ชิ้นละ 6 กรัม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 แพ็ค 7.2 กก. (14.40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12,960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25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กุ้งอาเจนติน่า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14 แพ็ค 2 กก. (28.00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11,298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26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ปลาดอลลี่แช่แข็ง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11 แพ็ค 10 กก. (110.00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9,009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27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เนื้อสไลด์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26 กก.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8,404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28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กุ้งเทมปุระ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1,580 ชิ้น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7,628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29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สาเกสำหรับปรุงอาหาร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 แพ็ค 18 ลิตร (54.00 ลิตร)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6,138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30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เบสซอฟต์ครีมรสนม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20 แพ็ค 4.4 กก. (88.00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5,431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00000" y="6600000"/>
            <a:ext cx="11150000" cy="2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Oshinei · ต้นทุนวัตถุดิบเทียบยอดขาย &amp; แผนสั่งซื้อวัตถุดิบหลัก 48 ชนิด  ·  17/92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0578" cy="6858000"/>
          </a:xfrm>
          <a:prstGeom prst="rect">
            <a:avLst/>
          </a:prstGeom>
          <a:solidFill>
            <a:srgbClr val="203C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0785" y="51759"/>
            <a:ext cx="1171755" cy="117175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00000" y="230000"/>
            <a:ext cx="1115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i="0" spc="15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ส่วนที่ 3 · รายละเอียดรายสาขา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00" y="420000"/>
            <a:ext cx="1115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 i="0">
                <a:solidFill>
                  <a:srgbClr val="203C81"/>
                </a:solidFill>
                <a:latin typeface="Tahoma"/>
                <a:ea typeface="Tahoma"/>
                <a:cs typeface="Tahoma"/>
              </a:rPr>
              <a:t>นครปฐม — วัตถุดิบทั้งหมดที่ควรสั่งซื้อ (53 รายการ) (หน้า 2/2)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00000" y="1300000"/>
          <a:ext cx="11150000" cy="3995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00000"/>
                <a:gridCol w="6200000"/>
                <a:gridCol w="2700000"/>
                <a:gridCol w="1850000"/>
              </a:tblGrid>
              <a:tr h="200000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#</a:t>
                      </a:r>
                    </a:p>
                  </a:txBody>
                  <a:tcPr marL="70000" marR="70000" marT="12000" marB="12000" anchor="ctr">
                    <a:solidFill>
                      <a:srgbClr val="203C8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วัตถุดิบ</a:t>
                      </a:r>
                    </a:p>
                  </a:txBody>
                  <a:tcPr marL="70000" marR="70000" marT="12000" marB="12000" anchor="ctr">
                    <a:solidFill>
                      <a:srgbClr val="203C8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ควรสั่ง/เดือน</a:t>
                      </a:r>
                    </a:p>
                  </a:txBody>
                  <a:tcPr marL="70000" marR="70000" marT="12000" marB="12000" anchor="ctr">
                    <a:solidFill>
                      <a:srgbClr val="203C8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มูลค่า/เดือน (฿)</a:t>
                      </a:r>
                    </a:p>
                  </a:txBody>
                  <a:tcPr marL="70000" marR="70000" marT="12000" marB="12000" anchor="ctr">
                    <a:solidFill>
                      <a:srgbClr val="203C81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31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เกี๊ยวซ่าอูนิ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431 ชิ้น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5,167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32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เบสซอฟต์ครีมทูโทน (รสมัตฉะ และรสนม)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19 แพ็ค 4.4 กก. (83.60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5,157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33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หอยสังข์ญี่ปุ่น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19 แพ็ค 120 กรัม (2.28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5,035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34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วาซาบิ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 แพ็ค 10 กก. (10.00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4,789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35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น้ำดองสไลต์เกาหลี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 แพ็ค 20 ลิตร (40.00 ลิตร)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4,240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36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หอยเป๋าฮื้อ ตุ๋นปรุงรส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89 ตัว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3,511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37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ปลาเงินทอดกรอบ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11 แพ็ค 250 กรัม (2.75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3,475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38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เนื้อออสเตรเลียสไลด์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 แพ็ค 1 กก. (4.00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2,864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39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เบสซอฟต์ครีมรสมัตฉะ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10 แพ็ค 4.4 กก. (44.00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2,713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40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เนื้อชาโรเล่ส์หมักเสียบไม้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217 ไม้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1,807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41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มิริน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 แพ็ค 20 ลิตร (20.00 ลิตร)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1,648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42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เนื้อวากิวพับนอก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 แพ็ค 1 กก. (3.00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1,601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43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แป้งเทมปุระผง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 แพ็ค 10 กก. (20.00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1,541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44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สาหร่ายโนริหั่นฝอย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 กก.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1,144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45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ข้าวญี่ปุ่นปรุงรส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 แพ็ค 25 กก. (25.00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1,080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46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สาหร่ายวากาแมะ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 กก.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775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47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กุ้งยืด Ebi Tempura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130 ตัว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626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48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ไข่ปลาแซลมอน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 กก.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328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49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กุ้งลายเสือ (อิงราคากุ้งอาร์เจนติน่า/ตัว)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15 ตัว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233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50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หอยเชลล์ต้ม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 กก.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163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51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ปลาฮามาจิ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 กก.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98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52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หอยนางรมญี่ปุ่น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5 ชิ้น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62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53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สาหร่ายโนริหั่นฝอย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 ชิ้น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11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00000" y="6600000"/>
            <a:ext cx="11150000" cy="2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Oshinei · ต้นทุนวัตถุดิบเทียบยอดขาย &amp; แผนสั่งซื้อวัตถุดิบหลัก 48 ชนิด  ·  18/92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0578" cy="6858000"/>
          </a:xfrm>
          <a:prstGeom prst="rect">
            <a:avLst/>
          </a:prstGeom>
          <a:solidFill>
            <a:srgbClr val="203C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0785" y="51759"/>
            <a:ext cx="1171755" cy="117175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00000" y="230000"/>
            <a:ext cx="1115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i="0" spc="15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ส่วนที่ 3 · รายละเอียดรายสาขา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00" y="420000"/>
            <a:ext cx="1115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203C81"/>
                </a:solidFill>
                <a:latin typeface="Tahoma"/>
                <a:ea typeface="Tahoma"/>
                <a:cs typeface="Tahoma"/>
              </a:rPr>
              <a:t>นครพนม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0000" y="950000"/>
            <a:ext cx="1115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อันดับต้นทุนอาหาร #11/28 (1=สูงสุด)  ·  อันดับมูลค่าสั่งซื้อ #22/28 (1=สูงสุด)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0000" y="1350000"/>
            <a:ext cx="2682500" cy="100000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0000" rIns="120000" tIns="110000" bIns="80000"/>
          <a:lstStyle/>
          <a:p>
            <a:pPr algn="ctr"/>
            <a:r>
              <a:rPr sz="1100" b="0" i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ยอดขาย (ไม่รวม VAT)</a:t>
            </a:r>
          </a:p>
          <a:p>
            <a:pPr>
              <a:spcBef>
                <a:spcPts val="400"/>
              </a:spcBef>
            </a:pPr>
            <a:r>
              <a:rPr sz="2000" b="1" i="0">
                <a:solidFill>
                  <a:srgbClr val="1F2937"/>
                </a:solidFill>
                <a:latin typeface="Tahoma"/>
                <a:ea typeface="Tahoma"/>
                <a:cs typeface="Tahoma"/>
              </a:rPr>
              <a:t>฿1,930,034</a:t>
            </a:r>
          </a:p>
          <a:p>
            <a:pPr>
              <a:spcBef>
                <a:spcPts val="400"/>
              </a:spcBef>
            </a:pPr>
            <a:r>
              <a:rPr sz="1050" b="0" i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/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2500" y="1350000"/>
            <a:ext cx="2682500" cy="100000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0000" rIns="120000" tIns="110000" bIns="80000"/>
          <a:lstStyle/>
          <a:p>
            <a:pPr algn="ctr"/>
            <a:r>
              <a:rPr sz="1100" b="0" i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ต้นทุนวัตถุดิบตามสูตร</a:t>
            </a:r>
          </a:p>
          <a:p>
            <a:pPr>
              <a:spcBef>
                <a:spcPts val="400"/>
              </a:spcBef>
            </a:pPr>
            <a:r>
              <a:rPr sz="2000" b="1" i="0">
                <a:solidFill>
                  <a:srgbClr val="1F2937"/>
                </a:solidFill>
                <a:latin typeface="Tahoma"/>
                <a:ea typeface="Tahoma"/>
                <a:cs typeface="Tahoma"/>
              </a:rPr>
              <a:t>฿1,178,168</a:t>
            </a:r>
          </a:p>
          <a:p>
            <a:pPr>
              <a:spcBef>
                <a:spcPts val="400"/>
              </a:spcBef>
            </a:pPr>
            <a:r>
              <a:rPr sz="1050" b="0" i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61.0% ของยอดขาย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5000" y="1350000"/>
            <a:ext cx="2682500" cy="100000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0000" rIns="120000" tIns="110000" bIns="80000"/>
          <a:lstStyle/>
          <a:p>
            <a:pPr algn="ctr"/>
            <a:r>
              <a:rPr sz="1100" b="0" i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เปลี่ยนจากเดือนก่อน</a:t>
            </a:r>
          </a:p>
          <a:p>
            <a:pPr>
              <a:spcBef>
                <a:spcPts val="400"/>
              </a:spcBef>
            </a:pPr>
            <a:r>
              <a:rPr sz="2000" b="1" i="0">
                <a:solidFill>
                  <a:srgbClr val="1F2937"/>
                </a:solidFill>
                <a:latin typeface="Tahoma"/>
                <a:ea typeface="Tahoma"/>
                <a:cs typeface="Tahoma"/>
              </a:rPr>
              <a:t>+2.9 จุด</a:t>
            </a:r>
          </a:p>
          <a:p>
            <a:pPr>
              <a:spcBef>
                <a:spcPts val="400"/>
              </a:spcBef>
            </a:pPr>
            <a:r>
              <a:rPr sz="1050" b="0" i="0">
                <a:solidFill>
                  <a:srgbClr val="B91C1C"/>
                </a:solidFill>
                <a:latin typeface="Tahoma"/>
                <a:ea typeface="Tahoma"/>
                <a:cs typeface="Tahoma"/>
              </a:rPr>
              <a:t>58.2% เดือนก่อน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67500" y="1350000"/>
            <a:ext cx="2682500" cy="100000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0000" rIns="120000" tIns="110000" bIns="80000"/>
          <a:lstStyle/>
          <a:p>
            <a:pPr algn="ctr"/>
            <a:r>
              <a:rPr sz="1100" b="0" i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ควรสั่งซื้อ 48 รายการหลัก/เดือน</a:t>
            </a:r>
          </a:p>
          <a:p>
            <a:pPr>
              <a:spcBef>
                <a:spcPts val="400"/>
              </a:spcBef>
            </a:pPr>
            <a:r>
              <a:rPr sz="2000" b="1" i="0">
                <a:solidFill>
                  <a:srgbClr val="1F2937"/>
                </a:solidFill>
                <a:latin typeface="Tahoma"/>
                <a:ea typeface="Tahoma"/>
                <a:cs typeface="Tahoma"/>
              </a:rPr>
              <a:t>฿437,903</a:t>
            </a:r>
          </a:p>
          <a:p>
            <a:pPr>
              <a:spcBef>
                <a:spcPts val="400"/>
              </a:spcBef>
            </a:pPr>
            <a:r>
              <a:rPr sz="1050" b="0" i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51 รายการ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0000" y="2500000"/>
            <a:ext cx="5500000" cy="2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B91C1C"/>
                </a:solidFill>
                <a:latin typeface="Tahoma"/>
                <a:ea typeface="Tahoma"/>
                <a:cs typeface="Tahoma"/>
              </a:rPr>
              <a:t>เมนูต้นทุนเพิ่มขึ้นมากสุด (MoM)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00000" y="2780000"/>
          <a:ext cx="5300000" cy="120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00000"/>
                <a:gridCol w="1700000"/>
                <a:gridCol w="1500000"/>
              </a:tblGrid>
              <a:tr h="300000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เมนู</a:t>
                      </a:r>
                    </a:p>
                  </a:txBody>
                  <a:tcPr marL="70000" marR="70000" marT="35000" marB="35000" anchor="ctr">
                    <a:solidFill>
                      <a:srgbClr val="203C8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ต้นทุนเดือนนี้</a:t>
                      </a:r>
                    </a:p>
                  </a:txBody>
                  <a:tcPr marL="70000" marR="70000" marT="35000" marB="35000" anchor="ctr">
                    <a:solidFill>
                      <a:srgbClr val="203C8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เปลี่ยน</a:t>
                      </a:r>
                    </a:p>
                  </a:txBody>
                  <a:tcPr marL="70000" marR="70000" marT="35000" marB="35000" anchor="ctr">
                    <a:solidFill>
                      <a:srgbClr val="203C81"/>
                    </a:solidFill>
                  </a:tcPr>
                </a:tc>
              </a:tr>
              <a:tr h="30000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(B) แซลมอนดอง (3 ชิ้น)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฿87,585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+฿4,565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(B) กุ้งอาเจนติน่าซาชิมิ …</a:t>
                      </a:r>
                    </a:p>
                  </a:txBody>
                  <a:tcPr marL="70000" marR="70000" marT="35000" marB="35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฿27,307</a:t>
                      </a:r>
                    </a:p>
                  </a:txBody>
                  <a:tcPr marL="70000" marR="70000" marT="35000" marB="35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+฿2,810</a:t>
                      </a:r>
                    </a:p>
                  </a:txBody>
                  <a:tcPr marL="70000" marR="70000" marT="35000" marB="35000" anchor="ctr">
                    <a:solidFill>
                      <a:srgbClr val="F8FAFC"/>
                    </a:solidFill>
                  </a:tcPr>
                </a:tc>
              </a:tr>
              <a:tr h="30000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(B) ยำไทยปลาแซลมอน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฿18,260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+฿1,511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6200000" y="2500000"/>
            <a:ext cx="5500000" cy="2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047757"/>
                </a:solidFill>
                <a:latin typeface="Tahoma"/>
                <a:ea typeface="Tahoma"/>
                <a:cs typeface="Tahoma"/>
              </a:rPr>
              <a:t>เมนูต้นทุนลดลงมากสุด (MoM)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6200000" y="2780000"/>
          <a:ext cx="5300000" cy="120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00000"/>
                <a:gridCol w="1700000"/>
                <a:gridCol w="1500000"/>
              </a:tblGrid>
              <a:tr h="300000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เมนู</a:t>
                      </a:r>
                    </a:p>
                  </a:txBody>
                  <a:tcPr marL="70000" marR="70000" marT="35000" marB="35000" anchor="ctr">
                    <a:solidFill>
                      <a:srgbClr val="203C8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ต้นทุนเดือนนี้</a:t>
                      </a:r>
                    </a:p>
                  </a:txBody>
                  <a:tcPr marL="70000" marR="70000" marT="35000" marB="35000" anchor="ctr">
                    <a:solidFill>
                      <a:srgbClr val="203C8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เปลี่ยน</a:t>
                      </a:r>
                    </a:p>
                  </a:txBody>
                  <a:tcPr marL="70000" marR="70000" marT="35000" marB="35000" anchor="ctr">
                    <a:solidFill>
                      <a:srgbClr val="203C81"/>
                    </a:solidFill>
                  </a:tcPr>
                </a:tc>
              </a:tr>
              <a:tr h="30000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(B) แซลมอน ซาชิมิ (1 ชิ้น)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฿214,329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฿-12,745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(B) แมงกะพรุนหัวกระสุนน้ำ…</a:t>
                      </a:r>
                    </a:p>
                  </a:txBody>
                  <a:tcPr marL="70000" marR="70000" marT="35000" marB="35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฿0</a:t>
                      </a:r>
                    </a:p>
                  </a:txBody>
                  <a:tcPr marL="70000" marR="70000" marT="35000" marB="35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฿-12,292</a:t>
                      </a:r>
                    </a:p>
                  </a:txBody>
                  <a:tcPr marL="70000" marR="70000" marT="35000" marB="35000" anchor="ctr">
                    <a:solidFill>
                      <a:srgbClr val="F8FAFC"/>
                    </a:solidFill>
                  </a:tcPr>
                </a:tc>
              </a:tr>
              <a:tr h="30000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(B) แมงกะพรุนหัวกระสุน ดอ…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฿0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฿-8,283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600000" y="4100000"/>
            <a:ext cx="9000000" cy="2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203C81"/>
                </a:solidFill>
                <a:latin typeface="Tahoma"/>
                <a:ea typeface="Tahoma"/>
                <a:cs typeface="Tahoma"/>
              </a:rPr>
              <a:t>วัตถุดิบทั้งหมดที่ควรสั่งซื้อ (51 รายการ) — ดูสไลด์ถัดไป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0000" y="6600000"/>
            <a:ext cx="11150000" cy="2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Oshinei · ต้นทุนวัตถุดิบเทียบยอดขาย &amp; แผนสั่งซื้อวัตถุดิบหลัก 48 ชนิด  ·  19/92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0578" cy="6858000"/>
          </a:xfrm>
          <a:prstGeom prst="rect">
            <a:avLst/>
          </a:prstGeom>
          <a:solidFill>
            <a:srgbClr val="203C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0785" y="51759"/>
            <a:ext cx="1171755" cy="117175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00000" y="230000"/>
            <a:ext cx="1115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i="0" spc="15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ส่วนที่ 3 · รายละเอียดรายสาขา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00" y="420000"/>
            <a:ext cx="1115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 i="0">
                <a:solidFill>
                  <a:srgbClr val="203C81"/>
                </a:solidFill>
                <a:latin typeface="Tahoma"/>
                <a:ea typeface="Tahoma"/>
                <a:cs typeface="Tahoma"/>
              </a:rPr>
              <a:t>นครพนม — วัตถุดิบทั้งหมดที่ควรสั่งซื้อ (51 รายการ) (หน้า 1/2)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00000" y="1300000"/>
          <a:ext cx="11150000" cy="515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00000"/>
                <a:gridCol w="6200000"/>
                <a:gridCol w="2700000"/>
                <a:gridCol w="1850000"/>
              </a:tblGrid>
              <a:tr h="200000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#</a:t>
                      </a:r>
                    </a:p>
                  </a:txBody>
                  <a:tcPr marL="70000" marR="70000" marT="12000" marB="12000" anchor="ctr">
                    <a:solidFill>
                      <a:srgbClr val="203C8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วัตถุดิบ</a:t>
                      </a:r>
                    </a:p>
                  </a:txBody>
                  <a:tcPr marL="70000" marR="70000" marT="12000" marB="12000" anchor="ctr">
                    <a:solidFill>
                      <a:srgbClr val="203C8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ควรสั่ง/เดือน</a:t>
                      </a:r>
                    </a:p>
                  </a:txBody>
                  <a:tcPr marL="70000" marR="70000" marT="12000" marB="12000" anchor="ctr">
                    <a:solidFill>
                      <a:srgbClr val="203C8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มูลค่า/เดือน (฿)</a:t>
                      </a:r>
                    </a:p>
                  </a:txBody>
                  <a:tcPr marL="70000" marR="70000" marT="12000" marB="12000" anchor="ctr">
                    <a:solidFill>
                      <a:srgbClr val="203C81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กุ้งแกะเปลือก  5 ตัวละ 15 กรัม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24 แพ็ค 10 กก. (240.00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74,352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เนื้อปลาทูน่า 1 ชิ้น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58 แพ็ค 1 กก. (58.00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33,640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เนื้อใบพายออสเตรเลียสไลด์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63 แพ็ค 1 กก. (63.00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29,610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เนื้อเสือร้องไห้สไลด์ ( 5 ชิ้นละ 10 กรัม 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8 แพ็ค 10 กก. (80.00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28,160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5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หอยเซลล์ต้ม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43 แพ็ค 1 กก. (43.00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22,360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6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หนวดปลาหมึกยักษ์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 แพ็ค 12 กก. (36.00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18,705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7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ไข่หอยเม่น แช่แข็ง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73 แพ็ค 100 กรัม (7.30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18,615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8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หอยนางรมญี่ปุ่น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1,324 ตัว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17,300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9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สาหร่ายโนริแผ่น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4,545 แผ่น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16,616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10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ปลาซาบะดอง 6 ชิ้น ชิ้นละ 10 กรัม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 แพ็ค 12.5 กก. (25.00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14,206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11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ไข่กุ้ง Ebiko Grade A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 แพ็ค 10 กก. (30.00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13,296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12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ปลาหมึกกระดอง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 แพ็ค 10 กก. (40.00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12,800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13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ปลาไหลอูนางิ 70 P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133 แพ็ค 120 กรัม (15.96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12,635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14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ปลาเนื้อขาวหั่นเต๋า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 แพ็ค 10 กก. (40.00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11,252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15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ปลาซาบะ ½ ตัว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 แพ็ค 20 กก. (40.00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7,956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16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เนื้อออสเตรเลียแบบตัด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14 แพ็ค 1 กก. (14.00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7,896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17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ปลาฮามาจิ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8 แพ็ค 1.85 กก. (14.80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7,728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18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เนื้อชาโรเล่ส์หมักเสียบไม้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900 ชิ้น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7,644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19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ไข่หวานหั่นเต๋า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 แพ็ค 10 กก. (40.00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7,276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20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ปลาไหลสไลด์ 9 ชิ้น ชิ้นละ 6 กรัม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 แพ็ค 7.2 กก. (7.20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6,480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21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มันปูปรงรส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10 แพ็ค 1 กก. (10.00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6,370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22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ปลาไหลอนาโงะสไลด์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36 แพ็ค 200 กรัม (7.20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5,904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23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กุ้งอาเจนติน่า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7 แพ็ค 2 กก. (14.00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5,649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24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วาซาบิ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 แพ็ค 10 กก. (10.00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4,789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25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ปลาดอลลี่ ½ ตัว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5 แพ็ค 10 กก. (50.00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4,095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26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เนื้อสไลด์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13 กก.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4,076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27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เบสซอฟต์ครีมรสนม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15 แพ็ค 4.4 กก. (66.00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4,073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28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ตับปลาอังกิโมะ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462 แพ็ค 15 กรัม (6.93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3,696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29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ปีกไก่สำเร็จรูป 1 ชิ้น / 35 กรัม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 แพ็ค 10 กก. (10.00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3,446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30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กุ้งเทมปุระ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703 ชิ้น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3,393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00000" y="6600000"/>
            <a:ext cx="11150000" cy="2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Oshinei · ต้นทุนวัตถุดิบเทียบยอดขาย &amp; แผนสั่งซื้อวัตถุดิบหลัก 48 ชนิด  ·  20/92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0578" cy="6858000"/>
          </a:xfrm>
          <a:prstGeom prst="rect">
            <a:avLst/>
          </a:prstGeom>
          <a:solidFill>
            <a:srgbClr val="203C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0785" y="51759"/>
            <a:ext cx="1171755" cy="117175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00000" y="230000"/>
            <a:ext cx="1115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i="0" spc="15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ส่วนที่ 3 · รายละเอียดรายสาขา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00" y="420000"/>
            <a:ext cx="1115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 i="0">
                <a:solidFill>
                  <a:srgbClr val="203C81"/>
                </a:solidFill>
                <a:latin typeface="Tahoma"/>
                <a:ea typeface="Tahoma"/>
                <a:cs typeface="Tahoma"/>
              </a:rPr>
              <a:t>นครพนม — วัตถุดิบทั้งหมดที่ควรสั่งซื้อ (51 รายการ) (หน้า 2/2)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00000" y="1300000"/>
          <a:ext cx="11150000" cy="3665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00000"/>
                <a:gridCol w="6200000"/>
                <a:gridCol w="2700000"/>
                <a:gridCol w="1850000"/>
              </a:tblGrid>
              <a:tr h="200000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#</a:t>
                      </a:r>
                    </a:p>
                  </a:txBody>
                  <a:tcPr marL="70000" marR="70000" marT="12000" marB="12000" anchor="ctr">
                    <a:solidFill>
                      <a:srgbClr val="203C8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วัตถุดิบ</a:t>
                      </a:r>
                    </a:p>
                  </a:txBody>
                  <a:tcPr marL="70000" marR="70000" marT="12000" marB="12000" anchor="ctr">
                    <a:solidFill>
                      <a:srgbClr val="203C8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ควรสั่ง/เดือน</a:t>
                      </a:r>
                    </a:p>
                  </a:txBody>
                  <a:tcPr marL="70000" marR="70000" marT="12000" marB="12000" anchor="ctr">
                    <a:solidFill>
                      <a:srgbClr val="203C8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มูลค่า/เดือน (฿)</a:t>
                      </a:r>
                    </a:p>
                  </a:txBody>
                  <a:tcPr marL="70000" marR="70000" marT="12000" marB="12000" anchor="ctr">
                    <a:solidFill>
                      <a:srgbClr val="203C81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31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เบสซอฟต์ครีมทูโทน (รสมัตฉะ และรสนม)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12 แพ็ค 4.4 กก. (52.80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3,257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32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ปลาเงินทอดกรอบ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8 แพ็ค 250 กรัม (2.00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2,528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33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เนื้อออสเตรเลียสไลด์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 แพ็ค 1 กก. (3.00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2,148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34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เกี๊ยวซ่าอูนิ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178 ชิ้น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2,131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35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น้ำดองสไลต์เกาหลี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 แพ็ค 20 ลิตร (20.00 ลิตร)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2,120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36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สาเกสำหรับปรุงอาหาร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 แพ็ค 18 ลิตร (18.00 ลิตร)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2,046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37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มิริน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 แพ็ค 20 ลิตร (20.00 ลิตร)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1,648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38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เบสซอฟต์ครีมรสมัตฉะ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5 แพ็ค 4.4 กก. (22.00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1,356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39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ข้าวญี่ปุ่นปรุงรส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 แพ็ค 25 กก. (25.00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1,080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40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เนื้อวากิวพับนอก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 แพ็ค 1 กก. (2.00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1,067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41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เนื้อชาโรเล่ส์หมักเสียบไม้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116 ไม้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962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42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หอยเป๋าฮื้อ ตุ๋นปรุงรส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23 ตัว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889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43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แป้งเทมปุระผง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 แพ็ค 10 กก. (10.00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770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44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สาหร่ายโนรี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 กก.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670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45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สาหร่ายวากาแมะ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 กก.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351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46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กุ้งยืด Ebi Tempura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58 ตัว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279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47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หอยนางรมญี่ปุ่น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18 ชิ้น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231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48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ไข่ปลาแซลมอน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 กก.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161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49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ปลาฮามาจิ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 กก.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147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50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กุ้งลายเสือ (อิงราคากุ้งอาร์เจนติน่า/ตัว)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 ตัว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39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51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สาหร่ายโนริหั่นฝอย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 ชิ้น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00000" y="6600000"/>
            <a:ext cx="11150000" cy="2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Oshinei · ต้นทุนวัตถุดิบเทียบยอดขาย &amp; แผนสั่งซื้อวัตถุดิบหลัก 48 ชนิด  ·  21/92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0578" cy="6858000"/>
          </a:xfrm>
          <a:prstGeom prst="rect">
            <a:avLst/>
          </a:prstGeom>
          <a:solidFill>
            <a:srgbClr val="203C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0785" y="51759"/>
            <a:ext cx="1171755" cy="117175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00000" y="230000"/>
            <a:ext cx="1115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i="0" spc="15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ส่วนที่ 3 · รายละเอียดรายสาขา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00" y="420000"/>
            <a:ext cx="1115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203C81"/>
                </a:solidFill>
                <a:latin typeface="Tahoma"/>
                <a:ea typeface="Tahoma"/>
                <a:cs typeface="Tahoma"/>
              </a:rPr>
              <a:t>นครสวรรค์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0000" y="950000"/>
            <a:ext cx="1115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อันดับต้นทุนอาหาร #7/28 (1=สูงสุด)  ·  อันดับมูลค่าสั่งซื้อ #23/28 (1=สูงสุด)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0000" y="1350000"/>
            <a:ext cx="2682500" cy="100000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0000" rIns="120000" tIns="110000" bIns="80000"/>
          <a:lstStyle/>
          <a:p>
            <a:pPr algn="ctr"/>
            <a:r>
              <a:rPr sz="1100" b="0" i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ยอดขาย (ไม่รวม VAT)</a:t>
            </a:r>
          </a:p>
          <a:p>
            <a:pPr>
              <a:spcBef>
                <a:spcPts val="400"/>
              </a:spcBef>
            </a:pPr>
            <a:r>
              <a:rPr sz="2000" b="1" i="0">
                <a:solidFill>
                  <a:srgbClr val="1F2937"/>
                </a:solidFill>
                <a:latin typeface="Tahoma"/>
                <a:ea typeface="Tahoma"/>
                <a:cs typeface="Tahoma"/>
              </a:rPr>
              <a:t>฿2,085,361</a:t>
            </a:r>
          </a:p>
          <a:p>
            <a:pPr>
              <a:spcBef>
                <a:spcPts val="400"/>
              </a:spcBef>
            </a:pPr>
            <a:r>
              <a:rPr sz="1050" b="0" i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/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2500" y="1350000"/>
            <a:ext cx="2682500" cy="100000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0000" rIns="120000" tIns="110000" bIns="80000"/>
          <a:lstStyle/>
          <a:p>
            <a:pPr algn="ctr"/>
            <a:r>
              <a:rPr sz="1100" b="0" i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ต้นทุนวัตถุดิบตามสูตร</a:t>
            </a:r>
          </a:p>
          <a:p>
            <a:pPr>
              <a:spcBef>
                <a:spcPts val="400"/>
              </a:spcBef>
            </a:pPr>
            <a:r>
              <a:rPr sz="2000" b="1" i="0">
                <a:solidFill>
                  <a:srgbClr val="1F2937"/>
                </a:solidFill>
                <a:latin typeface="Tahoma"/>
                <a:ea typeface="Tahoma"/>
                <a:cs typeface="Tahoma"/>
              </a:rPr>
              <a:t>฿1,384,715</a:t>
            </a:r>
          </a:p>
          <a:p>
            <a:pPr>
              <a:spcBef>
                <a:spcPts val="400"/>
              </a:spcBef>
            </a:pPr>
            <a:r>
              <a:rPr sz="1050" b="0" i="0">
                <a:solidFill>
                  <a:srgbClr val="B91C1C"/>
                </a:solidFill>
                <a:latin typeface="Tahoma"/>
                <a:ea typeface="Tahoma"/>
                <a:cs typeface="Tahoma"/>
              </a:rPr>
              <a:t>66.4% ของยอดขาย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5000" y="1350000"/>
            <a:ext cx="2682500" cy="100000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0000" rIns="120000" tIns="110000" bIns="80000"/>
          <a:lstStyle/>
          <a:p>
            <a:pPr algn="ctr"/>
            <a:r>
              <a:rPr sz="1100" b="0" i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เปลี่ยนจากเดือนก่อน</a:t>
            </a:r>
          </a:p>
          <a:p>
            <a:pPr>
              <a:spcBef>
                <a:spcPts val="400"/>
              </a:spcBef>
            </a:pPr>
            <a:r>
              <a:rPr sz="2000" b="1" i="0">
                <a:solidFill>
                  <a:srgbClr val="1F2937"/>
                </a:solidFill>
                <a:latin typeface="Tahoma"/>
                <a:ea typeface="Tahoma"/>
                <a:cs typeface="Tahoma"/>
              </a:rPr>
              <a:t>+5.6 จุด</a:t>
            </a:r>
          </a:p>
          <a:p>
            <a:pPr>
              <a:spcBef>
                <a:spcPts val="400"/>
              </a:spcBef>
            </a:pPr>
            <a:r>
              <a:rPr sz="1050" b="0" i="0">
                <a:solidFill>
                  <a:srgbClr val="B91C1C"/>
                </a:solidFill>
                <a:latin typeface="Tahoma"/>
                <a:ea typeface="Tahoma"/>
                <a:cs typeface="Tahoma"/>
              </a:rPr>
              <a:t>60.8% เดือนก่อน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67500" y="1350000"/>
            <a:ext cx="2682500" cy="100000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0000" rIns="120000" tIns="110000" bIns="80000"/>
          <a:lstStyle/>
          <a:p>
            <a:pPr algn="ctr"/>
            <a:r>
              <a:rPr sz="1100" b="0" i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ควรสั่งซื้อ 48 รายการหลัก/เดือน</a:t>
            </a:r>
          </a:p>
          <a:p>
            <a:pPr>
              <a:spcBef>
                <a:spcPts val="400"/>
              </a:spcBef>
            </a:pPr>
            <a:r>
              <a:rPr sz="2000" b="1" i="0">
                <a:solidFill>
                  <a:srgbClr val="1F2937"/>
                </a:solidFill>
                <a:latin typeface="Tahoma"/>
                <a:ea typeface="Tahoma"/>
                <a:cs typeface="Tahoma"/>
              </a:rPr>
              <a:t>฿416,225</a:t>
            </a:r>
          </a:p>
          <a:p>
            <a:pPr>
              <a:spcBef>
                <a:spcPts val="400"/>
              </a:spcBef>
            </a:pPr>
            <a:r>
              <a:rPr sz="1050" b="0" i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50 รายการ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0000" y="2500000"/>
            <a:ext cx="5500000" cy="2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B91C1C"/>
                </a:solidFill>
                <a:latin typeface="Tahoma"/>
                <a:ea typeface="Tahoma"/>
                <a:cs typeface="Tahoma"/>
              </a:rPr>
              <a:t>เมนูต้นทุนเพิ่มขึ้นมากสุด (MoM)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00000" y="2780000"/>
          <a:ext cx="5300000" cy="120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00000"/>
                <a:gridCol w="1700000"/>
                <a:gridCol w="1500000"/>
              </a:tblGrid>
              <a:tr h="300000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เมนู</a:t>
                      </a:r>
                    </a:p>
                  </a:txBody>
                  <a:tcPr marL="70000" marR="70000" marT="35000" marB="35000" anchor="ctr">
                    <a:solidFill>
                      <a:srgbClr val="203C8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ต้นทุนเดือนนี้</a:t>
                      </a:r>
                    </a:p>
                  </a:txBody>
                  <a:tcPr marL="70000" marR="70000" marT="35000" marB="35000" anchor="ctr">
                    <a:solidFill>
                      <a:srgbClr val="203C8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เปลี่ยน</a:t>
                      </a:r>
                    </a:p>
                  </a:txBody>
                  <a:tcPr marL="70000" marR="70000" marT="35000" marB="35000" anchor="ctr">
                    <a:solidFill>
                      <a:srgbClr val="203C81"/>
                    </a:solidFill>
                  </a:tcPr>
                </a:tc>
              </a:tr>
              <a:tr h="30000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(B) ทุเรียน (1 เม็ด)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฿215,900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+฿98,872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(B) แซลมอน ซาชิมิ (1 ชิ้น)</a:t>
                      </a:r>
                    </a:p>
                  </a:txBody>
                  <a:tcPr marL="70000" marR="70000" marT="35000" marB="35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฿238,985</a:t>
                      </a:r>
                    </a:p>
                  </a:txBody>
                  <a:tcPr marL="70000" marR="70000" marT="35000" marB="35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+฿23,259</a:t>
                      </a:r>
                    </a:p>
                  </a:txBody>
                  <a:tcPr marL="70000" marR="70000" marT="35000" marB="35000" anchor="ctr">
                    <a:solidFill>
                      <a:srgbClr val="F8FAFC"/>
                    </a:solidFill>
                  </a:tcPr>
                </a:tc>
              </a:tr>
              <a:tr h="30000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(B) กุ้งสดดอง (5 ชิ้น)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฿42,889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+฿8,636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6200000" y="2500000"/>
            <a:ext cx="5500000" cy="2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047757"/>
                </a:solidFill>
                <a:latin typeface="Tahoma"/>
                <a:ea typeface="Tahoma"/>
                <a:cs typeface="Tahoma"/>
              </a:rPr>
              <a:t>เมนูต้นทุนลดลงมากสุด (MoM)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6200000" y="2780000"/>
          <a:ext cx="5300000" cy="120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00000"/>
                <a:gridCol w="1700000"/>
                <a:gridCol w="1500000"/>
              </a:tblGrid>
              <a:tr h="300000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เมนู</a:t>
                      </a:r>
                    </a:p>
                  </a:txBody>
                  <a:tcPr marL="70000" marR="70000" marT="35000" marB="35000" anchor="ctr">
                    <a:solidFill>
                      <a:srgbClr val="203C8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ต้นทุนเดือนนี้</a:t>
                      </a:r>
                    </a:p>
                  </a:txBody>
                  <a:tcPr marL="70000" marR="70000" marT="35000" marB="35000" anchor="ctr">
                    <a:solidFill>
                      <a:srgbClr val="203C8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เปลี่ยน</a:t>
                      </a:r>
                    </a:p>
                  </a:txBody>
                  <a:tcPr marL="70000" marR="70000" marT="35000" marB="35000" anchor="ctr">
                    <a:solidFill>
                      <a:srgbClr val="203C81"/>
                    </a:solidFill>
                  </a:tcPr>
                </a:tc>
              </a:tr>
              <a:tr h="30000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(B) กุ้งอาเจนติน่าซาชิมิ …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฿20,816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฿-12,286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(B) ซูพรีม อูนิ ซูชิ (1 ช…</a:t>
                      </a:r>
                    </a:p>
                  </a:txBody>
                  <a:tcPr marL="70000" marR="70000" marT="35000" marB="35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฿14,284</a:t>
                      </a:r>
                    </a:p>
                  </a:txBody>
                  <a:tcPr marL="70000" marR="70000" marT="35000" marB="35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฿-9,514</a:t>
                      </a:r>
                    </a:p>
                  </a:txBody>
                  <a:tcPr marL="70000" marR="70000" marT="35000" marB="35000" anchor="ctr">
                    <a:solidFill>
                      <a:srgbClr val="F8FAFC"/>
                    </a:solidFill>
                  </a:tcPr>
                </a:tc>
              </a:tr>
              <a:tr h="30000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(B) ปลาฮามาจิ ซาชิมิ (1ชิ…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฿12,194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฿-7,980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600000" y="4100000"/>
            <a:ext cx="9000000" cy="2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203C81"/>
                </a:solidFill>
                <a:latin typeface="Tahoma"/>
                <a:ea typeface="Tahoma"/>
                <a:cs typeface="Tahoma"/>
              </a:rPr>
              <a:t>วัตถุดิบทั้งหมดที่ควรสั่งซื้อ (50 รายการ) — ดูสไลด์ถัดไป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0000" y="6600000"/>
            <a:ext cx="11150000" cy="2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Oshinei · ต้นทุนวัตถุดิบเทียบยอดขาย &amp; แผนสั่งซื้อวัตถุดิบหลัก 48 ชนิด  ·  22/92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0578" cy="6858000"/>
          </a:xfrm>
          <a:prstGeom prst="rect">
            <a:avLst/>
          </a:prstGeom>
          <a:solidFill>
            <a:srgbClr val="203C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0785" y="51759"/>
            <a:ext cx="1171755" cy="117175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00000" y="230000"/>
            <a:ext cx="1115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i="0" spc="15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ส่วนที่ 3 · รายละเอียดรายสาขา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00" y="420000"/>
            <a:ext cx="1115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 i="0">
                <a:solidFill>
                  <a:srgbClr val="203C81"/>
                </a:solidFill>
                <a:latin typeface="Tahoma"/>
                <a:ea typeface="Tahoma"/>
                <a:cs typeface="Tahoma"/>
              </a:rPr>
              <a:t>นครสวรรค์ — วัตถุดิบทั้งหมดที่ควรสั่งซื้อ (50 รายการ) (หน้า 1/2)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00000" y="1300000"/>
          <a:ext cx="11150000" cy="515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00000"/>
                <a:gridCol w="6200000"/>
                <a:gridCol w="2700000"/>
                <a:gridCol w="1850000"/>
              </a:tblGrid>
              <a:tr h="200000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#</a:t>
                      </a:r>
                    </a:p>
                  </a:txBody>
                  <a:tcPr marL="70000" marR="70000" marT="12000" marB="12000" anchor="ctr">
                    <a:solidFill>
                      <a:srgbClr val="203C8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วัตถุดิบ</a:t>
                      </a:r>
                    </a:p>
                  </a:txBody>
                  <a:tcPr marL="70000" marR="70000" marT="12000" marB="12000" anchor="ctr">
                    <a:solidFill>
                      <a:srgbClr val="203C8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ควรสั่ง/เดือน</a:t>
                      </a:r>
                    </a:p>
                  </a:txBody>
                  <a:tcPr marL="70000" marR="70000" marT="12000" marB="12000" anchor="ctr">
                    <a:solidFill>
                      <a:srgbClr val="203C8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มูลค่า/เดือน (฿)</a:t>
                      </a:r>
                    </a:p>
                  </a:txBody>
                  <a:tcPr marL="70000" marR="70000" marT="12000" marB="12000" anchor="ctr">
                    <a:solidFill>
                      <a:srgbClr val="203C81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กุ้งแกะเปลือก  5 ตัวละ 15 กรัม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16 แพ็ค 10 กก. (160.00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49,568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เนื้อปลาทูน่า 1 ชิ้น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82 แพ็ค 1 กก. (82.00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47,560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หอยเซลล์ต้ม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41 แพ็ค 1 กก. (41.00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21,320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ปลาซาบะดอง 6 ชิ้น ชิ้นละ 10 กรัม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 แพ็ค 12.5 กก. (37.50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21,309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5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เนื้อใบพายออสเตรเลียสไลด์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44 แพ็ค 1 กก. (44.00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20,680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6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หนวดปลาหมึกยักษ์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 แพ็ค 12 กก. (36.00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18,705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7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ปลาไหลอูนางิ 70 P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190 แพ็ค 120 กรัม (22.80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18,050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8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เนื้อเสือร้องไห้สไลด์ ( 5 ชิ้นละ 10 กรัม 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5 แพ็ค 10 กก. (50.00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17,600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9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ไข่หอยเม่น แช่แข็ง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68 แพ็ค 100 กรัม (6.80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17,340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10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ปลาเนื้อขาวหั่นเต๋า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6 แพ็ค 10 กก. (60.00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16,878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11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สาหร่ายโนริแผ่น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3,980 แผ่น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14,506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12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หอยนางรมญี่ปุ่น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1,006 ตัว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13,141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13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ปลาซาบะ ½ ตัว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 แพ็ค 20 กก. (60.00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11,934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14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ปลาหมึกกระดอง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 แพ็ค 10 กก. (30.00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9,600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15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ไข่กุ้ง Ebiko Grade A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 แพ็ค 10 กก. (20.00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8,864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16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ปลาไหลอนาโงะ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51 แพ็ค 200 กรัม (10.20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8,364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17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ไข่หวานหั่นเต๋า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 แพ็ค 10 กก. (40.00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7,276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18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เนื้อชาโรเล่ส์หมักเสียบไม้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846 ชิ้น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7,183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19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ปีกไก่สำเร็จรูป 1 ชิ้น / 35 กรัม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 แพ็ค 10 กก. (20.00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6,893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20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ปลาฮามาจิ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7 แพ็ค 1.85 กก. (12.95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6,762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21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ปลาไหลสไลด์ 9 ชิ้น ชิ้นละ 6 กรัม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 แพ็ค 7.2 กก. (7.20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6,480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22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เนื้อออสเตรเลียแบบตัด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11 แพ็ค 1 กก. (11.00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6,204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23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ตับปลาอังกิโมะ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656 แพ็ค 15 กรัม (9.84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5,248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24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กุ้งอาเจนติน่า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6 แพ็ค 2 กก. (12.00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4,842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25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วาซาบิ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 แพ็ค 10 กก. (10.00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4,789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26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เบสซอฟต์ครีมทูโทน (รสมัตฉะ และรสนม)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17 แพ็ค 4.4 กก. (74.80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4,614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27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มันปูปรงรส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7 แพ็ค 1 กก. (7.00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4,459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28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ปลาดอลลี่แช่แข็ง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5 แพ็ค 10 กก. (50.00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4,095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29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สาเกสำหรับปรุงอาหาร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 แพ็ค 18 ลิตร (36.00 ลิตร)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4,092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30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เนื้อสไลด์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13 กก.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4,035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00000" y="6600000"/>
            <a:ext cx="11150000" cy="2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Oshinei · ต้นทุนวัตถุดิบเทียบยอดขาย &amp; แผนสั่งซื้อวัตถุดิบหลัก 48 ชนิด  ·  23/92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0578" cy="6858000"/>
          </a:xfrm>
          <a:prstGeom prst="rect">
            <a:avLst/>
          </a:prstGeom>
          <a:solidFill>
            <a:srgbClr val="203C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0785" y="51759"/>
            <a:ext cx="1171755" cy="117175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00000" y="230000"/>
            <a:ext cx="1115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i="0" spc="15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ส่วนที่ 3 · รายละเอียดรายสาขา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00" y="420000"/>
            <a:ext cx="1115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 i="0">
                <a:solidFill>
                  <a:srgbClr val="203C81"/>
                </a:solidFill>
                <a:latin typeface="Tahoma"/>
                <a:ea typeface="Tahoma"/>
                <a:cs typeface="Tahoma"/>
              </a:rPr>
              <a:t>นครสวรรค์ — วัตถุดิบทั้งหมดที่ควรสั่งซื้อ (50 รายการ) (หน้า 2/2)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00000" y="1300000"/>
          <a:ext cx="11150000" cy="350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00000"/>
                <a:gridCol w="6200000"/>
                <a:gridCol w="2700000"/>
                <a:gridCol w="1850000"/>
              </a:tblGrid>
              <a:tr h="200000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#</a:t>
                      </a:r>
                    </a:p>
                  </a:txBody>
                  <a:tcPr marL="70000" marR="70000" marT="12000" marB="12000" anchor="ctr">
                    <a:solidFill>
                      <a:srgbClr val="203C8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วัตถุดิบ</a:t>
                      </a:r>
                    </a:p>
                  </a:txBody>
                  <a:tcPr marL="70000" marR="70000" marT="12000" marB="12000" anchor="ctr">
                    <a:solidFill>
                      <a:srgbClr val="203C8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ควรสั่ง/เดือน</a:t>
                      </a:r>
                    </a:p>
                  </a:txBody>
                  <a:tcPr marL="70000" marR="70000" marT="12000" marB="12000" anchor="ctr">
                    <a:solidFill>
                      <a:srgbClr val="203C8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มูลค่า/เดือน (฿)</a:t>
                      </a:r>
                    </a:p>
                  </a:txBody>
                  <a:tcPr marL="70000" marR="70000" marT="12000" marB="12000" anchor="ctr">
                    <a:solidFill>
                      <a:srgbClr val="203C81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31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กุ้งเทมปุระ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666 ชิ้น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3,216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32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เบสซอฟต์ครีมรสนม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11 แพ็ค 4.4 กก. (48.40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2,987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33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เบสซอฟต์ครีมรสมัตฉะ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9 แพ็ค 4.4 กก. (39.60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2,442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34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น้ำดองสไลต์เกาหลี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 แพ็ค 20 ลิตร (20.00 ลิตร)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2,120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35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มิริน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 แพ็ค 20 ลิตร (20.00 ลิตร)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1,648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36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เนื้อชาโรเล่ส์หมักเสียบไม้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180 ไม้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1,493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37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เนื้อวากิวแบบสไลด์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 แพ็ค 1 กก. (2.00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1,432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38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ปลาเงินทอดกรอบ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 แพ็ค 250 กรัม (1.00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1,264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39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เกี๊ยวซ่าอูนิ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98 ชิ้น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1,174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40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ข้าวญี่ปุ่นปรุงรส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 แพ็ค 25 กก. (25.00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1,080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41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เนื้อวากิวพับนอก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 แพ็ค 1 กก. (2.00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1,067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42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หอยเป๋าฮื้อ ตุ๋นปรุงรส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22 ตัว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843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43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หอยสังข์ญี่ปุ่น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 แพ็ค 120 กรัม (360 กรัม)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795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44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แป้งเทมปุระผง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 แพ็ค 10 กก. (10.00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770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45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สาหร่ายโนริหั่นฝอย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 กก.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659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46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สาหร่ายวากาแมะ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 กก.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339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47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กุ้งยืด Ebi Tempura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59 ตัว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285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48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ไข่ปลาแซลมอน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 กก.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163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49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ปลาฮามาจิ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 กก.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49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50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สาหร่ายโนริหั่นฝอย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 ชิ้น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8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00000" y="6600000"/>
            <a:ext cx="11150000" cy="2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Oshinei · ต้นทุนวัตถุดิบเทียบยอดขาย &amp; แผนสั่งซื้อวัตถุดิบหลัก 48 ชนิด  ·  24/92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0578" cy="6858000"/>
          </a:xfrm>
          <a:prstGeom prst="rect">
            <a:avLst/>
          </a:prstGeom>
          <a:solidFill>
            <a:srgbClr val="203C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0785" y="51759"/>
            <a:ext cx="1171755" cy="117175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00000" y="230000"/>
            <a:ext cx="1115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i="0" spc="15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ส่วนที่ 3 · รายละเอียดรายสาขา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00" y="420000"/>
            <a:ext cx="1115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203C81"/>
                </a:solidFill>
                <a:latin typeface="Tahoma"/>
                <a:ea typeface="Tahoma"/>
                <a:cs typeface="Tahoma"/>
              </a:rPr>
              <a:t>บุรีรัมย์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0000" y="950000"/>
            <a:ext cx="1115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อันดับต้นทุนอาหาร #8/28 (1=สูงสุด)  ·  อันดับมูลค่าสั่งซื้อ #16/28 (1=สูงสุด)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0000" y="1350000"/>
            <a:ext cx="2682500" cy="100000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0000" rIns="120000" tIns="110000" bIns="80000"/>
          <a:lstStyle/>
          <a:p>
            <a:pPr algn="ctr"/>
            <a:r>
              <a:rPr sz="1100" b="0" i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ยอดขาย (ไม่รวม VAT)</a:t>
            </a:r>
          </a:p>
          <a:p>
            <a:pPr>
              <a:spcBef>
                <a:spcPts val="400"/>
              </a:spcBef>
            </a:pPr>
            <a:r>
              <a:rPr sz="2000" b="1" i="0">
                <a:solidFill>
                  <a:srgbClr val="1F2937"/>
                </a:solidFill>
                <a:latin typeface="Tahoma"/>
                <a:ea typeface="Tahoma"/>
                <a:cs typeface="Tahoma"/>
              </a:rPr>
              <a:t>฿3,430,265</a:t>
            </a:r>
          </a:p>
          <a:p>
            <a:pPr>
              <a:spcBef>
                <a:spcPts val="400"/>
              </a:spcBef>
            </a:pPr>
            <a:r>
              <a:rPr sz="1050" b="0" i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/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2500" y="1350000"/>
            <a:ext cx="2682500" cy="100000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0000" rIns="120000" tIns="110000" bIns="80000"/>
          <a:lstStyle/>
          <a:p>
            <a:pPr algn="ctr"/>
            <a:r>
              <a:rPr sz="1100" b="0" i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ต้นทุนวัตถุดิบตามสูตร</a:t>
            </a:r>
          </a:p>
          <a:p>
            <a:pPr>
              <a:spcBef>
                <a:spcPts val="400"/>
              </a:spcBef>
            </a:pPr>
            <a:r>
              <a:rPr sz="2000" b="1" i="0">
                <a:solidFill>
                  <a:srgbClr val="1F2937"/>
                </a:solidFill>
                <a:latin typeface="Tahoma"/>
                <a:ea typeface="Tahoma"/>
                <a:cs typeface="Tahoma"/>
              </a:rPr>
              <a:t>฿2,277,306</a:t>
            </a:r>
          </a:p>
          <a:p>
            <a:pPr>
              <a:spcBef>
                <a:spcPts val="400"/>
              </a:spcBef>
            </a:pPr>
            <a:r>
              <a:rPr sz="1050" b="0" i="0">
                <a:solidFill>
                  <a:srgbClr val="B91C1C"/>
                </a:solidFill>
                <a:latin typeface="Tahoma"/>
                <a:ea typeface="Tahoma"/>
                <a:cs typeface="Tahoma"/>
              </a:rPr>
              <a:t>66.4% ของยอดขาย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5000" y="1350000"/>
            <a:ext cx="2682500" cy="100000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0000" rIns="120000" tIns="110000" bIns="80000"/>
          <a:lstStyle/>
          <a:p>
            <a:pPr algn="ctr"/>
            <a:r>
              <a:rPr sz="1100" b="0" i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เปลี่ยนจากเดือนก่อน</a:t>
            </a:r>
          </a:p>
          <a:p>
            <a:pPr>
              <a:spcBef>
                <a:spcPts val="400"/>
              </a:spcBef>
            </a:pPr>
            <a:r>
              <a:rPr sz="2000" b="1" i="0">
                <a:solidFill>
                  <a:srgbClr val="1F2937"/>
                </a:solidFill>
                <a:latin typeface="Tahoma"/>
                <a:ea typeface="Tahoma"/>
                <a:cs typeface="Tahoma"/>
              </a:rPr>
              <a:t>+6.9 จุด</a:t>
            </a:r>
          </a:p>
          <a:p>
            <a:pPr>
              <a:spcBef>
                <a:spcPts val="400"/>
              </a:spcBef>
            </a:pPr>
            <a:r>
              <a:rPr sz="1050" b="0" i="0">
                <a:solidFill>
                  <a:srgbClr val="B91C1C"/>
                </a:solidFill>
                <a:latin typeface="Tahoma"/>
                <a:ea typeface="Tahoma"/>
                <a:cs typeface="Tahoma"/>
              </a:rPr>
              <a:t>59.5% เดือนก่อน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67500" y="1350000"/>
            <a:ext cx="2682500" cy="100000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0000" rIns="120000" tIns="110000" bIns="80000"/>
          <a:lstStyle/>
          <a:p>
            <a:pPr algn="ctr"/>
            <a:r>
              <a:rPr sz="1100" b="0" i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ควรสั่งซื้อ 48 รายการหลัก/เดือน</a:t>
            </a:r>
          </a:p>
          <a:p>
            <a:pPr>
              <a:spcBef>
                <a:spcPts val="400"/>
              </a:spcBef>
            </a:pPr>
            <a:r>
              <a:rPr sz="2000" b="1" i="0">
                <a:solidFill>
                  <a:srgbClr val="1F2937"/>
                </a:solidFill>
                <a:latin typeface="Tahoma"/>
                <a:ea typeface="Tahoma"/>
                <a:cs typeface="Tahoma"/>
              </a:rPr>
              <a:t>฿571,948</a:t>
            </a:r>
          </a:p>
          <a:p>
            <a:pPr>
              <a:spcBef>
                <a:spcPts val="400"/>
              </a:spcBef>
            </a:pPr>
            <a:r>
              <a:rPr sz="1050" b="0" i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52 รายการ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0000" y="2500000"/>
            <a:ext cx="5500000" cy="2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B91C1C"/>
                </a:solidFill>
                <a:latin typeface="Tahoma"/>
                <a:ea typeface="Tahoma"/>
                <a:cs typeface="Tahoma"/>
              </a:rPr>
              <a:t>เมนูต้นทุนเพิ่มขึ้นมากสุด (MoM)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00000" y="2780000"/>
          <a:ext cx="5300000" cy="120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00000"/>
                <a:gridCol w="1700000"/>
                <a:gridCol w="1500000"/>
              </a:tblGrid>
              <a:tr h="300000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เมนู</a:t>
                      </a:r>
                    </a:p>
                  </a:txBody>
                  <a:tcPr marL="70000" marR="70000" marT="35000" marB="35000" anchor="ctr">
                    <a:solidFill>
                      <a:srgbClr val="203C8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ต้นทุนเดือนนี้</a:t>
                      </a:r>
                    </a:p>
                  </a:txBody>
                  <a:tcPr marL="70000" marR="70000" marT="35000" marB="35000" anchor="ctr">
                    <a:solidFill>
                      <a:srgbClr val="203C8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เปลี่ยน</a:t>
                      </a:r>
                    </a:p>
                  </a:txBody>
                  <a:tcPr marL="70000" marR="70000" marT="35000" marB="35000" anchor="ctr">
                    <a:solidFill>
                      <a:srgbClr val="203C81"/>
                    </a:solidFill>
                  </a:tcPr>
                </a:tc>
              </a:tr>
              <a:tr h="30000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(B) ทุเรียน (1 เม็ด)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฿235,756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+฿166,396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(B) แซลมอน ซาชิมิ (1 ชิ้น)</a:t>
                      </a:r>
                    </a:p>
                  </a:txBody>
                  <a:tcPr marL="70000" marR="70000" marT="35000" marB="35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฿440,492</a:t>
                      </a:r>
                    </a:p>
                  </a:txBody>
                  <a:tcPr marL="70000" marR="70000" marT="35000" marB="35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+฿99,458</a:t>
                      </a:r>
                    </a:p>
                  </a:txBody>
                  <a:tcPr marL="70000" marR="70000" marT="35000" marB="35000" anchor="ctr">
                    <a:solidFill>
                      <a:srgbClr val="F8FAFC"/>
                    </a:solidFill>
                  </a:tcPr>
                </a:tc>
              </a:tr>
              <a:tr h="30000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(B) แซลมอนดอง (3 ชิ้น)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฿168,683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+฿45,440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6200000" y="2500000"/>
            <a:ext cx="5500000" cy="2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047757"/>
                </a:solidFill>
                <a:latin typeface="Tahoma"/>
                <a:ea typeface="Tahoma"/>
                <a:cs typeface="Tahoma"/>
              </a:rPr>
              <a:t>เมนูต้นทุนลดลงมากสุด (MoM)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6200000" y="2780000"/>
          <a:ext cx="5300000" cy="120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00000"/>
                <a:gridCol w="1700000"/>
                <a:gridCol w="1500000"/>
              </a:tblGrid>
              <a:tr h="300000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เมนู</a:t>
                      </a:r>
                    </a:p>
                  </a:txBody>
                  <a:tcPr marL="70000" marR="70000" marT="35000" marB="35000" anchor="ctr">
                    <a:solidFill>
                      <a:srgbClr val="203C8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ต้นทุนเดือนนี้</a:t>
                      </a:r>
                    </a:p>
                  </a:txBody>
                  <a:tcPr marL="70000" marR="70000" marT="35000" marB="35000" anchor="ctr">
                    <a:solidFill>
                      <a:srgbClr val="203C8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เปลี่ยน</a:t>
                      </a:r>
                    </a:p>
                  </a:txBody>
                  <a:tcPr marL="70000" marR="70000" marT="35000" marB="35000" anchor="ctr">
                    <a:solidFill>
                      <a:srgbClr val="203C81"/>
                    </a:solidFill>
                  </a:tcPr>
                </a:tc>
              </a:tr>
              <a:tr h="30000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(B) แมงกะพรุนหัวกระสุนน้ำ…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฿0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฿-10,819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(B) แมงกะพรุนหัวกระสุน น้…</a:t>
                      </a:r>
                    </a:p>
                  </a:txBody>
                  <a:tcPr marL="70000" marR="70000" marT="35000" marB="35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฿0</a:t>
                      </a:r>
                    </a:p>
                  </a:txBody>
                  <a:tcPr marL="70000" marR="70000" marT="35000" marB="35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฿-9,740</a:t>
                      </a:r>
                    </a:p>
                  </a:txBody>
                  <a:tcPr marL="70000" marR="70000" marT="35000" marB="35000" anchor="ctr">
                    <a:solidFill>
                      <a:srgbClr val="F8FAFC"/>
                    </a:solidFill>
                  </a:tcPr>
                </a:tc>
              </a:tr>
              <a:tr h="30000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(B) กุ้งอาเจนติน่าซาชิมิ …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฿36,559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฿-9,600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600000" y="4100000"/>
            <a:ext cx="9000000" cy="2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203C81"/>
                </a:solidFill>
                <a:latin typeface="Tahoma"/>
                <a:ea typeface="Tahoma"/>
                <a:cs typeface="Tahoma"/>
              </a:rPr>
              <a:t>วัตถุดิบทั้งหมดที่ควรสั่งซื้อ (52 รายการ) — ดูสไลด์ถัดไป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0000" y="6600000"/>
            <a:ext cx="11150000" cy="2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Oshinei · ต้นทุนวัตถุดิบเทียบยอดขาย &amp; แผนสั่งซื้อวัตถุดิบหลัก 48 ชนิด  ·  25/92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0578" cy="6858000"/>
          </a:xfrm>
          <a:prstGeom prst="rect">
            <a:avLst/>
          </a:prstGeom>
          <a:solidFill>
            <a:srgbClr val="203C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0785" y="51759"/>
            <a:ext cx="1171755" cy="117175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00000" y="230000"/>
            <a:ext cx="1115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i="0" spc="15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ส่วนที่ 3 · รายละเอียดรายสาขา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00" y="420000"/>
            <a:ext cx="1115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 i="0">
                <a:solidFill>
                  <a:srgbClr val="203C81"/>
                </a:solidFill>
                <a:latin typeface="Tahoma"/>
                <a:ea typeface="Tahoma"/>
                <a:cs typeface="Tahoma"/>
              </a:rPr>
              <a:t>บุรีรัมย์ — วัตถุดิบทั้งหมดที่ควรสั่งซื้อ (52 รายการ) (หน้า 1/2)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00000" y="1300000"/>
          <a:ext cx="11150000" cy="515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00000"/>
                <a:gridCol w="6200000"/>
                <a:gridCol w="2700000"/>
                <a:gridCol w="1850000"/>
              </a:tblGrid>
              <a:tr h="200000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#</a:t>
                      </a:r>
                    </a:p>
                  </a:txBody>
                  <a:tcPr marL="70000" marR="70000" marT="12000" marB="12000" anchor="ctr">
                    <a:solidFill>
                      <a:srgbClr val="203C8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วัตถุดิบ</a:t>
                      </a:r>
                    </a:p>
                  </a:txBody>
                  <a:tcPr marL="70000" marR="70000" marT="12000" marB="12000" anchor="ctr">
                    <a:solidFill>
                      <a:srgbClr val="203C8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ควรสั่ง/เดือน</a:t>
                      </a:r>
                    </a:p>
                  </a:txBody>
                  <a:tcPr marL="70000" marR="70000" marT="12000" marB="12000" anchor="ctr">
                    <a:solidFill>
                      <a:srgbClr val="203C8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มูลค่า/เดือน (฿)</a:t>
                      </a:r>
                    </a:p>
                  </a:txBody>
                  <a:tcPr marL="70000" marR="70000" marT="12000" marB="12000" anchor="ctr">
                    <a:solidFill>
                      <a:srgbClr val="203C81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กุ้งแกะเปลือก  5 ตัวละ 15 กรัม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23 แพ็ค 10 กก. (230.00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71,254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เนื้อปลาทูน่า 1 ชิ้น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108 แพ็ค 1 กก. (108.00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62,640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หอยเซลล์ต้ม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58 แพ็ค 1 กก. (58.00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30,160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เนื้อใบพายออสเตรเลียสไลด์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57 แพ็ค 1 กก. (57.00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26,790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5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หนวดปลาหมึกยักษ์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 แพ็ค 12 กก. (48.00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24,940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6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เนื้อเสือร้องไห้สไลด์ ( 5 ชิ้นละ 10 กรัม 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7 แพ็ค 10 กก. (70.00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24,640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7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ไข่หอยเม่น แช่แข็ง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87 แพ็ค 100 กรัม (8.70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22,185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8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ปลาซาบะดอง 6 ชิ้น ชิ้นละ 10 กรัม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 แพ็ค 12.5 กก. (37.50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21,309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9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สาหร่ายโนริแผ่น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5,801 แผ่น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21,283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10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ปลาเนื้อขาวหั่นเต๋า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7 แพ็ค 10 กก. (70.00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19,691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11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ปลาไหลอูนางิ 70 P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206 แพ็ค 120 กรัม (24.72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19,570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12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หอยนางรมญี่ปุ่น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1,389 ตัว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18,145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13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เนื้อชาโรเล่ส์หมักเสียบไม้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1,608 ชิ้น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13,664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14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ไข่กุ้ง Ebiko Grade A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 แพ็ค 10 กก. (30.00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13,296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15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ปลาหมึกกระดอง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 แพ็ค 10 กก. (40.00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12,800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16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กุ้งอาเจนติน่า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15 แพ็ค 2 กก. (30.00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12,105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17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ปลาซาบะ1 ชิ้น ½ ตัว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 แพ็ค 20 กก. (60.00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11,934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18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ปลาไหลอนาโงะสไลด์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69 แพ็ค 200 กรัม (13.80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11,316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19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ไข่หวานหั่นเต๋า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6 แพ็ค 10 กก. (60.00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10,914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20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ปลาฮามาจิ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10 แพ็ค 1.85 กก. (18.50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9,660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21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มันปูปรงรส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15 แพ็ค 1 กก. (15.00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9,555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22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เนื้อออสเตรเลียแบบตัด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16 แพ็ค 1 กก. (16.00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9,024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23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ปีกไก่สำเร็จรูป 1 ชิ้น / 35 กรัม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 แพ็ค 10 กก. (20.00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6,893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24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ตับปลาอังกิโมะ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858 แพ็ค 15 กรัม (12.87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6,864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25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เบสซอฟต์ครีมทูโทน (รสมัตฉะ และรสนม)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25 แพ็ค 4.4 กก. (110.00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6,785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26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กุ้งเทมปุระ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1,397 ชิ้น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6,746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27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ปลาเงินทอดกรอบ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21 แพ็ค 250 กรัม (5.25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6,635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28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เนื้อสไลด์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20 กก.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6,610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29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ปลาดอลลี่ ½ ตัว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8 แพ็ค 10 กก. (80.00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6,552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30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ปลาไหลสไลด์ 9 ชิ้น ชิ้นละ 6 กรัม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 แพ็ค 7.2 กก. (7.20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6,480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00000" y="6600000"/>
            <a:ext cx="11150000" cy="2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Oshinei · ต้นทุนวัตถุดิบเทียบยอดขาย &amp; แผนสั่งซื้อวัตถุดิบหลัก 48 ชนิด  ·  26/92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0578" cy="6858000"/>
          </a:xfrm>
          <a:prstGeom prst="rect">
            <a:avLst/>
          </a:prstGeom>
          <a:solidFill>
            <a:srgbClr val="203C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0785" y="51759"/>
            <a:ext cx="1171755" cy="117175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00000" y="230000"/>
            <a:ext cx="1115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i="0" spc="15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ส่วนที่ 3 · รายละเอียดรายสาขา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00" y="420000"/>
            <a:ext cx="1115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 i="0">
                <a:solidFill>
                  <a:srgbClr val="203C81"/>
                </a:solidFill>
                <a:latin typeface="Tahoma"/>
                <a:ea typeface="Tahoma"/>
                <a:cs typeface="Tahoma"/>
              </a:rPr>
              <a:t>บุรีรัมย์ — วัตถุดิบทั้งหมดที่ควรสั่งซื้อ (52 รายการ) (หน้า 2/2)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00000" y="1300000"/>
          <a:ext cx="11150000" cy="383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00000"/>
                <a:gridCol w="6200000"/>
                <a:gridCol w="2700000"/>
                <a:gridCol w="1850000"/>
              </a:tblGrid>
              <a:tr h="200000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#</a:t>
                      </a:r>
                    </a:p>
                  </a:txBody>
                  <a:tcPr marL="70000" marR="70000" marT="12000" marB="12000" anchor="ctr">
                    <a:solidFill>
                      <a:srgbClr val="203C8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วัตถุดิบ</a:t>
                      </a:r>
                    </a:p>
                  </a:txBody>
                  <a:tcPr marL="70000" marR="70000" marT="12000" marB="12000" anchor="ctr">
                    <a:solidFill>
                      <a:srgbClr val="203C8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ควรสั่ง/เดือน</a:t>
                      </a:r>
                    </a:p>
                  </a:txBody>
                  <a:tcPr marL="70000" marR="70000" marT="12000" marB="12000" anchor="ctr">
                    <a:solidFill>
                      <a:srgbClr val="203C8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มูลค่า/เดือน (฿)</a:t>
                      </a:r>
                    </a:p>
                  </a:txBody>
                  <a:tcPr marL="70000" marR="70000" marT="12000" marB="12000" anchor="ctr">
                    <a:solidFill>
                      <a:srgbClr val="203C81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31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วาซาบิ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 แพ็ค 10 กก. (10.00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4,789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32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น้ำดองสไลต์เกาหลี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 แพ็ค 20 ลิตร (40.00 ลิตร)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4,240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33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สาเกสำหรับปรุงอาหาร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 แพ็ค 18 ลิตร (36.00 ลิตร)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4,092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34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เบสซอฟต์ครีมรสนม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12 แพ็ค 4.4 กก. (52.80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3,258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35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เนื้อชาโรเล่ส์หมักเสียบไม้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385 ไม้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3,194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36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หอยสังข์ญี่ปุ่น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12 แพ็ค 120 กรัม (1.44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3,180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37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เนื้อออสเตรเลียสไลด์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 แพ็ค 1 กก. (4.00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2,864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38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เบสซอฟต์ครีมรสมัตฉะ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10 แพ็ค 4.4 กก. (44.00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2,713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39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ข้าวญี่ปุ่นปรุงรส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 แพ็ค 25 กก. (50.00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2,160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40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เกี๊ยวซ่าอูนิ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148 ชิ้น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1,768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41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หอยเป๋าฮื้อ ตุ๋นปรุงรส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43 ตัว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1,685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42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มิริน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 แพ็ค 20 ลิตร (20.00 ลิตร)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1,648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43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สาหร่ายโนรี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 กก.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1,172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44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หอยแครงยักษ์สไลด์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99 ชิ้น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1,099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45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เนื้อวากิวพับนอก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 แพ็ค 1 กก. (2.00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1,067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46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แป้งเทมปุระผง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 แพ็ค 10 กก. (10.00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770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47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สาหร่ายวากาแมะ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 กก.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765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48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กุ้งยืด Ebi Tempura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109 ตัว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524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49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ไข่ปลาแซลมอน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 กก.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262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50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ปลาฮามาจิ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 กก.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193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51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หอยนางรมญี่ปุ่น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5 ชิ้น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62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52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สาหร่ายโนริหั่นฝอย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 ชิ้น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00000" y="6600000"/>
            <a:ext cx="11150000" cy="2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Oshinei · ต้นทุนวัตถุดิบเทียบยอดขาย &amp; แผนสั่งซื้อวัตถุดิบหลัก 48 ชนิด  ·  27/92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0578" cy="6858000"/>
          </a:xfrm>
          <a:prstGeom prst="rect">
            <a:avLst/>
          </a:prstGeom>
          <a:solidFill>
            <a:srgbClr val="203C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0785" y="51759"/>
            <a:ext cx="1171755" cy="117175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00000" y="230000"/>
            <a:ext cx="1115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i="0" spc="15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ส่วนที่ 3 · รายละเอียดรายสาขา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00" y="420000"/>
            <a:ext cx="1115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203C81"/>
                </a:solidFill>
                <a:latin typeface="Tahoma"/>
                <a:ea typeface="Tahoma"/>
                <a:cs typeface="Tahoma"/>
              </a:rPr>
              <a:t>ปลวกแดง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0000" y="950000"/>
            <a:ext cx="1115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อันดับต้นทุนอาหาร #27/28 (1=สูงสุด)  ·  อันดับมูลค่าสั่งซื้อ #17/28 (1=สูงสุด)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0000" y="1350000"/>
            <a:ext cx="2682500" cy="100000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0000" rIns="120000" tIns="110000" bIns="80000"/>
          <a:lstStyle/>
          <a:p>
            <a:pPr algn="ctr"/>
            <a:r>
              <a:rPr sz="1100" b="0" i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ยอดขาย (ไม่รวม VAT)</a:t>
            </a:r>
          </a:p>
          <a:p>
            <a:pPr>
              <a:spcBef>
                <a:spcPts val="400"/>
              </a:spcBef>
            </a:pPr>
            <a:r>
              <a:rPr sz="2000" b="1" i="0">
                <a:solidFill>
                  <a:srgbClr val="1F2937"/>
                </a:solidFill>
                <a:latin typeface="Tahoma"/>
                <a:ea typeface="Tahoma"/>
                <a:cs typeface="Tahoma"/>
              </a:rPr>
              <a:t>฿3,039,630</a:t>
            </a:r>
          </a:p>
          <a:p>
            <a:pPr>
              <a:spcBef>
                <a:spcPts val="400"/>
              </a:spcBef>
            </a:pPr>
            <a:r>
              <a:rPr sz="1050" b="0" i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/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2500" y="1350000"/>
            <a:ext cx="2682500" cy="100000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0000" rIns="120000" tIns="110000" bIns="80000"/>
          <a:lstStyle/>
          <a:p>
            <a:pPr algn="ctr"/>
            <a:r>
              <a:rPr sz="1100" b="0" i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ต้นทุนวัตถุดิบตามสูตร</a:t>
            </a:r>
          </a:p>
          <a:p>
            <a:pPr>
              <a:spcBef>
                <a:spcPts val="400"/>
              </a:spcBef>
            </a:pPr>
            <a:r>
              <a:rPr sz="2000" b="1" i="0">
                <a:solidFill>
                  <a:srgbClr val="1F2937"/>
                </a:solidFill>
                <a:latin typeface="Tahoma"/>
                <a:ea typeface="Tahoma"/>
                <a:cs typeface="Tahoma"/>
              </a:rPr>
              <a:t>฿1,470,840</a:t>
            </a:r>
          </a:p>
          <a:p>
            <a:pPr>
              <a:spcBef>
                <a:spcPts val="400"/>
              </a:spcBef>
            </a:pPr>
            <a:r>
              <a:rPr sz="1050" b="0" i="0">
                <a:solidFill>
                  <a:srgbClr val="047757"/>
                </a:solidFill>
                <a:latin typeface="Tahoma"/>
                <a:ea typeface="Tahoma"/>
                <a:cs typeface="Tahoma"/>
              </a:rPr>
              <a:t>48.4% ของยอดขาย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5000" y="1350000"/>
            <a:ext cx="2682500" cy="100000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0000" rIns="120000" tIns="110000" bIns="80000"/>
          <a:lstStyle/>
          <a:p>
            <a:pPr algn="ctr"/>
            <a:r>
              <a:rPr sz="1100" b="0" i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เปลี่ยนจากเดือนก่อน</a:t>
            </a:r>
          </a:p>
          <a:p>
            <a:pPr>
              <a:spcBef>
                <a:spcPts val="400"/>
              </a:spcBef>
            </a:pPr>
            <a:r>
              <a:rPr sz="2000" b="1" i="0">
                <a:solidFill>
                  <a:srgbClr val="1F2937"/>
                </a:solidFill>
                <a:latin typeface="Tahoma"/>
                <a:ea typeface="Tahoma"/>
                <a:cs typeface="Tahoma"/>
              </a:rPr>
              <a:t>—</a:t>
            </a:r>
          </a:p>
          <a:p>
            <a:pPr>
              <a:spcBef>
                <a:spcPts val="400"/>
              </a:spcBef>
            </a:pPr>
            <a:r>
              <a:rPr sz="1050" b="0" i="0">
                <a:solidFill>
                  <a:srgbClr val="047757"/>
                </a:solidFill>
                <a:latin typeface="Tahoma"/>
                <a:ea typeface="Tahoma"/>
                <a:cs typeface="Tahoma"/>
              </a:rPr>
              <a:t>— เดือนก่อน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67500" y="1350000"/>
            <a:ext cx="2682500" cy="100000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0000" rIns="120000" tIns="110000" bIns="80000"/>
          <a:lstStyle/>
          <a:p>
            <a:pPr algn="ctr"/>
            <a:r>
              <a:rPr sz="1100" b="0" i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ควรสั่งซื้อ 48 รายการหลัก/เดือน</a:t>
            </a:r>
          </a:p>
          <a:p>
            <a:pPr>
              <a:spcBef>
                <a:spcPts val="400"/>
              </a:spcBef>
            </a:pPr>
            <a:r>
              <a:rPr sz="2000" b="1" i="0">
                <a:solidFill>
                  <a:srgbClr val="1F2937"/>
                </a:solidFill>
                <a:latin typeface="Tahoma"/>
                <a:ea typeface="Tahoma"/>
                <a:cs typeface="Tahoma"/>
              </a:rPr>
              <a:t>฿535,499</a:t>
            </a:r>
          </a:p>
          <a:p>
            <a:pPr>
              <a:spcBef>
                <a:spcPts val="400"/>
              </a:spcBef>
            </a:pPr>
            <a:r>
              <a:rPr sz="1050" b="0" i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35 รายการ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0000" y="2500000"/>
            <a:ext cx="5500000" cy="2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B91C1C"/>
                </a:solidFill>
                <a:latin typeface="Tahoma"/>
                <a:ea typeface="Tahoma"/>
                <a:cs typeface="Tahoma"/>
              </a:rPr>
              <a:t>เมนูต้นทุนเพิ่มขึ้นมากสุด (MoM)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00000" y="2780000"/>
          <a:ext cx="5300000" cy="120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00000"/>
                <a:gridCol w="1700000"/>
                <a:gridCol w="1500000"/>
              </a:tblGrid>
              <a:tr h="300000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เมนู</a:t>
                      </a:r>
                    </a:p>
                  </a:txBody>
                  <a:tcPr marL="70000" marR="70000" marT="35000" marB="35000" anchor="ctr">
                    <a:solidFill>
                      <a:srgbClr val="203C8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ต้นทุนเดือนนี้</a:t>
                      </a:r>
                    </a:p>
                  </a:txBody>
                  <a:tcPr marL="70000" marR="70000" marT="35000" marB="35000" anchor="ctr">
                    <a:solidFill>
                      <a:srgbClr val="203C8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เปลี่ยน</a:t>
                      </a:r>
                    </a:p>
                  </a:txBody>
                  <a:tcPr marL="70000" marR="70000" marT="35000" marB="35000" anchor="ctr">
                    <a:solidFill>
                      <a:srgbClr val="203C81"/>
                    </a:solidFill>
                  </a:tcPr>
                </a:tc>
              </a:tr>
              <a:tr h="30000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(B) ซาชิมิแซลมอน (1 ชิ้น …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฿179,970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+฿179,970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(B) แซลมอนดองซีอิ๊ว (3 ชิ…</a:t>
                      </a:r>
                    </a:p>
                  </a:txBody>
                  <a:tcPr marL="70000" marR="70000" marT="35000" marB="35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฿114,571</a:t>
                      </a:r>
                    </a:p>
                  </a:txBody>
                  <a:tcPr marL="70000" marR="70000" marT="35000" marB="35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+฿114,571</a:t>
                      </a:r>
                    </a:p>
                  </a:txBody>
                  <a:tcPr marL="70000" marR="70000" marT="35000" marB="35000" anchor="ctr">
                    <a:solidFill>
                      <a:srgbClr val="F8FAFC"/>
                    </a:solidFill>
                  </a:tcPr>
                </a:tc>
              </a:tr>
              <a:tr h="30000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(B) กุ้งดองซีอิ๊ว (3 ตัว …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฿88,151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+฿88,151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6200000" y="2500000"/>
            <a:ext cx="5500000" cy="2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047757"/>
                </a:solidFill>
                <a:latin typeface="Tahoma"/>
                <a:ea typeface="Tahoma"/>
                <a:cs typeface="Tahoma"/>
              </a:rPr>
              <a:t>เมนูต้นทุนลดลงมากสุด (MoM)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6200000" y="2780000"/>
          <a:ext cx="5300000" cy="30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00000"/>
                <a:gridCol w="1700000"/>
                <a:gridCol w="1500000"/>
              </a:tblGrid>
              <a:tr h="300000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เมนู</a:t>
                      </a:r>
                    </a:p>
                  </a:txBody>
                  <a:tcPr marL="70000" marR="70000" marT="35000" marB="35000" anchor="ctr">
                    <a:solidFill>
                      <a:srgbClr val="203C8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ต้นทุนเดือนนี้</a:t>
                      </a:r>
                    </a:p>
                  </a:txBody>
                  <a:tcPr marL="70000" marR="70000" marT="35000" marB="35000" anchor="ctr">
                    <a:solidFill>
                      <a:srgbClr val="203C8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เปลี่ยน</a:t>
                      </a:r>
                    </a:p>
                  </a:txBody>
                  <a:tcPr marL="70000" marR="70000" marT="35000" marB="35000" anchor="ctr">
                    <a:solidFill>
                      <a:srgbClr val="203C81"/>
                    </a:solidFill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600000" y="4100000"/>
            <a:ext cx="9000000" cy="2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203C81"/>
                </a:solidFill>
                <a:latin typeface="Tahoma"/>
                <a:ea typeface="Tahoma"/>
                <a:cs typeface="Tahoma"/>
              </a:rPr>
              <a:t>วัตถุดิบทั้งหมดที่ควรสั่งซื้อ (35 รายการ) — ดูสไลด์ถัดไป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0000" y="6600000"/>
            <a:ext cx="11150000" cy="2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Oshinei · ต้นทุนวัตถุดิบเทียบยอดขาย &amp; แผนสั่งซื้อวัตถุดิบหลัก 48 ชนิด  ·  28/92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0578" cy="6858000"/>
          </a:xfrm>
          <a:prstGeom prst="rect">
            <a:avLst/>
          </a:prstGeom>
          <a:solidFill>
            <a:srgbClr val="203C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0785" y="51759"/>
            <a:ext cx="1171755" cy="117175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00000" y="230000"/>
            <a:ext cx="1115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i="0" spc="15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ส่วนที่ 3 · รายละเอียดรายสาขา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00" y="420000"/>
            <a:ext cx="1115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 i="0">
                <a:solidFill>
                  <a:srgbClr val="203C81"/>
                </a:solidFill>
                <a:latin typeface="Tahoma"/>
                <a:ea typeface="Tahoma"/>
                <a:cs typeface="Tahoma"/>
              </a:rPr>
              <a:t>ปลวกแดง — วัตถุดิบทั้งหมดที่ควรสั่งซื้อ (35 รายการ) (หน้า 1/2)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00000" y="1300000"/>
          <a:ext cx="11150000" cy="515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00000"/>
                <a:gridCol w="6200000"/>
                <a:gridCol w="2700000"/>
                <a:gridCol w="1850000"/>
              </a:tblGrid>
              <a:tr h="200000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#</a:t>
                      </a:r>
                    </a:p>
                  </a:txBody>
                  <a:tcPr marL="70000" marR="70000" marT="12000" marB="12000" anchor="ctr">
                    <a:solidFill>
                      <a:srgbClr val="203C8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วัตถุดิบ</a:t>
                      </a:r>
                    </a:p>
                  </a:txBody>
                  <a:tcPr marL="70000" marR="70000" marT="12000" marB="12000" anchor="ctr">
                    <a:solidFill>
                      <a:srgbClr val="203C8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ควรสั่ง/เดือน</a:t>
                      </a:r>
                    </a:p>
                  </a:txBody>
                  <a:tcPr marL="70000" marR="70000" marT="12000" marB="12000" anchor="ctr">
                    <a:solidFill>
                      <a:srgbClr val="203C8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มูลค่า/เดือน (฿)</a:t>
                      </a:r>
                    </a:p>
                  </a:txBody>
                  <a:tcPr marL="70000" marR="70000" marT="12000" marB="12000" anchor="ctr">
                    <a:solidFill>
                      <a:srgbClr val="203C81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กุ้งขาวแกะเปลือกแช่แข็ง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22 แพ็ค 10 กก. (220.00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68,156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ปลาทูน่า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96 แพ็ค 1 กก. (96.00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55,680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ปลาไหลอูนางิ 70 P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382 แพ็ค 120 กรัม (45.84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36,290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เนื้อใบพายออสเตรเลียสไลด์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76 แพ็ค 1 กก. (76.00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35,720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5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เนื้อเสือร้องไห้ ออสเตรเลียสไลด์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8 แพ็ค 10 กก. (80.00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28,160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6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หอยเชลล์ฮอกไกโด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52 แพ็ค 1 กก. (52.00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27,040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7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ไข่หอยเม่น แช่แข็ง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91 แพ็ค 100 กรัม (9.10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23,205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8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ปลาซาบะดอง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 แพ็ค 12.5 กก. (37.50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21,309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9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หอยนางรมญี่ปุ่น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1,553 ตัว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20,287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10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ปลาอิซุมิได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7 แพ็ค 10 กก. (70.00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19,691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11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หนวดปลาหมึกยักษ์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 แพ็ค 12 กก. (36.00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18,705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12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สาหร่ายโนริแผ่น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5,136 แผ่น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18,699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13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เนื้อชาโรเล่ส์หมักเสียบไม้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2,054 ชิ้น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17,453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14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ปลาหมึกกระดอง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5 แพ็ค 10 กก. (50.00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16,000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15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ปลาซาบะ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 แพ็ค 20 กก. (80.00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15,912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16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เนื้อออสเตรเลียวากิวแบบตัด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24 แพ็ค 1 กก. (24.00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13,536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17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ไข่กุ้ง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 แพ็ค 10 กก. (30.00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13,296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18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ปลาฮามาจิ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13 แพ็ค 1.85 กก. (24.05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12,558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19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ปลาไหลอนาโงะสไลด์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71 แพ็ค 200 กรัม (14.20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11,644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20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ไข่หอยเม่น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18 แพ็ค 1 กก. (18.00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11,466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21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ไข่หวาน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6 แพ็ค 10 กก. (60.00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10,914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22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ปลาดอลลี่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10 แพ็ค 10 กก. (100.00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8,190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23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ตับปลาอังกิโมะ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851 แพ็ค 15 กรัม (12.77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6,808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24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ปลาไหลย่างสไลด์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 แพ็ค 7.2 กก. (7.20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6,480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25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เกี๊ยวซ่าอูนิ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359 ชิ้น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4,297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26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สาเกสำหรับปรุงอาหาร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 แพ็ค 18 ลิตร (36.00 ลิตร)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4,092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27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ปลาเงินทอดกรอบ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9 แพ็ค 250 กรัม (2.25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2,844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28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น้ำดองสไลต์เกาหลี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 แพ็ค 20 ลิตร (20.00 ลิตร)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2,120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29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มิริน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 แพ็ค 20 ลิตร (20.00 ลิตร)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1,648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30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เนื้อวากิวพับนอก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 แพ็ค 1 กก. (2.00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1,067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00000" y="6600000"/>
            <a:ext cx="11150000" cy="2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Oshinei · ต้นทุนวัตถุดิบเทียบยอดขาย &amp; แผนสั่งซื้อวัตถุดิบหลัก 48 ชนิด  ·  29/92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0578" cy="6858000"/>
          </a:xfrm>
          <a:prstGeom prst="rect">
            <a:avLst/>
          </a:prstGeom>
          <a:solidFill>
            <a:srgbClr val="203C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0785" y="51759"/>
            <a:ext cx="1171755" cy="117175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00000" y="230000"/>
            <a:ext cx="1115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i="0" spc="15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ส่วนที่ 3 · รายละเอียดรายสาขา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00" y="420000"/>
            <a:ext cx="1115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 i="0">
                <a:solidFill>
                  <a:srgbClr val="203C81"/>
                </a:solidFill>
                <a:latin typeface="Tahoma"/>
                <a:ea typeface="Tahoma"/>
                <a:cs typeface="Tahoma"/>
              </a:rPr>
              <a:t>ปลวกแดง — วัตถุดิบทั้งหมดที่ควรสั่งซื้อ (35 รายการ) (หน้า 2/2)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00000" y="1300000"/>
          <a:ext cx="11150000" cy="1025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00000"/>
                <a:gridCol w="6200000"/>
                <a:gridCol w="2700000"/>
                <a:gridCol w="1850000"/>
              </a:tblGrid>
              <a:tr h="200000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#</a:t>
                      </a:r>
                    </a:p>
                  </a:txBody>
                  <a:tcPr marL="70000" marR="70000" marT="12000" marB="12000" anchor="ctr">
                    <a:solidFill>
                      <a:srgbClr val="203C8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วัตถุดิบ</a:t>
                      </a:r>
                    </a:p>
                  </a:txBody>
                  <a:tcPr marL="70000" marR="70000" marT="12000" marB="12000" anchor="ctr">
                    <a:solidFill>
                      <a:srgbClr val="203C8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ควรสั่ง/เดือน</a:t>
                      </a:r>
                    </a:p>
                  </a:txBody>
                  <a:tcPr marL="70000" marR="70000" marT="12000" marB="12000" anchor="ctr">
                    <a:solidFill>
                      <a:srgbClr val="203C8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มูลค่า/เดือน (฿)</a:t>
                      </a:r>
                    </a:p>
                  </a:txBody>
                  <a:tcPr marL="70000" marR="70000" marT="12000" marB="12000" anchor="ctr">
                    <a:solidFill>
                      <a:srgbClr val="203C81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31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แป้งเทมปุระ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 แพ็ค 10 กก. (10.00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770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32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หอยสังข์ญี่ปุ่น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 แพ็ค 120 กรัม (240 กรัม)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530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33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หอยเป๋าฮื้อ ตุ๋นปรุงรส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10 ตัว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388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34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เบสซอฟต์ครีมรสนม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 แพ็ค 4.4 กก. (4.40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272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35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เบสซอฟต์ครีมทูโทน (รสมัตฉะ และรสนม)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 แพ็ค 4.4 กก. (4.40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271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00000" y="6600000"/>
            <a:ext cx="11150000" cy="2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Oshinei · ต้นทุนวัตถุดิบเทียบยอดขาย &amp; แผนสั่งซื้อวัตถุดิบหลัก 48 ชนิด  ·  30/92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0578" cy="6858000"/>
          </a:xfrm>
          <a:prstGeom prst="rect">
            <a:avLst/>
          </a:prstGeom>
          <a:solidFill>
            <a:srgbClr val="203C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0785" y="51759"/>
            <a:ext cx="1171755" cy="117175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00000" y="230000"/>
            <a:ext cx="1115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i="0" spc="15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ส่วนที่ 3 · รายละเอียดรายสาขา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00" y="420000"/>
            <a:ext cx="1115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203C81"/>
                </a:solidFill>
                <a:latin typeface="Tahoma"/>
                <a:ea typeface="Tahoma"/>
                <a:cs typeface="Tahoma"/>
              </a:rPr>
              <a:t>พัทยา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0000" y="950000"/>
            <a:ext cx="1115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อันดับต้นทุนอาหาร #15/28 (1=สูงสุด)  ·  อันดับมูลค่าสั่งซื้อ #15/28 (1=สูงสุด)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0000" y="1350000"/>
            <a:ext cx="2682500" cy="100000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0000" rIns="120000" tIns="110000" bIns="80000"/>
          <a:lstStyle/>
          <a:p>
            <a:pPr algn="ctr"/>
            <a:r>
              <a:rPr sz="1100" b="0" i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ยอดขาย (ไม่รวม VAT)</a:t>
            </a:r>
          </a:p>
          <a:p>
            <a:pPr>
              <a:spcBef>
                <a:spcPts val="400"/>
              </a:spcBef>
            </a:pPr>
            <a:r>
              <a:rPr sz="2000" b="1" i="0">
                <a:solidFill>
                  <a:srgbClr val="1F2937"/>
                </a:solidFill>
                <a:latin typeface="Tahoma"/>
                <a:ea typeface="Tahoma"/>
                <a:cs typeface="Tahoma"/>
              </a:rPr>
              <a:t>฿2,447,148</a:t>
            </a:r>
          </a:p>
          <a:p>
            <a:pPr>
              <a:spcBef>
                <a:spcPts val="400"/>
              </a:spcBef>
            </a:pPr>
            <a:r>
              <a:rPr sz="1050" b="0" i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/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2500" y="1350000"/>
            <a:ext cx="2682500" cy="100000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0000" rIns="120000" tIns="110000" bIns="80000"/>
          <a:lstStyle/>
          <a:p>
            <a:pPr algn="ctr"/>
            <a:r>
              <a:rPr sz="1100" b="0" i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ต้นทุนวัตถุดิบตามสูตร</a:t>
            </a:r>
          </a:p>
          <a:p>
            <a:pPr>
              <a:spcBef>
                <a:spcPts val="400"/>
              </a:spcBef>
            </a:pPr>
            <a:r>
              <a:rPr sz="2000" b="1" i="0">
                <a:solidFill>
                  <a:srgbClr val="1F2937"/>
                </a:solidFill>
                <a:latin typeface="Tahoma"/>
                <a:ea typeface="Tahoma"/>
                <a:cs typeface="Tahoma"/>
              </a:rPr>
              <a:t>฿1,417,512</a:t>
            </a:r>
          </a:p>
          <a:p>
            <a:pPr>
              <a:spcBef>
                <a:spcPts val="400"/>
              </a:spcBef>
            </a:pPr>
            <a:r>
              <a:rPr sz="1050" b="0" i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57.9% ของยอดขาย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5000" y="1350000"/>
            <a:ext cx="2682500" cy="100000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0000" rIns="120000" tIns="110000" bIns="80000"/>
          <a:lstStyle/>
          <a:p>
            <a:pPr algn="ctr"/>
            <a:r>
              <a:rPr sz="1100" b="0" i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เปลี่ยนจากเดือนก่อน</a:t>
            </a:r>
          </a:p>
          <a:p>
            <a:pPr>
              <a:spcBef>
                <a:spcPts val="400"/>
              </a:spcBef>
            </a:pPr>
            <a:r>
              <a:rPr sz="2000" b="1" i="0">
                <a:solidFill>
                  <a:srgbClr val="1F2937"/>
                </a:solidFill>
                <a:latin typeface="Tahoma"/>
                <a:ea typeface="Tahoma"/>
                <a:cs typeface="Tahoma"/>
              </a:rPr>
              <a:t>+2.5 จุด</a:t>
            </a:r>
          </a:p>
          <a:p>
            <a:pPr>
              <a:spcBef>
                <a:spcPts val="400"/>
              </a:spcBef>
            </a:pPr>
            <a:r>
              <a:rPr sz="1050" b="0" i="0">
                <a:solidFill>
                  <a:srgbClr val="B91C1C"/>
                </a:solidFill>
                <a:latin typeface="Tahoma"/>
                <a:ea typeface="Tahoma"/>
                <a:cs typeface="Tahoma"/>
              </a:rPr>
              <a:t>55.4% เดือนก่อน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67500" y="1350000"/>
            <a:ext cx="2682500" cy="100000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0000" rIns="120000" tIns="110000" bIns="80000"/>
          <a:lstStyle/>
          <a:p>
            <a:pPr algn="ctr"/>
            <a:r>
              <a:rPr sz="1100" b="0" i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ควรสั่งซื้อ 48 รายการหลัก/เดือน</a:t>
            </a:r>
          </a:p>
          <a:p>
            <a:pPr>
              <a:spcBef>
                <a:spcPts val="400"/>
              </a:spcBef>
            </a:pPr>
            <a:r>
              <a:rPr sz="2000" b="1" i="0">
                <a:solidFill>
                  <a:srgbClr val="1F2937"/>
                </a:solidFill>
                <a:latin typeface="Tahoma"/>
                <a:ea typeface="Tahoma"/>
                <a:cs typeface="Tahoma"/>
              </a:rPr>
              <a:t>฿571,971</a:t>
            </a:r>
          </a:p>
          <a:p>
            <a:pPr>
              <a:spcBef>
                <a:spcPts val="400"/>
              </a:spcBef>
            </a:pPr>
            <a:r>
              <a:rPr sz="1050" b="0" i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49 รายการ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0000" y="2500000"/>
            <a:ext cx="5500000" cy="2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B91C1C"/>
                </a:solidFill>
                <a:latin typeface="Tahoma"/>
                <a:ea typeface="Tahoma"/>
                <a:cs typeface="Tahoma"/>
              </a:rPr>
              <a:t>เมนูต้นทุนเพิ่มขึ้นมากสุด (MoM)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00000" y="2780000"/>
          <a:ext cx="5300000" cy="120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00000"/>
                <a:gridCol w="1700000"/>
                <a:gridCol w="1500000"/>
              </a:tblGrid>
              <a:tr h="300000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เมนู</a:t>
                      </a:r>
                    </a:p>
                  </a:txBody>
                  <a:tcPr marL="70000" marR="70000" marT="35000" marB="35000" anchor="ctr">
                    <a:solidFill>
                      <a:srgbClr val="203C8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ต้นทุนเดือนนี้</a:t>
                      </a:r>
                    </a:p>
                  </a:txBody>
                  <a:tcPr marL="70000" marR="70000" marT="35000" marB="35000" anchor="ctr">
                    <a:solidFill>
                      <a:srgbClr val="203C8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เปลี่ยน</a:t>
                      </a:r>
                    </a:p>
                  </a:txBody>
                  <a:tcPr marL="70000" marR="70000" marT="35000" marB="35000" anchor="ctr">
                    <a:solidFill>
                      <a:srgbClr val="203C81"/>
                    </a:solidFill>
                  </a:tcPr>
                </a:tc>
              </a:tr>
              <a:tr h="30000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(B) แซลมอน ซาชิมิ (1 ชิ้น)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฿197,212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+฿32,465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(B) ยำแซลมอนน้ำปลาร้า</a:t>
                      </a:r>
                    </a:p>
                  </a:txBody>
                  <a:tcPr marL="70000" marR="70000" marT="35000" marB="35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฿46,113</a:t>
                      </a:r>
                    </a:p>
                  </a:txBody>
                  <a:tcPr marL="70000" marR="70000" marT="35000" marB="35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+฿6,326</a:t>
                      </a:r>
                    </a:p>
                  </a:txBody>
                  <a:tcPr marL="70000" marR="70000" marT="35000" marB="35000" anchor="ctr">
                    <a:solidFill>
                      <a:srgbClr val="F8FAFC"/>
                    </a:solidFill>
                  </a:tcPr>
                </a:tc>
              </a:tr>
              <a:tr h="30000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(B) แซลมอนดอง (3 ชิ้น)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฿66,924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+฿5,731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6200000" y="2500000"/>
            <a:ext cx="5500000" cy="2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047757"/>
                </a:solidFill>
                <a:latin typeface="Tahoma"/>
                <a:ea typeface="Tahoma"/>
                <a:cs typeface="Tahoma"/>
              </a:rPr>
              <a:t>เมนูต้นทุนลดลงมากสุด (MoM)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6200000" y="2780000"/>
          <a:ext cx="5300000" cy="120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00000"/>
                <a:gridCol w="1700000"/>
                <a:gridCol w="1500000"/>
              </a:tblGrid>
              <a:tr h="300000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เมนู</a:t>
                      </a:r>
                    </a:p>
                  </a:txBody>
                  <a:tcPr marL="70000" marR="70000" marT="35000" marB="35000" anchor="ctr">
                    <a:solidFill>
                      <a:srgbClr val="203C8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ต้นทุนเดือนนี้</a:t>
                      </a:r>
                    </a:p>
                  </a:txBody>
                  <a:tcPr marL="70000" marR="70000" marT="35000" marB="35000" anchor="ctr">
                    <a:solidFill>
                      <a:srgbClr val="203C8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เปลี่ยน</a:t>
                      </a:r>
                    </a:p>
                  </a:txBody>
                  <a:tcPr marL="70000" marR="70000" marT="35000" marB="35000" anchor="ctr">
                    <a:solidFill>
                      <a:srgbClr val="203C81"/>
                    </a:solidFill>
                  </a:tcPr>
                </a:tc>
              </a:tr>
              <a:tr h="30000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(B) หอยนางรมเสิร์ฟพร้อมน้…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฿38,537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฿-4,362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ค็อกเทลแซลมอน</a:t>
                      </a:r>
                    </a:p>
                  </a:txBody>
                  <a:tcPr marL="70000" marR="70000" marT="35000" marB="35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฿7,110</a:t>
                      </a:r>
                    </a:p>
                  </a:txBody>
                  <a:tcPr marL="70000" marR="70000" marT="35000" marB="35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฿-3,777</a:t>
                      </a:r>
                    </a:p>
                  </a:txBody>
                  <a:tcPr marL="70000" marR="70000" marT="35000" marB="35000" anchor="ctr">
                    <a:solidFill>
                      <a:srgbClr val="F8FAFC"/>
                    </a:solidFill>
                  </a:tcPr>
                </a:tc>
              </a:tr>
              <a:tr h="30000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(B) ทุเรียน (1 เม็ด)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฿0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฿-2,720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600000" y="4100000"/>
            <a:ext cx="9000000" cy="2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203C81"/>
                </a:solidFill>
                <a:latin typeface="Tahoma"/>
                <a:ea typeface="Tahoma"/>
                <a:cs typeface="Tahoma"/>
              </a:rPr>
              <a:t>วัตถุดิบทั้งหมดที่ควรสั่งซื้อ (49 รายการ) — ดูสไลด์ถัดไป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0000" y="6600000"/>
            <a:ext cx="11150000" cy="2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Oshinei · ต้นทุนวัตถุดิบเทียบยอดขาย &amp; แผนสั่งซื้อวัตถุดิบหลัก 48 ชนิด  ·  31/92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0578" cy="6858000"/>
          </a:xfrm>
          <a:prstGeom prst="rect">
            <a:avLst/>
          </a:prstGeom>
          <a:solidFill>
            <a:srgbClr val="203C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0785" y="51759"/>
            <a:ext cx="1171755" cy="117175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00000" y="230000"/>
            <a:ext cx="1115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i="0" spc="15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ส่วนที่ 3 · รายละเอียดรายสาขา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00" y="420000"/>
            <a:ext cx="1115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 i="0">
                <a:solidFill>
                  <a:srgbClr val="203C81"/>
                </a:solidFill>
                <a:latin typeface="Tahoma"/>
                <a:ea typeface="Tahoma"/>
                <a:cs typeface="Tahoma"/>
              </a:rPr>
              <a:t>พัทยา — วัตถุดิบทั้งหมดที่ควรสั่งซื้อ (49 รายการ) (หน้า 1/2)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00000" y="1300000"/>
          <a:ext cx="11150000" cy="515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00000"/>
                <a:gridCol w="6200000"/>
                <a:gridCol w="2700000"/>
                <a:gridCol w="1850000"/>
              </a:tblGrid>
              <a:tr h="200000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#</a:t>
                      </a:r>
                    </a:p>
                  </a:txBody>
                  <a:tcPr marL="70000" marR="70000" marT="12000" marB="12000" anchor="ctr">
                    <a:solidFill>
                      <a:srgbClr val="203C8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วัตถุดิบ</a:t>
                      </a:r>
                    </a:p>
                  </a:txBody>
                  <a:tcPr marL="70000" marR="70000" marT="12000" marB="12000" anchor="ctr">
                    <a:solidFill>
                      <a:srgbClr val="203C8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ควรสั่ง/เดือน</a:t>
                      </a:r>
                    </a:p>
                  </a:txBody>
                  <a:tcPr marL="70000" marR="70000" marT="12000" marB="12000" anchor="ctr">
                    <a:solidFill>
                      <a:srgbClr val="203C8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มูลค่า/เดือน (฿)</a:t>
                      </a:r>
                    </a:p>
                  </a:txBody>
                  <a:tcPr marL="70000" marR="70000" marT="12000" marB="12000" anchor="ctr">
                    <a:solidFill>
                      <a:srgbClr val="203C81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เนื้อปลาทูน่า 1 ชิ้น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86 แพ็ค 1 กก. (86.00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49,880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กุ้งแกะเปลือก  5 ตัวละ 15 กรัม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15 แพ็ค 10 กก. (150.00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46,470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ไข่หอยเม่น แช่แข็ง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162 แพ็ค 100 กรัม (16.20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41,310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หอยเซลล์ต้ม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78 แพ็ค 1 กก. (78.00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40,560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5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ปลาไหลอูนางิ 70 P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354 แพ็ค 120 กรัม (42.48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33,630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6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เนื้อใบพายออสเตรเลียสไลด์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69 แพ็ค 1 กก. (69.00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32,430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7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หอยนางรมญี่ปุ่น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2,186 ตัว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28,558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8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เนื้อเสือร้องไห้สไลด์ ( 5 ชิ้นละ 10 กรัม 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7 แพ็ค 10 กก. (70.00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24,640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9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เนื้อออสเตรเลียแบบตัด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39 แพ็ค 1 กก. (39.00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21,996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10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ปลาซาบะดอง 6 ชิ้น ชิ้นละ 10 กรัม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 แพ็ค 12.5 กก. (37.50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21,309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11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หนวดปลาหมึกยักษ์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 แพ็ค 12 กก. (36.00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18,705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12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ปลาฮามาจิ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19 แพ็ค 1.85 กก. (35.15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18,354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13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ปลาเนื้อขาวหั่นเต๋า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6 แพ็ค 10 กก. (60.00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16,878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14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สาหร่ายโนริแผ่น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4,265 แผ่น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15,607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15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กุ้งอาเจนติน่า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18 แพ็ค 2 กก. (36.00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14,526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16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ปลาหมึกกระดอง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 แพ็ค 10 กก. (40.00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12,800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17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มันปูปรงรส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20 แพ็ค 1 กก. (20.00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12,740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18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ปลาซาบะ ½ ตัว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 แพ็ค 20 กก. (60.00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11,934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19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ไข่กุ้ง Ebiko Grade A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 แพ็ค 10 กก. (20.00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8,864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20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เนื้อชาโรเล่ส์หมักเสียบไม้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960 ชิ้น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8,155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21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ปลาไหลอนาโงะ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49 แพ็ค 200 กรัม (9.80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8,036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22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ไข่หวานหั่นเต๋า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 แพ็ค 10 กก. (40.00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7,276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23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ปีกไก่สำเร็จรูป 1 ชิ้น / 35 กรัม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 แพ็ค 10 กก. (20.00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6,893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24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ปลาไหลสไลด์ 9 ชิ้น ชิ้นละ 6 กรัม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 แพ็ค 7.2 กก. (7.20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6,480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25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เบสซอฟต์ครีมรสนม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23 แพ็ค 4.4 กก. (101.20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6,245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26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หอยสังข์ญี่ปุ่น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22 แพ็ค 120 กรัม (2.64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5,830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27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หอยเป๋าฮื้อ ตุ๋นปรุงรส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142 ตัว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5,617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28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วาซาบิ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 แพ็ค 10 กก. (10.00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4,789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29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ตับปลาอังกิโมะ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583 แพ็ค 15 กรัม (8.74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4,664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30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เนื้อสไลด์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14 กก.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4,605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00000" y="6600000"/>
            <a:ext cx="11150000" cy="2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Oshinei · ต้นทุนวัตถุดิบเทียบยอดขาย &amp; แผนสั่งซื้อวัตถุดิบหลัก 48 ชนิด  ·  32/92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0578" cy="6858000"/>
          </a:xfrm>
          <a:prstGeom prst="rect">
            <a:avLst/>
          </a:prstGeom>
          <a:solidFill>
            <a:srgbClr val="203C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0785" y="51759"/>
            <a:ext cx="1171755" cy="117175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00000" y="230000"/>
            <a:ext cx="1115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i="0" spc="15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ส่วนที่ 3 · รายละเอียดรายสาขา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00" y="420000"/>
            <a:ext cx="1115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 i="0">
                <a:solidFill>
                  <a:srgbClr val="203C81"/>
                </a:solidFill>
                <a:latin typeface="Tahoma"/>
                <a:ea typeface="Tahoma"/>
                <a:cs typeface="Tahoma"/>
              </a:rPr>
              <a:t>พัทยา — วัตถุดิบทั้งหมดที่ควรสั่งซื้อ (49 รายการ) (หน้า 2/2)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00000" y="1300000"/>
          <a:ext cx="11150000" cy="3335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00000"/>
                <a:gridCol w="6200000"/>
                <a:gridCol w="2700000"/>
                <a:gridCol w="1850000"/>
              </a:tblGrid>
              <a:tr h="200000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#</a:t>
                      </a:r>
                    </a:p>
                  </a:txBody>
                  <a:tcPr marL="70000" marR="70000" marT="12000" marB="12000" anchor="ctr">
                    <a:solidFill>
                      <a:srgbClr val="203C8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วัตถุดิบ</a:t>
                      </a:r>
                    </a:p>
                  </a:txBody>
                  <a:tcPr marL="70000" marR="70000" marT="12000" marB="12000" anchor="ctr">
                    <a:solidFill>
                      <a:srgbClr val="203C8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ควรสั่ง/เดือน</a:t>
                      </a:r>
                    </a:p>
                  </a:txBody>
                  <a:tcPr marL="70000" marR="70000" marT="12000" marB="12000" anchor="ctr">
                    <a:solidFill>
                      <a:srgbClr val="203C8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มูลค่า/เดือน (฿)</a:t>
                      </a:r>
                    </a:p>
                  </a:txBody>
                  <a:tcPr marL="70000" marR="70000" marT="12000" marB="12000" anchor="ctr">
                    <a:solidFill>
                      <a:srgbClr val="203C81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31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ปลาดอลลี่ ½ ตัว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5 แพ็ค 10 กก. (50.00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4,095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32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สาเกสำหรับปรุงอาหาร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 แพ็ค 18 ลิตร (36.00 ลิตร)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4,092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33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เบสซอฟต์ครีมทูโทน (รสมัตฉะ และรสนม)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13 แพ็ค 4.4 กก. (57.20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3,528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34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เกี๊ยวซ่าอูนิ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282 ชิ้น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3,380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35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กุ้งเทมปุระ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686 ชิ้น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3,313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36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เนื้อออสเตรเลียสไลด์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 แพ็ค 1 กก. (3.00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2,148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37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น้ำดองสไลต์เกาหลี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 แพ็ค 20 ลิตร (20.00 ลิตร)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2,120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38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มิริน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 แพ็ค 20 ลิตร (20.00 ลิตร)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1,648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39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เนื้อวากิวพับนอก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 แพ็ค 1 กก. (3.00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1,601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40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ปลาเงินทอดกรอบ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 แพ็ค 250 กรัม (1.00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1,264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41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ข้าวญี่ปุ่นปรุงรส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 แพ็ค 25 กก. (25.00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1,080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42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สาหร่ายวากาแมะ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 กก.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799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43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แป้งเทมปุระผง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 แพ็ค 10 กก. (10.00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770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44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เนื้อชาโรเล่ส์หมักเสียบไม้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88 ไม้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727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45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สาหร่ายโนริหั่นฝอย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 กก.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644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46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กุ้งลายเสือ (อิงราคากุ้งอาร์เจนติน่า/ตัว)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37 ตัว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602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47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กุ้งยืด Ebi Tempura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48 ตัว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228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48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ไข่ปลาแซลมอน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 กก.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146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49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สาหร่ายโนริหั่นฝอย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 ชิ้น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00000" y="6600000"/>
            <a:ext cx="11150000" cy="2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Oshinei · ต้นทุนวัตถุดิบเทียบยอดขาย &amp; แผนสั่งซื้อวัตถุดิบหลัก 48 ชนิด  ·  33/92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0578" cy="6858000"/>
          </a:xfrm>
          <a:prstGeom prst="rect">
            <a:avLst/>
          </a:prstGeom>
          <a:solidFill>
            <a:srgbClr val="203C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0785" y="51759"/>
            <a:ext cx="1171755" cy="117175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00000" y="230000"/>
            <a:ext cx="1115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i="0" spc="15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ส่วนที่ 3 · รายละเอียดรายสาขา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00" y="420000"/>
            <a:ext cx="1115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203C81"/>
                </a:solidFill>
                <a:latin typeface="Tahoma"/>
                <a:ea typeface="Tahoma"/>
                <a:cs typeface="Tahoma"/>
              </a:rPr>
              <a:t>พิษณุโลก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0000" y="950000"/>
            <a:ext cx="1115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อันดับต้นทุนอาหาร #23/28 (1=สูงสุด)  ·  อันดับมูลค่าสั่งซื้อ #13/28 (1=สูงสุด)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0000" y="1350000"/>
            <a:ext cx="2682500" cy="100000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0000" rIns="120000" tIns="110000" bIns="80000"/>
          <a:lstStyle/>
          <a:p>
            <a:pPr algn="ctr"/>
            <a:r>
              <a:rPr sz="1100" b="0" i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ยอดขาย (ไม่รวม VAT)</a:t>
            </a:r>
          </a:p>
          <a:p>
            <a:pPr>
              <a:spcBef>
                <a:spcPts val="400"/>
              </a:spcBef>
            </a:pPr>
            <a:r>
              <a:rPr sz="2000" b="1" i="0">
                <a:solidFill>
                  <a:srgbClr val="1F2937"/>
                </a:solidFill>
                <a:latin typeface="Tahoma"/>
                <a:ea typeface="Tahoma"/>
                <a:cs typeface="Tahoma"/>
              </a:rPr>
              <a:t>฿3,057,055</a:t>
            </a:r>
          </a:p>
          <a:p>
            <a:pPr>
              <a:spcBef>
                <a:spcPts val="400"/>
              </a:spcBef>
            </a:pPr>
            <a:r>
              <a:rPr sz="1050" b="0" i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/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2500" y="1350000"/>
            <a:ext cx="2682500" cy="100000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0000" rIns="120000" tIns="110000" bIns="80000"/>
          <a:lstStyle/>
          <a:p>
            <a:pPr algn="ctr"/>
            <a:r>
              <a:rPr sz="1100" b="0" i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ต้นทุนวัตถุดิบตามสูตร</a:t>
            </a:r>
          </a:p>
          <a:p>
            <a:pPr>
              <a:spcBef>
                <a:spcPts val="400"/>
              </a:spcBef>
            </a:pPr>
            <a:r>
              <a:rPr sz="2000" b="1" i="0">
                <a:solidFill>
                  <a:srgbClr val="1F2937"/>
                </a:solidFill>
                <a:latin typeface="Tahoma"/>
                <a:ea typeface="Tahoma"/>
                <a:cs typeface="Tahoma"/>
              </a:rPr>
              <a:t>฿1,645,463</a:t>
            </a:r>
          </a:p>
          <a:p>
            <a:pPr>
              <a:spcBef>
                <a:spcPts val="400"/>
              </a:spcBef>
            </a:pPr>
            <a:r>
              <a:rPr sz="1050" b="0" i="0">
                <a:solidFill>
                  <a:srgbClr val="047757"/>
                </a:solidFill>
                <a:latin typeface="Tahoma"/>
                <a:ea typeface="Tahoma"/>
                <a:cs typeface="Tahoma"/>
              </a:rPr>
              <a:t>53.8% ของยอดขาย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5000" y="1350000"/>
            <a:ext cx="2682500" cy="100000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0000" rIns="120000" tIns="110000" bIns="80000"/>
          <a:lstStyle/>
          <a:p>
            <a:pPr algn="ctr"/>
            <a:r>
              <a:rPr sz="1100" b="0" i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เปลี่ยนจากเดือนก่อน</a:t>
            </a:r>
          </a:p>
          <a:p>
            <a:pPr>
              <a:spcBef>
                <a:spcPts val="400"/>
              </a:spcBef>
            </a:pPr>
            <a:r>
              <a:rPr sz="2000" b="1" i="0">
                <a:solidFill>
                  <a:srgbClr val="1F2937"/>
                </a:solidFill>
                <a:latin typeface="Tahoma"/>
                <a:ea typeface="Tahoma"/>
                <a:cs typeface="Tahoma"/>
              </a:rPr>
              <a:t>+0.5 จุด</a:t>
            </a:r>
          </a:p>
          <a:p>
            <a:pPr>
              <a:spcBef>
                <a:spcPts val="400"/>
              </a:spcBef>
            </a:pPr>
            <a:r>
              <a:rPr sz="1050" b="0" i="0">
                <a:solidFill>
                  <a:srgbClr val="B91C1C"/>
                </a:solidFill>
                <a:latin typeface="Tahoma"/>
                <a:ea typeface="Tahoma"/>
                <a:cs typeface="Tahoma"/>
              </a:rPr>
              <a:t>53.4% เดือนก่อน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67500" y="1350000"/>
            <a:ext cx="2682500" cy="100000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0000" rIns="120000" tIns="110000" bIns="80000"/>
          <a:lstStyle/>
          <a:p>
            <a:pPr algn="ctr"/>
            <a:r>
              <a:rPr sz="1100" b="0" i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ควรสั่งซื้อ 48 รายการหลัก/เดือน</a:t>
            </a:r>
          </a:p>
          <a:p>
            <a:pPr>
              <a:spcBef>
                <a:spcPts val="400"/>
              </a:spcBef>
            </a:pPr>
            <a:r>
              <a:rPr sz="2000" b="1" i="0">
                <a:solidFill>
                  <a:srgbClr val="1F2937"/>
                </a:solidFill>
                <a:latin typeface="Tahoma"/>
                <a:ea typeface="Tahoma"/>
                <a:cs typeface="Tahoma"/>
              </a:rPr>
              <a:t>฿608,622</a:t>
            </a:r>
          </a:p>
          <a:p>
            <a:pPr>
              <a:spcBef>
                <a:spcPts val="400"/>
              </a:spcBef>
            </a:pPr>
            <a:r>
              <a:rPr sz="1050" b="0" i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52 รายการ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0000" y="2500000"/>
            <a:ext cx="5500000" cy="2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B91C1C"/>
                </a:solidFill>
                <a:latin typeface="Tahoma"/>
                <a:ea typeface="Tahoma"/>
                <a:cs typeface="Tahoma"/>
              </a:rPr>
              <a:t>เมนูต้นทุนเพิ่มขึ้นมากสุด (MoM)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00000" y="2780000"/>
          <a:ext cx="5300000" cy="120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00000"/>
                <a:gridCol w="1700000"/>
                <a:gridCol w="1500000"/>
              </a:tblGrid>
              <a:tr h="300000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เมนู</a:t>
                      </a:r>
                    </a:p>
                  </a:txBody>
                  <a:tcPr marL="70000" marR="70000" marT="35000" marB="35000" anchor="ctr">
                    <a:solidFill>
                      <a:srgbClr val="203C8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ต้นทุนเดือนนี้</a:t>
                      </a:r>
                    </a:p>
                  </a:txBody>
                  <a:tcPr marL="70000" marR="70000" marT="35000" marB="35000" anchor="ctr">
                    <a:solidFill>
                      <a:srgbClr val="203C8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เปลี่ยน</a:t>
                      </a:r>
                    </a:p>
                  </a:txBody>
                  <a:tcPr marL="70000" marR="70000" marT="35000" marB="35000" anchor="ctr">
                    <a:solidFill>
                      <a:srgbClr val="203C81"/>
                    </a:solidFill>
                  </a:tcPr>
                </a:tc>
              </a:tr>
              <a:tr h="30000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(B) ปลาแซลมอนย่างซีอิ้ว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฿32,987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+฿3,179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(B) สเต็กปลาแซลมอน</a:t>
                      </a:r>
                    </a:p>
                  </a:txBody>
                  <a:tcPr marL="70000" marR="70000" marT="35000" marB="35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฿26,072</a:t>
                      </a:r>
                    </a:p>
                  </a:txBody>
                  <a:tcPr marL="70000" marR="70000" marT="35000" marB="35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+฿2,678</a:t>
                      </a:r>
                    </a:p>
                  </a:txBody>
                  <a:tcPr marL="70000" marR="70000" marT="35000" marB="35000" anchor="ctr">
                    <a:solidFill>
                      <a:srgbClr val="F8FAFC"/>
                    </a:solidFill>
                  </a:tcPr>
                </a:tc>
              </a:tr>
              <a:tr h="30000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(B) หัวปลาแซลมอนย่างเกลือ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฿5,125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+฿2,278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6200000" y="2500000"/>
            <a:ext cx="5500000" cy="2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047757"/>
                </a:solidFill>
                <a:latin typeface="Tahoma"/>
                <a:ea typeface="Tahoma"/>
                <a:cs typeface="Tahoma"/>
              </a:rPr>
              <a:t>เมนูต้นทุนลดลงมากสุด (MoM)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6200000" y="2780000"/>
          <a:ext cx="5300000" cy="120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00000"/>
                <a:gridCol w="1700000"/>
                <a:gridCol w="1500000"/>
              </a:tblGrid>
              <a:tr h="300000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เมนู</a:t>
                      </a:r>
                    </a:p>
                  </a:txBody>
                  <a:tcPr marL="70000" marR="70000" marT="35000" marB="35000" anchor="ctr">
                    <a:solidFill>
                      <a:srgbClr val="203C8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ต้นทุนเดือนนี้</a:t>
                      </a:r>
                    </a:p>
                  </a:txBody>
                  <a:tcPr marL="70000" marR="70000" marT="35000" marB="35000" anchor="ctr">
                    <a:solidFill>
                      <a:srgbClr val="203C8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เปลี่ยน</a:t>
                      </a:r>
                    </a:p>
                  </a:txBody>
                  <a:tcPr marL="70000" marR="70000" marT="35000" marB="35000" anchor="ctr">
                    <a:solidFill>
                      <a:srgbClr val="203C81"/>
                    </a:solidFill>
                  </a:tcPr>
                </a:tc>
              </a:tr>
              <a:tr h="30000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(B) ชุดปลาดิบรวม 4 อย่าง …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฿66,924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฿-13,251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(B) แมงกะพรุนหัวกระสุน ดอ…</a:t>
                      </a:r>
                    </a:p>
                  </a:txBody>
                  <a:tcPr marL="70000" marR="70000" marT="35000" marB="35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฿0</a:t>
                      </a:r>
                    </a:p>
                  </a:txBody>
                  <a:tcPr marL="70000" marR="70000" marT="35000" marB="35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฿-12,896</a:t>
                      </a:r>
                    </a:p>
                  </a:txBody>
                  <a:tcPr marL="70000" marR="70000" marT="35000" marB="35000" anchor="ctr">
                    <a:solidFill>
                      <a:srgbClr val="F8FAFC"/>
                    </a:solidFill>
                  </a:tcPr>
                </a:tc>
              </a:tr>
              <a:tr h="30000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(B) แมงกะพรุนหัวกระสุนน้ำ…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฿0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฿-12,147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600000" y="4100000"/>
            <a:ext cx="9000000" cy="2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203C81"/>
                </a:solidFill>
                <a:latin typeface="Tahoma"/>
                <a:ea typeface="Tahoma"/>
                <a:cs typeface="Tahoma"/>
              </a:rPr>
              <a:t>วัตถุดิบทั้งหมดที่ควรสั่งซื้อ (52 รายการ) — ดูสไลด์ถัดไป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0000" y="6600000"/>
            <a:ext cx="11150000" cy="2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Oshinei · ต้นทุนวัตถุดิบเทียบยอดขาย &amp; แผนสั่งซื้อวัตถุดิบหลัก 48 ชนิด  ·  34/92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0578" cy="6858000"/>
          </a:xfrm>
          <a:prstGeom prst="rect">
            <a:avLst/>
          </a:prstGeom>
          <a:solidFill>
            <a:srgbClr val="203C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0785" y="51759"/>
            <a:ext cx="1171755" cy="117175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00000" y="230000"/>
            <a:ext cx="1115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i="0" spc="15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ส่วนที่ 3 · รายละเอียดรายสาขา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00" y="420000"/>
            <a:ext cx="1115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 i="0">
                <a:solidFill>
                  <a:srgbClr val="203C81"/>
                </a:solidFill>
                <a:latin typeface="Tahoma"/>
                <a:ea typeface="Tahoma"/>
                <a:cs typeface="Tahoma"/>
              </a:rPr>
              <a:t>พิษณุโลก — วัตถุดิบทั้งหมดที่ควรสั่งซื้อ (52 รายการ) (หน้า 1/2)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00000" y="1300000"/>
          <a:ext cx="11150000" cy="515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00000"/>
                <a:gridCol w="6200000"/>
                <a:gridCol w="2700000"/>
                <a:gridCol w="1850000"/>
              </a:tblGrid>
              <a:tr h="200000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#</a:t>
                      </a:r>
                    </a:p>
                  </a:txBody>
                  <a:tcPr marL="70000" marR="70000" marT="12000" marB="12000" anchor="ctr">
                    <a:solidFill>
                      <a:srgbClr val="203C8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วัตถุดิบ</a:t>
                      </a:r>
                    </a:p>
                  </a:txBody>
                  <a:tcPr marL="70000" marR="70000" marT="12000" marB="12000" anchor="ctr">
                    <a:solidFill>
                      <a:srgbClr val="203C8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ควรสั่ง/เดือน</a:t>
                      </a:r>
                    </a:p>
                  </a:txBody>
                  <a:tcPr marL="70000" marR="70000" marT="12000" marB="12000" anchor="ctr">
                    <a:solidFill>
                      <a:srgbClr val="203C8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มูลค่า/เดือน (฿)</a:t>
                      </a:r>
                    </a:p>
                  </a:txBody>
                  <a:tcPr marL="70000" marR="70000" marT="12000" marB="12000" anchor="ctr">
                    <a:solidFill>
                      <a:srgbClr val="203C81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เนื้อปลาทูน่า 1 ชิ้น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120 แพ็ค 1 กก. (120.00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69,600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กุ้งแกะเปลือก  5 ตัวละ 15 กรัม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19 แพ็ค 10 กก. (190.00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58,862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หอยเซลล์ต้ม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69 แพ็ค 1 กก. (69.00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35,880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ปลาไหลอูนางิ 70 P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346 แพ็ค 120 กรัม (41.52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32,870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5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ไข่หอยเม่น แช่แข็ง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115 แพ็ค 100 กรัม (11.50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29,325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6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ปลาซาบะดอง 6 ชิ้น ชิ้นละ 10 กรัม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 แพ็ค 12.5 กก. (50.00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28,412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7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เนื้อใบพายออสเตรเลียสไลด์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59 แพ็ค 1 กก. (59.00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27,730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8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หนวดปลาหมึกยักษ์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 แพ็ค 12 กก. (48.00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24,940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9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เนื้อเสือร้องไห้สไลด์ ( 5 ชิ้นละ 10 กรัม 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7 แพ็ค 10 กก. (70.00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24,640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10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ปลาเนื้อขาวหั่นเต๋า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8 แพ็ค 10 กก. (80.00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22,504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11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สาหร่ายโนริแผ่น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5,383 แผ่น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19,715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12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ปลาหมึกกระดอง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5 แพ็ค 10 กก. (50.00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16,000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13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หอยนางรมญี่ปุ่น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1,210 ตัว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15,804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14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ปลาไหลอนาโงะสไลด์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88 แพ็ค 200 กรัม (17.60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14,432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15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ปลาฮามาจิ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14 แพ็ค 1.85 กก. (25.90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13,524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16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ไข่กุ้ง Ebiko Grade A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 แพ็ค 10 กก. (30.00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13,296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17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ปลาไหลสไลด์ 9 ชิ้น ชิ้นละ 6 กรัม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 แพ็ค 7.2 กก. (14.40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12,960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18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เนื้อชาโรเล่ส์หมักเสียบไม้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1,517 ชิ้น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12,893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19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ปลาซาบะ1 ชิ้น ½ ตัว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 แพ็ค 20 กก. (60.00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11,934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20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ไข่หวานหั่นเต๋า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6 แพ็ค 10 กก. (60.00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10,914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21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เนื้อออสเตรเลียแบบตัด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19 แพ็ค 1 กก. (19.00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10,716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22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มันปูปรงรส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16 แพ็ค 1 กก. (16.00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10,192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23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กุ้งลายเสือ (อิงราคากุ้งอาร์เจนติน่า/ตัว)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538 ตัว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8,862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24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ตับปลาอังกิโมะ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989 แพ็ค 15 กรัม (14.84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7,912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25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กุ้งอาเจนติน่า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9 แพ็ค 2 กก. (18.00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7,263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26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ปีกไก่สำเร็จรูป 1 ชิ้น / 35 กรัม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 แพ็ค 10 กก. (20.00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6,893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27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เบสซอฟต์ครีมรสนม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23 แพ็ค 4.4 กก. (101.20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6,245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28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เนื้อสไลด์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17 กก.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5,594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29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ปลาดอลลี่แช่แข็ง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6 แพ็ค 10 กก. (60.00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4,914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30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วาซาบิ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 แพ็ค 10 กก. (10.00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4,789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00000" y="6600000"/>
            <a:ext cx="11150000" cy="2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Oshinei · ต้นทุนวัตถุดิบเทียบยอดขาย &amp; แผนสั่งซื้อวัตถุดิบหลัก 48 ชนิด  ·  35/92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0578" cy="6858000"/>
          </a:xfrm>
          <a:prstGeom prst="rect">
            <a:avLst/>
          </a:prstGeom>
          <a:solidFill>
            <a:srgbClr val="203C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0785" y="51759"/>
            <a:ext cx="1171755" cy="117175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00000" y="230000"/>
            <a:ext cx="1115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i="0" spc="15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ส่วนที่ 3 · รายละเอียดรายสาขา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00" y="420000"/>
            <a:ext cx="1115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 i="0">
                <a:solidFill>
                  <a:srgbClr val="203C81"/>
                </a:solidFill>
                <a:latin typeface="Tahoma"/>
                <a:ea typeface="Tahoma"/>
                <a:cs typeface="Tahoma"/>
              </a:rPr>
              <a:t>พิษณุโลก — วัตถุดิบทั้งหมดที่ควรสั่งซื้อ (52 รายการ) (หน้า 2/2)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00000" y="1300000"/>
          <a:ext cx="11150000" cy="383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00000"/>
                <a:gridCol w="6200000"/>
                <a:gridCol w="2700000"/>
                <a:gridCol w="1850000"/>
              </a:tblGrid>
              <a:tr h="200000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#</a:t>
                      </a:r>
                    </a:p>
                  </a:txBody>
                  <a:tcPr marL="70000" marR="70000" marT="12000" marB="12000" anchor="ctr">
                    <a:solidFill>
                      <a:srgbClr val="203C8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วัตถุดิบ</a:t>
                      </a:r>
                    </a:p>
                  </a:txBody>
                  <a:tcPr marL="70000" marR="70000" marT="12000" marB="12000" anchor="ctr">
                    <a:solidFill>
                      <a:srgbClr val="203C8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ควรสั่ง/เดือน</a:t>
                      </a:r>
                    </a:p>
                  </a:txBody>
                  <a:tcPr marL="70000" marR="70000" marT="12000" marB="12000" anchor="ctr">
                    <a:solidFill>
                      <a:srgbClr val="203C8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มูลค่า/เดือน (฿)</a:t>
                      </a:r>
                    </a:p>
                  </a:txBody>
                  <a:tcPr marL="70000" marR="70000" marT="12000" marB="12000" anchor="ctr">
                    <a:solidFill>
                      <a:srgbClr val="203C81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31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กุ้งเทมปุระ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902 ชิ้น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4,355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32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สาเกสำหรับปรุงอาหาร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 แพ็ค 18 ลิตร (36.00 ลิตร)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4,092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33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หอยสังข์ญี่ปุ่น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15 แพ็ค 120 กรัม (1.80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3,975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34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เกี๊ยวซ่าอูนิ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295 ชิ้น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3,531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35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หอยเป๋าฮื้อ ตุ๋นปรุงรส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88 ตัว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3,464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36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เบสซอฟต์ครีมทูโทน (รสมัตฉะ และรสนม)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11 แพ็ค 4.4 กก. (48.40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2,986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37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ปลาเงินทอดกรอบ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9 แพ็ค 250 กรัม (2.25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2,844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38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เนื้อชาโรเล่ส์หมักเสียบไม้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295 ไม้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2,453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39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เนื้อออสเตรเลียสไลด์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 แพ็ค 1 กก. (3.00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2,148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40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น้ำดองสไลต์เกาหลี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 แพ็ค 20 ลิตร (20.00 ลิตร)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2,120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41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มิริน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 แพ็ค 20 ลิตร (20.00 ลิตร)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1,648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42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ข้าวญี่ปุ่นปรุงรส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 แพ็ค 25 กก. (25.00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1,080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43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เนื้อวากิวพับนอก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 แพ็ค 1 กก. (2.00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1,067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44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สาหร่ายโนรี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 กก.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1,027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45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แป้งเทมปุระผง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 แพ็ค 10 กก. (10.00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770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46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สาหร่ายวากาแมะ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 กก.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632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47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กุ้งยืด Ebi Tempura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68 ตัว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324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48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ไข่ปลาแซลมอน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 กก.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206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49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ปลาฮามาจิ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 กก.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191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50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หอยนางรมญี่ปุ่น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5 ชิ้น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62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51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หอยแครงยักษ์สไลด์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 ชิ้น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26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52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สาหร่ายโนริหั่นฝอย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 ชิ้น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5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00000" y="6600000"/>
            <a:ext cx="11150000" cy="2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Oshinei · ต้นทุนวัตถุดิบเทียบยอดขาย &amp; แผนสั่งซื้อวัตถุดิบหลัก 48 ชนิด  ·  36/92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0578" cy="6858000"/>
          </a:xfrm>
          <a:prstGeom prst="rect">
            <a:avLst/>
          </a:prstGeom>
          <a:solidFill>
            <a:srgbClr val="203C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0785" y="51759"/>
            <a:ext cx="1171755" cy="117175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00000" y="230000"/>
            <a:ext cx="1115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i="0" spc="15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ส่วนที่ 3 · รายละเอียดรายสาขา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00" y="420000"/>
            <a:ext cx="1115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203C81"/>
                </a:solidFill>
                <a:latin typeface="Tahoma"/>
                <a:ea typeface="Tahoma"/>
                <a:cs typeface="Tahoma"/>
              </a:rPr>
              <a:t>มหาสารคาม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0000" y="950000"/>
            <a:ext cx="1115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อันดับต้นทุนอาหาร #1/28 (1=สูงสุด)  ·  อันดับมูลค่าสั่งซื้อ #18/28 (1=สูงสุด)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0000" y="1350000"/>
            <a:ext cx="2682500" cy="100000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0000" rIns="120000" tIns="110000" bIns="80000"/>
          <a:lstStyle/>
          <a:p>
            <a:pPr algn="ctr"/>
            <a:r>
              <a:rPr sz="1100" b="0" i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ยอดขาย (ไม่รวม VAT)</a:t>
            </a:r>
          </a:p>
          <a:p>
            <a:pPr>
              <a:spcBef>
                <a:spcPts val="400"/>
              </a:spcBef>
            </a:pPr>
            <a:r>
              <a:rPr sz="2000" b="1" i="0">
                <a:solidFill>
                  <a:srgbClr val="1F2937"/>
                </a:solidFill>
                <a:latin typeface="Tahoma"/>
                <a:ea typeface="Tahoma"/>
                <a:cs typeface="Tahoma"/>
              </a:rPr>
              <a:t>฿2,786,653</a:t>
            </a:r>
          </a:p>
          <a:p>
            <a:pPr>
              <a:spcBef>
                <a:spcPts val="400"/>
              </a:spcBef>
            </a:pPr>
            <a:r>
              <a:rPr sz="1050" b="0" i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/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2500" y="1350000"/>
            <a:ext cx="2682500" cy="100000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0000" rIns="120000" tIns="110000" bIns="80000"/>
          <a:lstStyle/>
          <a:p>
            <a:pPr algn="ctr"/>
            <a:r>
              <a:rPr sz="1100" b="0" i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ต้นทุนวัตถุดิบตามสูตร</a:t>
            </a:r>
          </a:p>
          <a:p>
            <a:pPr>
              <a:spcBef>
                <a:spcPts val="400"/>
              </a:spcBef>
            </a:pPr>
            <a:r>
              <a:rPr sz="2000" b="1" i="0">
                <a:solidFill>
                  <a:srgbClr val="1F2937"/>
                </a:solidFill>
                <a:latin typeface="Tahoma"/>
                <a:ea typeface="Tahoma"/>
                <a:cs typeface="Tahoma"/>
              </a:rPr>
              <a:t>฿2,105,810</a:t>
            </a:r>
          </a:p>
          <a:p>
            <a:pPr>
              <a:spcBef>
                <a:spcPts val="400"/>
              </a:spcBef>
            </a:pPr>
            <a:r>
              <a:rPr sz="1050" b="0" i="0">
                <a:solidFill>
                  <a:srgbClr val="B91C1C"/>
                </a:solidFill>
                <a:latin typeface="Tahoma"/>
                <a:ea typeface="Tahoma"/>
                <a:cs typeface="Tahoma"/>
              </a:rPr>
              <a:t>75.6% ของยอดขาย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5000" y="1350000"/>
            <a:ext cx="2682500" cy="100000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0000" rIns="120000" tIns="110000" bIns="80000"/>
          <a:lstStyle/>
          <a:p>
            <a:pPr algn="ctr"/>
            <a:r>
              <a:rPr sz="1100" b="0" i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เปลี่ยนจากเดือนก่อน</a:t>
            </a:r>
          </a:p>
          <a:p>
            <a:pPr>
              <a:spcBef>
                <a:spcPts val="400"/>
              </a:spcBef>
            </a:pPr>
            <a:r>
              <a:rPr sz="2000" b="1" i="0">
                <a:solidFill>
                  <a:srgbClr val="1F2937"/>
                </a:solidFill>
                <a:latin typeface="Tahoma"/>
                <a:ea typeface="Tahoma"/>
                <a:cs typeface="Tahoma"/>
              </a:rPr>
              <a:t>+4.4 จุด</a:t>
            </a:r>
          </a:p>
          <a:p>
            <a:pPr>
              <a:spcBef>
                <a:spcPts val="400"/>
              </a:spcBef>
            </a:pPr>
            <a:r>
              <a:rPr sz="1050" b="0" i="0">
                <a:solidFill>
                  <a:srgbClr val="B91C1C"/>
                </a:solidFill>
                <a:latin typeface="Tahoma"/>
                <a:ea typeface="Tahoma"/>
                <a:cs typeface="Tahoma"/>
              </a:rPr>
              <a:t>71.1% เดือนก่อน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67500" y="1350000"/>
            <a:ext cx="2682500" cy="100000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0000" rIns="120000" tIns="110000" bIns="80000"/>
          <a:lstStyle/>
          <a:p>
            <a:pPr algn="ctr"/>
            <a:r>
              <a:rPr sz="1100" b="0" i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ควรสั่งซื้อ 48 รายการหลัก/เดือน</a:t>
            </a:r>
          </a:p>
          <a:p>
            <a:pPr>
              <a:spcBef>
                <a:spcPts val="400"/>
              </a:spcBef>
            </a:pPr>
            <a:r>
              <a:rPr sz="2000" b="1" i="0">
                <a:solidFill>
                  <a:srgbClr val="1F2937"/>
                </a:solidFill>
                <a:latin typeface="Tahoma"/>
                <a:ea typeface="Tahoma"/>
                <a:cs typeface="Tahoma"/>
              </a:rPr>
              <a:t>฿527,620</a:t>
            </a:r>
          </a:p>
          <a:p>
            <a:pPr>
              <a:spcBef>
                <a:spcPts val="400"/>
              </a:spcBef>
            </a:pPr>
            <a:r>
              <a:rPr sz="1050" b="0" i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52 รายการ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0000" y="2500000"/>
            <a:ext cx="5500000" cy="2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B91C1C"/>
                </a:solidFill>
                <a:latin typeface="Tahoma"/>
                <a:ea typeface="Tahoma"/>
                <a:cs typeface="Tahoma"/>
              </a:rPr>
              <a:t>เมนูต้นทุนเพิ่มขึ้นมากสุด (MoM)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00000" y="2780000"/>
          <a:ext cx="5300000" cy="120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00000"/>
                <a:gridCol w="1700000"/>
                <a:gridCol w="1500000"/>
              </a:tblGrid>
              <a:tr h="300000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เมนู</a:t>
                      </a:r>
                    </a:p>
                  </a:txBody>
                  <a:tcPr marL="70000" marR="70000" marT="35000" marB="35000" anchor="ctr">
                    <a:solidFill>
                      <a:srgbClr val="203C8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ต้นทุนเดือนนี้</a:t>
                      </a:r>
                    </a:p>
                  </a:txBody>
                  <a:tcPr marL="70000" marR="70000" marT="35000" marB="35000" anchor="ctr">
                    <a:solidFill>
                      <a:srgbClr val="203C8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เปลี่ยน</a:t>
                      </a:r>
                    </a:p>
                  </a:txBody>
                  <a:tcPr marL="70000" marR="70000" marT="35000" marB="35000" anchor="ctr">
                    <a:solidFill>
                      <a:srgbClr val="203C81"/>
                    </a:solidFill>
                  </a:tcPr>
                </a:tc>
              </a:tr>
              <a:tr h="30000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(B) ทุเรียน (1 เม็ด)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฿276,284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+฿96,696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(B) แซลมอน ซาชิมิ (1 ชิ้น)</a:t>
                      </a:r>
                    </a:p>
                  </a:txBody>
                  <a:tcPr marL="70000" marR="70000" marT="35000" marB="35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฿366,305</a:t>
                      </a:r>
                    </a:p>
                  </a:txBody>
                  <a:tcPr marL="70000" marR="70000" marT="35000" marB="35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+฿28,452</a:t>
                      </a:r>
                    </a:p>
                  </a:txBody>
                  <a:tcPr marL="70000" marR="70000" marT="35000" marB="35000" anchor="ctr">
                    <a:solidFill>
                      <a:srgbClr val="F8FAFC"/>
                    </a:solidFill>
                  </a:tcPr>
                </a:tc>
              </a:tr>
              <a:tr h="30000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(B) แซลมอนดอง (3 ชิ้น)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฿141,192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+฿12,904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6200000" y="2500000"/>
            <a:ext cx="5500000" cy="2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047757"/>
                </a:solidFill>
                <a:latin typeface="Tahoma"/>
                <a:ea typeface="Tahoma"/>
                <a:cs typeface="Tahoma"/>
              </a:rPr>
              <a:t>เมนูต้นทุนลดลงมากสุด (MoM)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6200000" y="2780000"/>
          <a:ext cx="5300000" cy="120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00000"/>
                <a:gridCol w="1700000"/>
                <a:gridCol w="1500000"/>
              </a:tblGrid>
              <a:tr h="300000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เมนู</a:t>
                      </a:r>
                    </a:p>
                  </a:txBody>
                  <a:tcPr marL="70000" marR="70000" marT="35000" marB="35000" anchor="ctr">
                    <a:solidFill>
                      <a:srgbClr val="203C8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ต้นทุนเดือนนี้</a:t>
                      </a:r>
                    </a:p>
                  </a:txBody>
                  <a:tcPr marL="70000" marR="70000" marT="35000" marB="35000" anchor="ctr">
                    <a:solidFill>
                      <a:srgbClr val="203C8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เปลี่ยน</a:t>
                      </a:r>
                    </a:p>
                  </a:txBody>
                  <a:tcPr marL="70000" marR="70000" marT="35000" marB="35000" anchor="ctr">
                    <a:solidFill>
                      <a:srgbClr val="203C81"/>
                    </a:solidFill>
                  </a:tcPr>
                </a:tc>
              </a:tr>
              <a:tr h="30000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(B)ข้าวปั้นหน้าปลาไหลญี่ป…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฿1,072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฿-3,536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(B) ปลาไหลย่างซีอิ๊ว (1ตั…</a:t>
                      </a:r>
                    </a:p>
                  </a:txBody>
                  <a:tcPr marL="70000" marR="70000" marT="35000" marB="35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฿16,709</a:t>
                      </a:r>
                    </a:p>
                  </a:txBody>
                  <a:tcPr marL="70000" marR="70000" marT="35000" marB="35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฿-3,166</a:t>
                      </a:r>
                    </a:p>
                  </a:txBody>
                  <a:tcPr marL="70000" marR="70000" marT="35000" marB="35000" anchor="ctr">
                    <a:solidFill>
                      <a:srgbClr val="F8FAFC"/>
                    </a:solidFill>
                  </a:tcPr>
                </a:tc>
              </a:tr>
              <a:tr h="30000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(B) ขนมครกญี่ปุ่น (1 ชิ้น)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฿18,457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฿-2,608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600000" y="4100000"/>
            <a:ext cx="9000000" cy="2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203C81"/>
                </a:solidFill>
                <a:latin typeface="Tahoma"/>
                <a:ea typeface="Tahoma"/>
                <a:cs typeface="Tahoma"/>
              </a:rPr>
              <a:t>วัตถุดิบทั้งหมดที่ควรสั่งซื้อ (52 รายการ) — ดูสไลด์ถัดไป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0000" y="6600000"/>
            <a:ext cx="11150000" cy="2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Oshinei · ต้นทุนวัตถุดิบเทียบยอดขาย &amp; แผนสั่งซื้อวัตถุดิบหลัก 48 ชนิด  ·  37/92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0578" cy="6858000"/>
          </a:xfrm>
          <a:prstGeom prst="rect">
            <a:avLst/>
          </a:prstGeom>
          <a:solidFill>
            <a:srgbClr val="203C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0785" y="51759"/>
            <a:ext cx="1171755" cy="117175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00000" y="230000"/>
            <a:ext cx="1115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i="0" spc="15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ส่วนที่ 3 · รายละเอียดรายสาขา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00" y="420000"/>
            <a:ext cx="1115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 i="0">
                <a:solidFill>
                  <a:srgbClr val="203C81"/>
                </a:solidFill>
                <a:latin typeface="Tahoma"/>
                <a:ea typeface="Tahoma"/>
                <a:cs typeface="Tahoma"/>
              </a:rPr>
              <a:t>มหาสารคาม — วัตถุดิบทั้งหมดที่ควรสั่งซื้อ (52 รายการ) (หน้า 1/2)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00000" y="1300000"/>
          <a:ext cx="11150000" cy="515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00000"/>
                <a:gridCol w="6200000"/>
                <a:gridCol w="2700000"/>
                <a:gridCol w="1850000"/>
              </a:tblGrid>
              <a:tr h="200000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#</a:t>
                      </a:r>
                    </a:p>
                  </a:txBody>
                  <a:tcPr marL="70000" marR="70000" marT="12000" marB="12000" anchor="ctr">
                    <a:solidFill>
                      <a:srgbClr val="203C8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วัตถุดิบ</a:t>
                      </a:r>
                    </a:p>
                  </a:txBody>
                  <a:tcPr marL="70000" marR="70000" marT="12000" marB="12000" anchor="ctr">
                    <a:solidFill>
                      <a:srgbClr val="203C8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ควรสั่ง/เดือน</a:t>
                      </a:r>
                    </a:p>
                  </a:txBody>
                  <a:tcPr marL="70000" marR="70000" marT="12000" marB="12000" anchor="ctr">
                    <a:solidFill>
                      <a:srgbClr val="203C8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มูลค่า/เดือน (฿)</a:t>
                      </a:r>
                    </a:p>
                  </a:txBody>
                  <a:tcPr marL="70000" marR="70000" marT="12000" marB="12000" anchor="ctr">
                    <a:solidFill>
                      <a:srgbClr val="203C81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กุ้งแกะเปลือก  5 ตัวละ 15 กรัม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28 แพ็ค 10 กก. (280.00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86,744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เนื้อปลาทูน่า 1 ชิ้น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71 แพ็ค 1 กก. (71.00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41,180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เนื้อเสือร้องไห้สไลด์ ( 5 ชิ้นละ 10 กรัม 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8 แพ็ค 10 กก. (80.00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28,160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หอยเซลล์ต้ม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50 แพ็ค 1 กก. (50.00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26,000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5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หนวดปลาหมึกยักษ์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 แพ็ค 12 กก. (48.00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24,940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6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เนื้อใบพายออสเตรเลียสไลด์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51 แพ็ค 1 กก. (51.00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23,970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7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ปลาหมึกกระดอง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7 แพ็ค 10 กก. (70.00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22,400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8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ปลาซาบะดอง 6 ชิ้น ชิ้นละ 10 กรัม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 แพ็ค 12.5 กก. (37.50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21,309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9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ส่าหร่ายแผ่น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5,380 แผ่น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19,730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10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ปลาไหลอูนางิ 70 P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179 แพ็ค 120 กรัม (21.48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17,005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11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หอยนางรมญี่ปุ่น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1,296 ตัว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16,928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12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ปลาเนื้อขาวหั่นเต๋า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6 แพ็ค 10 กก. (60.00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16,878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13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ไข่หอยเม่น แช่แข็ง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60 แพ็ค 100 กรัม (6.00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15,300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14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ไข่กุ้ง Ebiko Grade A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 แพ็ค 10 กก. (30.00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13,296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15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เนื้อชาโรเล่ส์หมักเสียบไม้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1,468 ชิ้น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12,472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16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ปลาซาบะ ½ ตัว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 แพ็ค 20 กก. (60.00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11,934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17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ปลาไหลอนาโงะ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56 แพ็ค 200 กรัม (11.20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9,184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18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ไข่หวานหั่นเต๋า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5 แพ็ค 10 กก. (50.00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9,095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19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มันปูปรงรส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14 แพ็ค 1 กก. (14.00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8,918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20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กุ้งอาเจนติน่า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10 แพ็ค 2 กก. (20.00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8,070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21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ปลาฮามาจิ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8 แพ็ค 1.85 กก. (14.80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7,728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22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เนื้อออสเตรเลียแบบตัด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13 แพ็ค 1 กก. (13.00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7,332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23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ปีกไก่สำเร็จรูป 1 ชิ้น / 35 กรัม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 แพ็ค 10 กก. (20.00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6,893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24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ปลาไหลสไลด์ 9 ชิ้น ชิ้นละ 6 กรัม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 แพ็ค 7.2 กก. (7.20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6,480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25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ตับปลาอังกิโมะ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726 แพ็ค 15 กรัม (10.89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5,808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26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ปลาดอลลี่ ½ ตัว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7 แพ็ค 10 กก. (70.00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5,733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27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เนื้อสไลด์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17 กก.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5,500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28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กุ้งเทมปุระ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1,085 ชิ้น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5,237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29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เบสซอฟต์ครีมทูโทน (รสมัตฉะ และรสนม)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18 แพ็ค 4.4 กก. (79.20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4,885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30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วาซาบิ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 แพ็ค 10 กก. (10.00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4,789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00000" y="6600000"/>
            <a:ext cx="11150000" cy="2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Oshinei · ต้นทุนวัตถุดิบเทียบยอดขาย &amp; แผนสั่งซื้อวัตถุดิบหลัก 48 ชนิด  ·  38/92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0578" cy="6858000"/>
          </a:xfrm>
          <a:prstGeom prst="rect">
            <a:avLst/>
          </a:prstGeom>
          <a:solidFill>
            <a:srgbClr val="203C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0785" y="51759"/>
            <a:ext cx="1171755" cy="117175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00000" y="230000"/>
            <a:ext cx="1115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i="0" spc="15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ส่วนที่ 3 · รายละเอียดรายสาขา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00" y="420000"/>
            <a:ext cx="1115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 i="0">
                <a:solidFill>
                  <a:srgbClr val="203C81"/>
                </a:solidFill>
                <a:latin typeface="Tahoma"/>
                <a:ea typeface="Tahoma"/>
                <a:cs typeface="Tahoma"/>
              </a:rPr>
              <a:t>มหาสารคาม — วัตถุดิบทั้งหมดที่ควรสั่งซื้อ (52 รายการ) (หน้า 2/2)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00000" y="1300000"/>
          <a:ext cx="11150000" cy="383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00000"/>
                <a:gridCol w="6200000"/>
                <a:gridCol w="2700000"/>
                <a:gridCol w="1850000"/>
              </a:tblGrid>
              <a:tr h="200000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#</a:t>
                      </a:r>
                    </a:p>
                  </a:txBody>
                  <a:tcPr marL="70000" marR="70000" marT="12000" marB="12000" anchor="ctr">
                    <a:solidFill>
                      <a:srgbClr val="203C8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วัตถุดิบ</a:t>
                      </a:r>
                    </a:p>
                  </a:txBody>
                  <a:tcPr marL="70000" marR="70000" marT="12000" marB="12000" anchor="ctr">
                    <a:solidFill>
                      <a:srgbClr val="203C8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ควรสั่ง/เดือน</a:t>
                      </a:r>
                    </a:p>
                  </a:txBody>
                  <a:tcPr marL="70000" marR="70000" marT="12000" marB="12000" anchor="ctr">
                    <a:solidFill>
                      <a:srgbClr val="203C8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มูลค่า/เดือน (฿)</a:t>
                      </a:r>
                    </a:p>
                  </a:txBody>
                  <a:tcPr marL="70000" marR="70000" marT="12000" marB="12000" anchor="ctr">
                    <a:solidFill>
                      <a:srgbClr val="203C81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31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น้ำดองสไลต์เกาหลี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 แพ็ค 20 ลิตร (40.00 ลิตร)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4,240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32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สาเกสำหรับปรุงอาหาร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 แพ็ค 18 ลิตร (36.00 ลิตร)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4,092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33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ปลาเงินทอดกรอบ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10 แพ็ค 250 กรัม (2.50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3,160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34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เบสซอฟต์ครีมรสนม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11 แพ็ค 4.4 กก. (48.40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2,987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35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เบสซอฟต์ครีมรสมัตฉะ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9 แพ็ค 4.4 กก. (39.60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2,442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36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เกี๊ยวซ่าอูนิ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185 ชิ้น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2,216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37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เนื้อชาโรเล่ส์หมักเสียบไม้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264 ไม้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2,200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38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เนื้อออสเตรเลียสไลด์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 แพ็ค 1 กก. (3.00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2,148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39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หอยเป๋าฮื้อ ตุ๋นปรุงรส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48 ตัว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1,872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40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มิริน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 แพ็ค 20 ลิตร (20.00 ลิตร)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1,648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41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หอยสังข์ญี่ปุ่น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5 แพ็ค 120 กรัม (600 กรัม)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1,325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42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สาหร่ายโนริหั่นฝอย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 กก.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1,120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43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ข้าวญี่ปุ่นปรุงรส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 แพ็ค 25 กก. (25.00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1,080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44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เนื้อวากิวพับนอก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 แพ็ค 1 กก. (2.00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1,067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45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แป้งเทมปุระผง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 แพ็ค 10 กก. (10.00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770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46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สาหร่ายวากาแมะ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 กก.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605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47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หอยนางรมญี่ปุ่น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18 ชิ้น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231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48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ไข่ปลาแซลมอน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 กก.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187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49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ปลาฮามาจิ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 กก.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147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50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กุ้งลายเสือ (อิงราคากุ้งอาร์เจนติน่า/ตัว)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8 ตัว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117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51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กุ้งยืด Ebi Tempura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11 ตัว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51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52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สาหร่ายโนริหั่นฝอย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5 ชิ้น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15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00000" y="6600000"/>
            <a:ext cx="11150000" cy="2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Oshinei · ต้นทุนวัตถุดิบเทียบยอดขาย &amp; แผนสั่งซื้อวัตถุดิบหลัก 48 ชนิด  ·  39/92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0578" cy="6858000"/>
          </a:xfrm>
          <a:prstGeom prst="rect">
            <a:avLst/>
          </a:prstGeom>
          <a:solidFill>
            <a:srgbClr val="203C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0785" y="51759"/>
            <a:ext cx="1171755" cy="117175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00000" y="230000"/>
            <a:ext cx="1115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i="0" spc="15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ส่วนที่ 3 · รายละเอียดรายสาขา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00" y="420000"/>
            <a:ext cx="1115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203C81"/>
                </a:solidFill>
                <a:latin typeface="Tahoma"/>
                <a:ea typeface="Tahoma"/>
                <a:cs typeface="Tahoma"/>
              </a:rPr>
              <a:t>มุกดาหาร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0000" y="950000"/>
            <a:ext cx="1115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อันดับต้นทุนอาหาร #26/28 (1=สูงสุด)  ·  อันดับมูลค่าสั่งซื้อ #19/28 (1=สูงสุด)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0000" y="1350000"/>
            <a:ext cx="2682500" cy="100000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0000" rIns="120000" tIns="110000" bIns="80000"/>
          <a:lstStyle/>
          <a:p>
            <a:pPr algn="ctr"/>
            <a:r>
              <a:rPr sz="1100" b="0" i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ยอดขาย (ไม่รวม VAT)</a:t>
            </a:r>
          </a:p>
          <a:p>
            <a:pPr>
              <a:spcBef>
                <a:spcPts val="400"/>
              </a:spcBef>
            </a:pPr>
            <a:r>
              <a:rPr sz="2000" b="1" i="0">
                <a:solidFill>
                  <a:srgbClr val="1F2937"/>
                </a:solidFill>
                <a:latin typeface="Tahoma"/>
                <a:ea typeface="Tahoma"/>
                <a:cs typeface="Tahoma"/>
              </a:rPr>
              <a:t>฿2,926,886</a:t>
            </a:r>
          </a:p>
          <a:p>
            <a:pPr>
              <a:spcBef>
                <a:spcPts val="400"/>
              </a:spcBef>
            </a:pPr>
            <a:r>
              <a:rPr sz="1050" b="0" i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/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2500" y="1350000"/>
            <a:ext cx="2682500" cy="100000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0000" rIns="120000" tIns="110000" bIns="80000"/>
          <a:lstStyle/>
          <a:p>
            <a:pPr algn="ctr"/>
            <a:r>
              <a:rPr sz="1100" b="0" i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ต้นทุนวัตถุดิบตามสูตร</a:t>
            </a:r>
          </a:p>
          <a:p>
            <a:pPr>
              <a:spcBef>
                <a:spcPts val="400"/>
              </a:spcBef>
            </a:pPr>
            <a:r>
              <a:rPr sz="2000" b="1" i="0">
                <a:solidFill>
                  <a:srgbClr val="1F2937"/>
                </a:solidFill>
                <a:latin typeface="Tahoma"/>
                <a:ea typeface="Tahoma"/>
                <a:cs typeface="Tahoma"/>
              </a:rPr>
              <a:t>฿1,453,142</a:t>
            </a:r>
          </a:p>
          <a:p>
            <a:pPr>
              <a:spcBef>
                <a:spcPts val="400"/>
              </a:spcBef>
            </a:pPr>
            <a:r>
              <a:rPr sz="1050" b="0" i="0">
                <a:solidFill>
                  <a:srgbClr val="047757"/>
                </a:solidFill>
                <a:latin typeface="Tahoma"/>
                <a:ea typeface="Tahoma"/>
                <a:cs typeface="Tahoma"/>
              </a:rPr>
              <a:t>49.6% ของยอดขาย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5000" y="1350000"/>
            <a:ext cx="2682500" cy="100000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0000" rIns="120000" tIns="110000" bIns="80000"/>
          <a:lstStyle/>
          <a:p>
            <a:pPr algn="ctr"/>
            <a:r>
              <a:rPr sz="1100" b="0" i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เปลี่ยนจากเดือนก่อน</a:t>
            </a:r>
          </a:p>
          <a:p>
            <a:pPr>
              <a:spcBef>
                <a:spcPts val="400"/>
              </a:spcBef>
            </a:pPr>
            <a:r>
              <a:rPr sz="2000" b="1" i="0">
                <a:solidFill>
                  <a:srgbClr val="1F2937"/>
                </a:solidFill>
                <a:latin typeface="Tahoma"/>
                <a:ea typeface="Tahoma"/>
                <a:cs typeface="Tahoma"/>
              </a:rPr>
              <a:t>+0.1 จุด</a:t>
            </a:r>
          </a:p>
          <a:p>
            <a:pPr>
              <a:spcBef>
                <a:spcPts val="400"/>
              </a:spcBef>
            </a:pPr>
            <a:r>
              <a:rPr sz="1050" b="0" i="0">
                <a:solidFill>
                  <a:srgbClr val="B91C1C"/>
                </a:solidFill>
                <a:latin typeface="Tahoma"/>
                <a:ea typeface="Tahoma"/>
                <a:cs typeface="Tahoma"/>
              </a:rPr>
              <a:t>49.5% เดือนก่อน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67500" y="1350000"/>
            <a:ext cx="2682500" cy="100000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0000" rIns="120000" tIns="110000" bIns="80000"/>
          <a:lstStyle/>
          <a:p>
            <a:pPr algn="ctr"/>
            <a:r>
              <a:rPr sz="1100" b="0" i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ควรสั่งซื้อ 48 รายการหลัก/เดือน</a:t>
            </a:r>
          </a:p>
          <a:p>
            <a:pPr>
              <a:spcBef>
                <a:spcPts val="400"/>
              </a:spcBef>
            </a:pPr>
            <a:r>
              <a:rPr sz="2000" b="1" i="0">
                <a:solidFill>
                  <a:srgbClr val="1F2937"/>
                </a:solidFill>
                <a:latin typeface="Tahoma"/>
                <a:ea typeface="Tahoma"/>
                <a:cs typeface="Tahoma"/>
              </a:rPr>
              <a:t>฿499,740</a:t>
            </a:r>
          </a:p>
          <a:p>
            <a:pPr>
              <a:spcBef>
                <a:spcPts val="400"/>
              </a:spcBef>
            </a:pPr>
            <a:r>
              <a:rPr sz="1050" b="0" i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52 รายการ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0000" y="2500000"/>
            <a:ext cx="5500000" cy="2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B91C1C"/>
                </a:solidFill>
                <a:latin typeface="Tahoma"/>
                <a:ea typeface="Tahoma"/>
                <a:cs typeface="Tahoma"/>
              </a:rPr>
              <a:t>เมนูต้นทุนเพิ่มขึ้นมากสุด (MoM)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00000" y="2780000"/>
          <a:ext cx="5300000" cy="120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00000"/>
                <a:gridCol w="1700000"/>
                <a:gridCol w="1500000"/>
              </a:tblGrid>
              <a:tr h="300000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เมนู</a:t>
                      </a:r>
                    </a:p>
                  </a:txBody>
                  <a:tcPr marL="70000" marR="70000" marT="35000" marB="35000" anchor="ctr">
                    <a:solidFill>
                      <a:srgbClr val="203C8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ต้นทุนเดือนนี้</a:t>
                      </a:r>
                    </a:p>
                  </a:txBody>
                  <a:tcPr marL="70000" marR="70000" marT="35000" marB="35000" anchor="ctr">
                    <a:solidFill>
                      <a:srgbClr val="203C8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เปลี่ยน</a:t>
                      </a:r>
                    </a:p>
                  </a:txBody>
                  <a:tcPr marL="70000" marR="70000" marT="35000" marB="35000" anchor="ctr">
                    <a:solidFill>
                      <a:srgbClr val="203C81"/>
                    </a:solidFill>
                  </a:tcPr>
                </a:tc>
              </a:tr>
              <a:tr h="30000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(B) แซลมอน ซาชิมิ (1 ชิ้น)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฿238,677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+฿21,117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(B) กุ้งอาเจนติน่าซาชิมิ …</a:t>
                      </a:r>
                    </a:p>
                  </a:txBody>
                  <a:tcPr marL="70000" marR="70000" marT="35000" marB="35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฿37,056</a:t>
                      </a:r>
                    </a:p>
                  </a:txBody>
                  <a:tcPr marL="70000" marR="70000" marT="35000" marB="35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+฿9,600</a:t>
                      </a:r>
                    </a:p>
                  </a:txBody>
                  <a:tcPr marL="70000" marR="70000" marT="35000" marB="35000" anchor="ctr">
                    <a:solidFill>
                      <a:srgbClr val="F8FAFC"/>
                    </a:solidFill>
                  </a:tcPr>
                </a:tc>
              </a:tr>
              <a:tr h="30000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(B) หัวปลาแซลมอนย่างซีอิ๊ว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฿11,107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+฿8,817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6200000" y="2500000"/>
            <a:ext cx="5500000" cy="2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047757"/>
                </a:solidFill>
                <a:latin typeface="Tahoma"/>
                <a:ea typeface="Tahoma"/>
                <a:cs typeface="Tahoma"/>
              </a:rPr>
              <a:t>เมนูต้นทุนลดลงมากสุด (MoM)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6200000" y="2780000"/>
          <a:ext cx="5300000" cy="120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00000"/>
                <a:gridCol w="1700000"/>
                <a:gridCol w="1500000"/>
              </a:tblGrid>
              <a:tr h="300000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เมนู</a:t>
                      </a:r>
                    </a:p>
                  </a:txBody>
                  <a:tcPr marL="70000" marR="70000" marT="35000" marB="35000" anchor="ctr">
                    <a:solidFill>
                      <a:srgbClr val="203C8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ต้นทุนเดือนนี้</a:t>
                      </a:r>
                    </a:p>
                  </a:txBody>
                  <a:tcPr marL="70000" marR="70000" marT="35000" marB="35000" anchor="ctr">
                    <a:solidFill>
                      <a:srgbClr val="203C8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เปลี่ยน</a:t>
                      </a:r>
                    </a:p>
                  </a:txBody>
                  <a:tcPr marL="70000" marR="70000" marT="35000" marB="35000" anchor="ctr">
                    <a:solidFill>
                      <a:srgbClr val="203C81"/>
                    </a:solidFill>
                  </a:tcPr>
                </a:tc>
              </a:tr>
              <a:tr h="30000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(B) หนวดปลาหมึก ซาชิมิ (1…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฿17,248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฿-1,679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(B) เนื้อเสือร้องไห้ ออสเ…</a:t>
                      </a:r>
                    </a:p>
                  </a:txBody>
                  <a:tcPr marL="70000" marR="70000" marT="35000" marB="35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฿25,152</a:t>
                      </a:r>
                    </a:p>
                  </a:txBody>
                  <a:tcPr marL="70000" marR="70000" marT="35000" marB="35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฿-1,614</a:t>
                      </a:r>
                    </a:p>
                  </a:txBody>
                  <a:tcPr marL="70000" marR="70000" marT="35000" marB="35000" anchor="ctr">
                    <a:solidFill>
                      <a:srgbClr val="F8FAFC"/>
                    </a:solidFill>
                  </a:tcPr>
                </a:tc>
              </a:tr>
              <a:tr h="30000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(B) หัวปลาแซลมอนย่างเกลือ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฿7,289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฿-1,595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600000" y="4100000"/>
            <a:ext cx="9000000" cy="2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203C81"/>
                </a:solidFill>
                <a:latin typeface="Tahoma"/>
                <a:ea typeface="Tahoma"/>
                <a:cs typeface="Tahoma"/>
              </a:rPr>
              <a:t>วัตถุดิบทั้งหมดที่ควรสั่งซื้อ (52 รายการ) — ดูสไลด์ถัดไป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0000" y="6600000"/>
            <a:ext cx="11150000" cy="2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Oshinei · ต้นทุนวัตถุดิบเทียบยอดขาย &amp; แผนสั่งซื้อวัตถุดิบหลัก 48 ชนิด  ·  40/92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0578" cy="6858000"/>
          </a:xfrm>
          <a:prstGeom prst="rect">
            <a:avLst/>
          </a:prstGeom>
          <a:solidFill>
            <a:srgbClr val="203C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0785" y="51759"/>
            <a:ext cx="1171755" cy="117175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00000" y="230000"/>
            <a:ext cx="1115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i="0" spc="15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ส่วนที่ 3 · รายละเอียดรายสาขา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00" y="420000"/>
            <a:ext cx="1115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 i="0">
                <a:solidFill>
                  <a:srgbClr val="203C81"/>
                </a:solidFill>
                <a:latin typeface="Tahoma"/>
                <a:ea typeface="Tahoma"/>
                <a:cs typeface="Tahoma"/>
              </a:rPr>
              <a:t>มุกดาหาร — วัตถุดิบทั้งหมดที่ควรสั่งซื้อ (52 รายการ) (หน้า 1/2)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00000" y="1300000"/>
          <a:ext cx="11150000" cy="515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00000"/>
                <a:gridCol w="6200000"/>
                <a:gridCol w="2700000"/>
                <a:gridCol w="1850000"/>
              </a:tblGrid>
              <a:tr h="200000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#</a:t>
                      </a:r>
                    </a:p>
                  </a:txBody>
                  <a:tcPr marL="70000" marR="70000" marT="12000" marB="12000" anchor="ctr">
                    <a:solidFill>
                      <a:srgbClr val="203C8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วัตถุดิบ</a:t>
                      </a:r>
                    </a:p>
                  </a:txBody>
                  <a:tcPr marL="70000" marR="70000" marT="12000" marB="12000" anchor="ctr">
                    <a:solidFill>
                      <a:srgbClr val="203C8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ควรสั่ง/เดือน</a:t>
                      </a:r>
                    </a:p>
                  </a:txBody>
                  <a:tcPr marL="70000" marR="70000" marT="12000" marB="12000" anchor="ctr">
                    <a:solidFill>
                      <a:srgbClr val="203C8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มูลค่า/เดือน (฿)</a:t>
                      </a:r>
                    </a:p>
                  </a:txBody>
                  <a:tcPr marL="70000" marR="70000" marT="12000" marB="12000" anchor="ctr">
                    <a:solidFill>
                      <a:srgbClr val="203C81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กุ้งแกะเปลือก  5 ตัวละ 15 กรัม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24 แพ็ค 10 กก. (240.00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74,352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เนื้อปลาทูน่า 1 ชิ้น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59 แพ็ค 1 กก. (59.00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34,220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หอยเซลล์ต้ม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64 แพ็ค 1 กก. (64.00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33,280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เนื้อเสือร้องไห้สไลด์ ( 5 ชิ้นละ 10 กรัม 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7 แพ็ค 10 กก. (70.00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24,640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5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เนื้อใบพายออสเตรเลียสไลด์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52 แพ็ค 1 กก. (52.00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24,440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6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ปลาไหลอูนางิ 70 P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238 แพ็ค 120 กรัม (28.56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22,610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7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ไข่หอยเม่น แช่แข็ง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88 แพ็ค 100 กรัม (8.80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22,440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8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ปลาซาบะดอง 6 ชิ้น ชิ้นละ 10 กรัม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 แพ็ค 12.5 กก. (37.50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21,309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9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หอยนางรมญี่ปุ่น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1,540 ตัว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20,118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10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หนวดปลาหมึกยักษ์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 แพ็ค 12 กก. (36.00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18,705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11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ส่าหร่ายแผ่น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4,852 แผ่น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17,802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12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ปลาหมึกกระดอง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5 แพ็ค 10 กก. (50.00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16,000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13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ปลาเนื้อขาวหั่นเต๋า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5 แพ็ค 10 กก. (50.00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14,065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14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ไข่กุ้ง Ebiko Grade A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 แพ็ค 10 กก. (30.00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13,296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15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ปลาซาบะ ½ ตัว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 แพ็ค 20 กก. (60.00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11,934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16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ปลาฮามาจิ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10 แพ็ค 1.85 กก. (18.50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9,660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17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เนื้อออสเตรเลียแบบตัด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16 แพ็ค 1 กก. (16.00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9,024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18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ไข่หอยเม่น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14 แพ็ค 1 กก. (14.00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8,918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19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ปลาไหลอนาโงะสไลด์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54 แพ็ค 200 กรัม (10.80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8,856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20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เนื้อชาโรเล่ส์หมักเสียบไม้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1,034 ชิ้น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8,786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21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ไข่หวานหั่นเต๋า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 แพ็ค 10 กก. (40.00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7,276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22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กุ้งอาเจนติน่า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9 แพ็ค 2 กก. (18.00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7,263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23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ปลาไหลสไลด์ 9 ชิ้น ชิ้นละ 6 กรัม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 แพ็ค 7.2 กก. (7.20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6,480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24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ตับปลาอังกิโมะ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637 แพ็ค 15 กรัม (9.55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5,096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25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เนื้อสไลด์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15 กก.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5,016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26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วาซาบิ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 แพ็ค 10 กก. (10.00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4,789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27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กุ้งเทมปุระ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929 ชิ้น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4,486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28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น้ำดองสไลต์เกาหลี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 แพ็ค 20 ลิตร (40.00 ลิตร)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4,240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29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ปลาเงินทอดกรอบ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13 แพ็ค 250 กรัม (3.25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4,107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30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ปลาดอลลี่ ½ ตัว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5 แพ็ค 10 กก. (50.00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4,095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00000" y="6600000"/>
            <a:ext cx="11150000" cy="2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Oshinei · ต้นทุนวัตถุดิบเทียบยอดขาย &amp; แผนสั่งซื้อวัตถุดิบหลัก 48 ชนิด  ·  41/92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0578" cy="6858000"/>
          </a:xfrm>
          <a:prstGeom prst="rect">
            <a:avLst/>
          </a:prstGeom>
          <a:solidFill>
            <a:srgbClr val="203C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0785" y="51759"/>
            <a:ext cx="1171755" cy="117175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00000" y="230000"/>
            <a:ext cx="1115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i="0" spc="15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ส่วนที่ 3 · รายละเอียดรายสาขา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00" y="420000"/>
            <a:ext cx="1115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 i="0">
                <a:solidFill>
                  <a:srgbClr val="203C81"/>
                </a:solidFill>
                <a:latin typeface="Tahoma"/>
                <a:ea typeface="Tahoma"/>
                <a:cs typeface="Tahoma"/>
              </a:rPr>
              <a:t>มุกดาหาร — วัตถุดิบทั้งหมดที่ควรสั่งซื้อ (52 รายการ) (หน้า 2/2)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00000" y="1300000"/>
          <a:ext cx="11150000" cy="383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00000"/>
                <a:gridCol w="6200000"/>
                <a:gridCol w="2700000"/>
                <a:gridCol w="1850000"/>
              </a:tblGrid>
              <a:tr h="200000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#</a:t>
                      </a:r>
                    </a:p>
                  </a:txBody>
                  <a:tcPr marL="70000" marR="70000" marT="12000" marB="12000" anchor="ctr">
                    <a:solidFill>
                      <a:srgbClr val="203C8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วัตถุดิบ</a:t>
                      </a:r>
                    </a:p>
                  </a:txBody>
                  <a:tcPr marL="70000" marR="70000" marT="12000" marB="12000" anchor="ctr">
                    <a:solidFill>
                      <a:srgbClr val="203C8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ควรสั่ง/เดือน</a:t>
                      </a:r>
                    </a:p>
                  </a:txBody>
                  <a:tcPr marL="70000" marR="70000" marT="12000" marB="12000" anchor="ctr">
                    <a:solidFill>
                      <a:srgbClr val="203C8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มูลค่า/เดือน (฿)</a:t>
                      </a:r>
                    </a:p>
                  </a:txBody>
                  <a:tcPr marL="70000" marR="70000" marT="12000" marB="12000" anchor="ctr">
                    <a:solidFill>
                      <a:srgbClr val="203C81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31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สาเกสำหรับปรุงอาหาร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 แพ็ค 18 ลิตร (36.00 ลิตร)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4,092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32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เบสซอฟต์ครีมทูโทน (รสมัตฉะ และรสนม)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15 แพ็ค 4.4 กก. (66.00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4,071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33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เบสซอฟต์ครีมรสนม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13 แพ็ค 4.4 กก. (57.20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3,530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34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ปีกไก่สำเร็จรูป 1 ชิ้น / 35 กรัม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 แพ็ค 10 กก. (10.00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3,446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35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เกี๊ยวซ่าอูนิ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233 ชิ้น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2,796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36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เบสซอฟต์ครีมรสมัตฉะ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8 แพ็ค 4.4 กก. (35.20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2,170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37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เนื้อออสเตรเลียสไลด์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 แพ็ค 1 กก. (3.00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2,148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38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เนื้อชาโรเล่ส์หมักเสียบไม้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227 ไม้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1,876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39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มิริน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 แพ็ค 20 ลิตร (20.00 ลิตร)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1,648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40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ข้าวญี่ปุ่นปรุงรส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 แพ็ค 25 กก. (25.00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1,080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41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เนื้อวากิวพับนอก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 แพ็ค 1 กก. (2.00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1,067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42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สาหร่ายโนรี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 กก.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957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43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แป้งเทมปุระผง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 แพ็ค 10 กก. (10.00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770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44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กุ้งยืด Ebi Tempura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105 ตัว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507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45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สาหร่ายวากาแมะ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 กก.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473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46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หอยเป๋าฮื้อ ตุ๋นปรุงรส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12 ตัว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468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47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กุ้งลายเสือ (อิงราคากุ้งอาร์เจนติน่า/ตัว)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22 ตัว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350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48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หอยนางรมญี่ปุ่น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26 ชิ้น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339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49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หอยสังข์ญี่ปุ่น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 แพ็ค 120 กรัม (120 กรัม)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265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50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ไข่ปลาแซลมอน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 กก.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202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51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ปลาฮามาจิ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 กก.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178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52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สาหร่ายโนริหั่นฝอย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 ชิ้น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5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00000" y="6600000"/>
            <a:ext cx="11150000" cy="2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Oshinei · ต้นทุนวัตถุดิบเทียบยอดขาย &amp; แผนสั่งซื้อวัตถุดิบหลัก 48 ชนิด  ·  42/92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0578" cy="6858000"/>
          </a:xfrm>
          <a:prstGeom prst="rect">
            <a:avLst/>
          </a:prstGeom>
          <a:solidFill>
            <a:srgbClr val="203C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0785" y="51759"/>
            <a:ext cx="1171755" cy="117175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00000" y="230000"/>
            <a:ext cx="1115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i="0" spc="15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ส่วนที่ 3 · รายละเอียดรายสาขา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00" y="420000"/>
            <a:ext cx="1115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203C81"/>
                </a:solidFill>
                <a:latin typeface="Tahoma"/>
                <a:ea typeface="Tahoma"/>
                <a:cs typeface="Tahoma"/>
              </a:rPr>
              <a:t>ระยอง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0000" y="950000"/>
            <a:ext cx="1115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อันดับต้นทุนอาหาร #13/28 (1=สูงสุด)  ·  อันดับมูลค่าสั่งซื้อ #4/28 (1=สูงสุด)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0000" y="1350000"/>
            <a:ext cx="2682500" cy="100000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0000" rIns="120000" tIns="110000" bIns="80000"/>
          <a:lstStyle/>
          <a:p>
            <a:pPr algn="ctr"/>
            <a:r>
              <a:rPr sz="1100" b="0" i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ยอดขาย (ไม่รวม VAT)</a:t>
            </a:r>
          </a:p>
          <a:p>
            <a:pPr>
              <a:spcBef>
                <a:spcPts val="400"/>
              </a:spcBef>
            </a:pPr>
            <a:r>
              <a:rPr sz="2000" b="1" i="0">
                <a:solidFill>
                  <a:srgbClr val="1F2937"/>
                </a:solidFill>
                <a:latin typeface="Tahoma"/>
                <a:ea typeface="Tahoma"/>
                <a:cs typeface="Tahoma"/>
              </a:rPr>
              <a:t>฿4,519,993</a:t>
            </a:r>
          </a:p>
          <a:p>
            <a:pPr>
              <a:spcBef>
                <a:spcPts val="400"/>
              </a:spcBef>
            </a:pPr>
            <a:r>
              <a:rPr sz="1050" b="0" i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/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2500" y="1350000"/>
            <a:ext cx="2682500" cy="100000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0000" rIns="120000" tIns="110000" bIns="80000"/>
          <a:lstStyle/>
          <a:p>
            <a:pPr algn="ctr"/>
            <a:r>
              <a:rPr sz="1100" b="0" i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ต้นทุนวัตถุดิบตามสูตร</a:t>
            </a:r>
          </a:p>
          <a:p>
            <a:pPr>
              <a:spcBef>
                <a:spcPts val="400"/>
              </a:spcBef>
            </a:pPr>
            <a:r>
              <a:rPr sz="2000" b="1" i="0">
                <a:solidFill>
                  <a:srgbClr val="1F2937"/>
                </a:solidFill>
                <a:latin typeface="Tahoma"/>
                <a:ea typeface="Tahoma"/>
                <a:cs typeface="Tahoma"/>
              </a:rPr>
              <a:t>฿2,695,516</a:t>
            </a:r>
          </a:p>
          <a:p>
            <a:pPr>
              <a:spcBef>
                <a:spcPts val="400"/>
              </a:spcBef>
            </a:pPr>
            <a:r>
              <a:rPr sz="1050" b="0" i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59.6% ของยอดขาย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5000" y="1350000"/>
            <a:ext cx="2682500" cy="100000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0000" rIns="120000" tIns="110000" bIns="80000"/>
          <a:lstStyle/>
          <a:p>
            <a:pPr algn="ctr"/>
            <a:r>
              <a:rPr sz="1100" b="0" i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เปลี่ยนจากเดือนก่อน</a:t>
            </a:r>
          </a:p>
          <a:p>
            <a:pPr>
              <a:spcBef>
                <a:spcPts val="400"/>
              </a:spcBef>
            </a:pPr>
            <a:r>
              <a:rPr sz="2000" b="1" i="0">
                <a:solidFill>
                  <a:srgbClr val="1F2937"/>
                </a:solidFill>
                <a:latin typeface="Tahoma"/>
                <a:ea typeface="Tahoma"/>
                <a:cs typeface="Tahoma"/>
              </a:rPr>
              <a:t>+1.8 จุด</a:t>
            </a:r>
          </a:p>
          <a:p>
            <a:pPr>
              <a:spcBef>
                <a:spcPts val="400"/>
              </a:spcBef>
            </a:pPr>
            <a:r>
              <a:rPr sz="1050" b="0" i="0">
                <a:solidFill>
                  <a:srgbClr val="B91C1C"/>
                </a:solidFill>
                <a:latin typeface="Tahoma"/>
                <a:ea typeface="Tahoma"/>
                <a:cs typeface="Tahoma"/>
              </a:rPr>
              <a:t>57.8% เดือนก่อน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67500" y="1350000"/>
            <a:ext cx="2682500" cy="100000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0000" rIns="120000" tIns="110000" bIns="80000"/>
          <a:lstStyle/>
          <a:p>
            <a:pPr algn="ctr"/>
            <a:r>
              <a:rPr sz="1100" b="0" i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ควรสั่งซื้อ 48 รายการหลัก/เดือน</a:t>
            </a:r>
          </a:p>
          <a:p>
            <a:pPr>
              <a:spcBef>
                <a:spcPts val="400"/>
              </a:spcBef>
            </a:pPr>
            <a:r>
              <a:rPr sz="2000" b="1" i="0">
                <a:solidFill>
                  <a:srgbClr val="1F2937"/>
                </a:solidFill>
                <a:latin typeface="Tahoma"/>
                <a:ea typeface="Tahoma"/>
                <a:cs typeface="Tahoma"/>
              </a:rPr>
              <a:t>฿920,314</a:t>
            </a:r>
          </a:p>
          <a:p>
            <a:pPr>
              <a:spcBef>
                <a:spcPts val="400"/>
              </a:spcBef>
            </a:pPr>
            <a:r>
              <a:rPr sz="1050" b="0" i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53 รายการ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0000" y="2500000"/>
            <a:ext cx="5500000" cy="2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B91C1C"/>
                </a:solidFill>
                <a:latin typeface="Tahoma"/>
                <a:ea typeface="Tahoma"/>
                <a:cs typeface="Tahoma"/>
              </a:rPr>
              <a:t>เมนูต้นทุนเพิ่มขึ้นมากสุด (MoM)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00000" y="2780000"/>
          <a:ext cx="5300000" cy="120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00000"/>
                <a:gridCol w="1700000"/>
                <a:gridCol w="1500000"/>
              </a:tblGrid>
              <a:tr h="300000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เมนู</a:t>
                      </a:r>
                    </a:p>
                  </a:txBody>
                  <a:tcPr marL="70000" marR="70000" marT="35000" marB="35000" anchor="ctr">
                    <a:solidFill>
                      <a:srgbClr val="203C8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ต้นทุนเดือนนี้</a:t>
                      </a:r>
                    </a:p>
                  </a:txBody>
                  <a:tcPr marL="70000" marR="70000" marT="35000" marB="35000" anchor="ctr">
                    <a:solidFill>
                      <a:srgbClr val="203C8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เปลี่ยน</a:t>
                      </a:r>
                    </a:p>
                  </a:txBody>
                  <a:tcPr marL="70000" marR="70000" marT="35000" marB="35000" anchor="ctr">
                    <a:solidFill>
                      <a:srgbClr val="203C81"/>
                    </a:solidFill>
                  </a:tcPr>
                </a:tc>
              </a:tr>
              <a:tr h="30000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(B) แซลมอน ซาชิมิ (1 ชิ้น)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฿494,779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+฿84,611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(B) แซลมอนดอง (3 ชิ้น)</a:t>
                      </a:r>
                    </a:p>
                  </a:txBody>
                  <a:tcPr marL="70000" marR="70000" marT="35000" marB="35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฿159,382</a:t>
                      </a:r>
                    </a:p>
                  </a:txBody>
                  <a:tcPr marL="70000" marR="70000" marT="35000" marB="35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+฿16,885</a:t>
                      </a:r>
                    </a:p>
                  </a:txBody>
                  <a:tcPr marL="70000" marR="70000" marT="35000" marB="35000" anchor="ctr">
                    <a:solidFill>
                      <a:srgbClr val="F8FAFC"/>
                    </a:solidFill>
                  </a:tcPr>
                </a:tc>
              </a:tr>
              <a:tr h="30000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(B) ยำแซลมอนน้ำปลาร้า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฿92,903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+฿16,514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6200000" y="2500000"/>
            <a:ext cx="5500000" cy="2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047757"/>
                </a:solidFill>
                <a:latin typeface="Tahoma"/>
                <a:ea typeface="Tahoma"/>
                <a:cs typeface="Tahoma"/>
              </a:rPr>
              <a:t>เมนูต้นทุนลดลงมากสุด (MoM)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6200000" y="2780000"/>
          <a:ext cx="5300000" cy="120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00000"/>
                <a:gridCol w="1700000"/>
                <a:gridCol w="1500000"/>
              </a:tblGrid>
              <a:tr h="300000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เมนู</a:t>
                      </a:r>
                    </a:p>
                  </a:txBody>
                  <a:tcPr marL="70000" marR="70000" marT="35000" marB="35000" anchor="ctr">
                    <a:solidFill>
                      <a:srgbClr val="203C8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ต้นทุนเดือนนี้</a:t>
                      </a:r>
                    </a:p>
                  </a:txBody>
                  <a:tcPr marL="70000" marR="70000" marT="35000" marB="35000" anchor="ctr">
                    <a:solidFill>
                      <a:srgbClr val="203C8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เปลี่ยน</a:t>
                      </a:r>
                    </a:p>
                  </a:txBody>
                  <a:tcPr marL="70000" marR="70000" marT="35000" marB="35000" anchor="ctr">
                    <a:solidFill>
                      <a:srgbClr val="203C81"/>
                    </a:solidFill>
                  </a:tcPr>
                </a:tc>
              </a:tr>
              <a:tr h="30000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(B) ทุเรียน (1 เม็ด)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฿0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฿-4,420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(B) หมูย่างซีอิ้ว</a:t>
                      </a:r>
                    </a:p>
                  </a:txBody>
                  <a:tcPr marL="70000" marR="70000" marT="35000" marB="35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฿1,413</a:t>
                      </a:r>
                    </a:p>
                  </a:txBody>
                  <a:tcPr marL="70000" marR="70000" marT="35000" marB="35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฿-1,053</a:t>
                      </a:r>
                    </a:p>
                  </a:txBody>
                  <a:tcPr marL="70000" marR="70000" marT="35000" marB="35000" anchor="ctr">
                    <a:solidFill>
                      <a:srgbClr val="F8FAFC"/>
                    </a:solidFill>
                  </a:tcPr>
                </a:tc>
              </a:tr>
              <a:tr h="30000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(B) สเต็กเนื้อลูกเต๋า (15…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฿24,545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฿-758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600000" y="4100000"/>
            <a:ext cx="9000000" cy="2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203C81"/>
                </a:solidFill>
                <a:latin typeface="Tahoma"/>
                <a:ea typeface="Tahoma"/>
                <a:cs typeface="Tahoma"/>
              </a:rPr>
              <a:t>วัตถุดิบทั้งหมดที่ควรสั่งซื้อ (53 รายการ) — ดูสไลด์ถัดไป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0000" y="6600000"/>
            <a:ext cx="11150000" cy="2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Oshinei · ต้นทุนวัตถุดิบเทียบยอดขาย &amp; แผนสั่งซื้อวัตถุดิบหลัก 48 ชนิด  ·  43/92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0578" cy="6858000"/>
          </a:xfrm>
          <a:prstGeom prst="rect">
            <a:avLst/>
          </a:prstGeom>
          <a:solidFill>
            <a:srgbClr val="203C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0785" y="51759"/>
            <a:ext cx="1171755" cy="117175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00000" y="230000"/>
            <a:ext cx="1115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i="0" spc="15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ส่วนที่ 3 · รายละเอียดรายสาขา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00" y="420000"/>
            <a:ext cx="1115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 i="0">
                <a:solidFill>
                  <a:srgbClr val="203C81"/>
                </a:solidFill>
                <a:latin typeface="Tahoma"/>
                <a:ea typeface="Tahoma"/>
                <a:cs typeface="Tahoma"/>
              </a:rPr>
              <a:t>ระยอง — วัตถุดิบทั้งหมดที่ควรสั่งซื้อ (53 รายการ) (หน้า 1/2)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00000" y="1300000"/>
          <a:ext cx="11150000" cy="515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00000"/>
                <a:gridCol w="6200000"/>
                <a:gridCol w="2700000"/>
                <a:gridCol w="1850000"/>
              </a:tblGrid>
              <a:tr h="200000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#</a:t>
                      </a:r>
                    </a:p>
                  </a:txBody>
                  <a:tcPr marL="70000" marR="70000" marT="12000" marB="12000" anchor="ctr">
                    <a:solidFill>
                      <a:srgbClr val="203C8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วัตถุดิบ</a:t>
                      </a:r>
                    </a:p>
                  </a:txBody>
                  <a:tcPr marL="70000" marR="70000" marT="12000" marB="12000" anchor="ctr">
                    <a:solidFill>
                      <a:srgbClr val="203C8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ควรสั่ง/เดือน</a:t>
                      </a:r>
                    </a:p>
                  </a:txBody>
                  <a:tcPr marL="70000" marR="70000" marT="12000" marB="12000" anchor="ctr">
                    <a:solidFill>
                      <a:srgbClr val="203C8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มูลค่า/เดือน (฿)</a:t>
                      </a:r>
                    </a:p>
                  </a:txBody>
                  <a:tcPr marL="70000" marR="70000" marT="12000" marB="12000" anchor="ctr">
                    <a:solidFill>
                      <a:srgbClr val="203C81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เนื้อปลาทูน่า 1 ชิ้น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198 แพ็ค 1 กก. (198.00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114,840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กุ้งแกะเปลือก  5 ตัวละ 15 กรัม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21 แพ็ค 10 กก. (210.00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65,058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หอยเซลล์ต้ม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106 แพ็ค 1 กก. (106.00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55,120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ปลาไหลอูนางิ 70 P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516 แพ็ค 120 กรัม (61.92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49,020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5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ไข่หอยเม่น แช่แข็ง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172 แพ็ค 100 กรัม (17.20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43,860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6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เนื้อใบพายออสเตรเลียสไลด์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92 แพ็ค 1 กก. (92.00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43,240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7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หนวดปลาหมึกยักษ์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6 แพ็ค 12 กก. (72.00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37,410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8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ปลาซาบะดอง 6 ชิ้น ชิ้นละ 10 กรัม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5 แพ็ค 12.5 กก. (62.50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35,515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9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เนื้อเสือร้องไห้สไลด์ ( 5 ชิ้นละ 10 กรัม 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10 แพ็ค 10 กก. (100.00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35,200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10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ปลาเนื้อขาวหั่นเต๋า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12 แพ็ค 10 กก. (120.00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33,756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11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สาหร่ายโนริแผ่น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8,704 แผ่น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32,023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12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ปลาฮามาจิ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31 แพ็ค 1.85 กก. (57.35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29,946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13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เนื้อออสเตรเลียแบบตัด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51 แพ็ค 1 กก. (51.00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28,764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14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หอยนางรมญี่ปุ่น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2,130 ตัว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27,834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15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กุ้งอาเจนติน่า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28 แพ็ค 2 กก. (56.00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22,596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16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เนื้อชาโรเล่ส์หมักเสียบไม้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2,246 ชิ้น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19,084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17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ปลาไหลอนาโงะสไลด์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112 แพ็ค 200 กรัม (22.40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18,368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18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ไข่กุ้ง Ebiko Grade A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 แพ็ค 10 กก. (40.00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17,728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19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ปีกไก่สำเร็จรูป 1 ชิ้น / 35 กรัม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5 แพ็ค 10 กก. (50.00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17,232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20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ปลาหมึกกระดอง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5 แพ็ค 10 กก. (50.00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16,000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21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ปลาซาบะ1 ชิ้น ½ ตัว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 แพ็ค 20 กก. (80.00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15,912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22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ไข่หวานหั่นเต๋า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8 แพ็ค 10 กก. (80.00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14,552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23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เบสซอฟต์ครีมรสนม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52 แพ็ค 4.4 กก. (228.80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14,120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24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ไข่หอยเม่น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22 แพ็ค 1 กก. (22.00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14,014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25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ปลาไหลสไลด์ 9 ชิ้น ชิ้นละ 6 กรัม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 แพ็ค 7.2 กก. (14.40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12,960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26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เนื้อสไลด์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34 กก.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11,089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27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ตับปลาอังกิโมะ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1,179 แพ็ค 15 กรัม (17.68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9,432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28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หอยสังข์ญี่ปุ่น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33 แพ็ค 120 กรัม (3.96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8,745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29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ปลาดอลลี่แช่แข็ง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10 แพ็ค 10 กก. (100.00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8,190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30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กุ้งเทมปุระ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1,625 ชิ้น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7,844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00000" y="6600000"/>
            <a:ext cx="11150000" cy="2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Oshinei · ต้นทุนวัตถุดิบเทียบยอดขาย &amp; แผนสั่งซื้อวัตถุดิบหลัก 48 ชนิด  ·  44/92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0578" cy="6858000"/>
          </a:xfrm>
          <a:prstGeom prst="rect">
            <a:avLst/>
          </a:prstGeom>
          <a:solidFill>
            <a:srgbClr val="203C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0785" y="51759"/>
            <a:ext cx="1171755" cy="117175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00000" y="230000"/>
            <a:ext cx="1115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i="0" spc="15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ส่วนที่ 3 · รายละเอียดรายสาขา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00" y="420000"/>
            <a:ext cx="1115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 i="0">
                <a:solidFill>
                  <a:srgbClr val="203C81"/>
                </a:solidFill>
                <a:latin typeface="Tahoma"/>
                <a:ea typeface="Tahoma"/>
                <a:cs typeface="Tahoma"/>
              </a:rPr>
              <a:t>ระยอง — วัตถุดิบทั้งหมดที่ควรสั่งซื้อ (53 รายการ) (หน้า 2/2)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00000" y="1300000"/>
          <a:ext cx="11150000" cy="3995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00000"/>
                <a:gridCol w="6200000"/>
                <a:gridCol w="2700000"/>
                <a:gridCol w="1850000"/>
              </a:tblGrid>
              <a:tr h="200000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#</a:t>
                      </a:r>
                    </a:p>
                  </a:txBody>
                  <a:tcPr marL="70000" marR="70000" marT="12000" marB="12000" anchor="ctr">
                    <a:solidFill>
                      <a:srgbClr val="203C8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วัตถุดิบ</a:t>
                      </a:r>
                    </a:p>
                  </a:txBody>
                  <a:tcPr marL="70000" marR="70000" marT="12000" marB="12000" anchor="ctr">
                    <a:solidFill>
                      <a:srgbClr val="203C8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ควรสั่ง/เดือน</a:t>
                      </a:r>
                    </a:p>
                  </a:txBody>
                  <a:tcPr marL="70000" marR="70000" marT="12000" marB="12000" anchor="ctr">
                    <a:solidFill>
                      <a:srgbClr val="203C8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มูลค่า/เดือน (฿)</a:t>
                      </a:r>
                    </a:p>
                  </a:txBody>
                  <a:tcPr marL="70000" marR="70000" marT="12000" marB="12000" anchor="ctr">
                    <a:solidFill>
                      <a:srgbClr val="203C81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31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เบสซอฟต์ครีมทูโทน (รสมัตฉะ และรสนม)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28 แพ็ค 4.4 กก. (123.20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7,599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32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หอยเป๋าฮื้อ ตุ๋นปรุงรส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168 ตัว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6,647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33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สาเกสำหรับปรุงอาหาร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 แพ็ค 18 ลิตร (54.00 ลิตร)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6,138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34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ปลาเงินทอดกรอบ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18 แพ็ค 250 กรัม (4.50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5,687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35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เนื้อชาโรเล่ส์หมักเสียบไม้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604 ไม้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5,029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36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วาซาบิ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 แพ็ค 10 กก. (10.00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4,789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37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น้ำดองสไลต์เกาหลี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 แพ็ค 20 ลิตร (40.00 ลิตร)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4,240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38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เกี๊ยวซ่าอูนิ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349 ชิ้น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4,182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39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เนื้อออสเตรเลี่ยนวากิว สไลด์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5 แพ็ค 1 กก. (5.00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3,580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40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ข้าวญี่ปุ่นปรุงรส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 แพ็ค 25 กก. (50.00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2,160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41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เนื้อวากิวพับนอก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 แพ็ค 1 กก. (4.00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2,135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42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สาหร่ายโนรี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 กก.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1,784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43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มิริน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 แพ็ค 20 ลิตร (20.00 ลิตร)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1,648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44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แป้งเทมปุระผง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 แพ็ค 10 กก. (20.00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1,541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45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สาหร่ายวากาแมะ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5 กก.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1,287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46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กุ้งยืด Ebi Tempura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147 ตัว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706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47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หอยแครงยักษ์สไลด์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62 ชิ้น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680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48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ไข่ปลาแซลมอน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 กก.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356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49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เบสซอฟต์ครีมรสมัตฉะ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 แพ็ค 4.4 กก. (4.40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271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50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กุ้งลายเสือ (อิงราคากุ้งอาร์เจนติน่า/ตัว)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15 ตัว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233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51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ปลาฮามาจิ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 กก.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129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52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หอยนางรมญี่ปุ่น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 ชิ้น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31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53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สาหร่ายโนริหั่นฝอย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 ชิ้น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11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00000" y="6600000"/>
            <a:ext cx="11150000" cy="2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Oshinei · ต้นทุนวัตถุดิบเทียบยอดขาย &amp; แผนสั่งซื้อวัตถุดิบหลัก 48 ชนิด  ·  45/92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0578" cy="6858000"/>
          </a:xfrm>
          <a:prstGeom prst="rect">
            <a:avLst/>
          </a:prstGeom>
          <a:solidFill>
            <a:srgbClr val="203C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0785" y="51759"/>
            <a:ext cx="1171755" cy="117175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00000" y="230000"/>
            <a:ext cx="1115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i="0" spc="15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ส่วนที่ 3 · รายละเอียดรายสาขา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00" y="420000"/>
            <a:ext cx="1115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203C81"/>
                </a:solidFill>
                <a:latin typeface="Tahoma"/>
                <a:ea typeface="Tahoma"/>
                <a:cs typeface="Tahoma"/>
              </a:rPr>
              <a:t>รังสิต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0000" y="950000"/>
            <a:ext cx="1115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อันดับต้นทุนอาหาร #14/28 (1=สูงสุด)  ·  อันดับมูลค่าสั่งซื้อ #14/28 (1=สูงสุด)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0000" y="1350000"/>
            <a:ext cx="2682500" cy="100000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0000" rIns="120000" tIns="110000" bIns="80000"/>
          <a:lstStyle/>
          <a:p>
            <a:pPr algn="ctr"/>
            <a:r>
              <a:rPr sz="1100" b="0" i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ยอดขาย (ไม่รวม VAT)</a:t>
            </a:r>
          </a:p>
          <a:p>
            <a:pPr>
              <a:spcBef>
                <a:spcPts val="400"/>
              </a:spcBef>
            </a:pPr>
            <a:r>
              <a:rPr sz="2000" b="1" i="0">
                <a:solidFill>
                  <a:srgbClr val="1F2937"/>
                </a:solidFill>
                <a:latin typeface="Tahoma"/>
                <a:ea typeface="Tahoma"/>
                <a:cs typeface="Tahoma"/>
              </a:rPr>
              <a:t>฿2,884,607</a:t>
            </a:r>
          </a:p>
          <a:p>
            <a:pPr>
              <a:spcBef>
                <a:spcPts val="400"/>
              </a:spcBef>
            </a:pPr>
            <a:r>
              <a:rPr sz="1050" b="0" i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/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2500" y="1350000"/>
            <a:ext cx="2682500" cy="100000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0000" rIns="120000" tIns="110000" bIns="80000"/>
          <a:lstStyle/>
          <a:p>
            <a:pPr algn="ctr"/>
            <a:r>
              <a:rPr sz="1100" b="0" i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ต้นทุนวัตถุดิบตามสูตร</a:t>
            </a:r>
          </a:p>
          <a:p>
            <a:pPr>
              <a:spcBef>
                <a:spcPts val="400"/>
              </a:spcBef>
            </a:pPr>
            <a:r>
              <a:rPr sz="2000" b="1" i="0">
                <a:solidFill>
                  <a:srgbClr val="1F2937"/>
                </a:solidFill>
                <a:latin typeface="Tahoma"/>
                <a:ea typeface="Tahoma"/>
                <a:cs typeface="Tahoma"/>
              </a:rPr>
              <a:t>฿1,702,995</a:t>
            </a:r>
          </a:p>
          <a:p>
            <a:pPr>
              <a:spcBef>
                <a:spcPts val="400"/>
              </a:spcBef>
            </a:pPr>
            <a:r>
              <a:rPr sz="1050" b="0" i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59.0% ของยอดขาย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5000" y="1350000"/>
            <a:ext cx="2682500" cy="100000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0000" rIns="120000" tIns="110000" bIns="80000"/>
          <a:lstStyle/>
          <a:p>
            <a:pPr algn="ctr"/>
            <a:r>
              <a:rPr sz="1100" b="0" i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เปลี่ยนจากเดือนก่อน</a:t>
            </a:r>
          </a:p>
          <a:p>
            <a:pPr>
              <a:spcBef>
                <a:spcPts val="400"/>
              </a:spcBef>
            </a:pPr>
            <a:r>
              <a:rPr sz="2000" b="1" i="0">
                <a:solidFill>
                  <a:srgbClr val="1F2937"/>
                </a:solidFill>
                <a:latin typeface="Tahoma"/>
                <a:ea typeface="Tahoma"/>
                <a:cs typeface="Tahoma"/>
              </a:rPr>
              <a:t>+0.6 จุด</a:t>
            </a:r>
          </a:p>
          <a:p>
            <a:pPr>
              <a:spcBef>
                <a:spcPts val="400"/>
              </a:spcBef>
            </a:pPr>
            <a:r>
              <a:rPr sz="1050" b="0" i="0">
                <a:solidFill>
                  <a:srgbClr val="B91C1C"/>
                </a:solidFill>
                <a:latin typeface="Tahoma"/>
                <a:ea typeface="Tahoma"/>
                <a:cs typeface="Tahoma"/>
              </a:rPr>
              <a:t>58.4% เดือนก่อน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67500" y="1350000"/>
            <a:ext cx="2682500" cy="100000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0000" rIns="120000" tIns="110000" bIns="80000"/>
          <a:lstStyle/>
          <a:p>
            <a:pPr algn="ctr"/>
            <a:r>
              <a:rPr sz="1100" b="0" i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ควรสั่งซื้อ 48 รายการหลัก/เดือน</a:t>
            </a:r>
          </a:p>
          <a:p>
            <a:pPr>
              <a:spcBef>
                <a:spcPts val="400"/>
              </a:spcBef>
            </a:pPr>
            <a:r>
              <a:rPr sz="2000" b="1" i="0">
                <a:solidFill>
                  <a:srgbClr val="1F2937"/>
                </a:solidFill>
                <a:latin typeface="Tahoma"/>
                <a:ea typeface="Tahoma"/>
                <a:cs typeface="Tahoma"/>
              </a:rPr>
              <a:t>฿590,769</a:t>
            </a:r>
          </a:p>
          <a:p>
            <a:pPr>
              <a:spcBef>
                <a:spcPts val="400"/>
              </a:spcBef>
            </a:pPr>
            <a:r>
              <a:rPr sz="1050" b="0" i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48 รายการ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0000" y="2500000"/>
            <a:ext cx="5500000" cy="2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B91C1C"/>
                </a:solidFill>
                <a:latin typeface="Tahoma"/>
                <a:ea typeface="Tahoma"/>
                <a:cs typeface="Tahoma"/>
              </a:rPr>
              <a:t>เมนูต้นทุนเพิ่มขึ้นมากสุด (MoM)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00000" y="2780000"/>
          <a:ext cx="5300000" cy="120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00000"/>
                <a:gridCol w="1700000"/>
                <a:gridCol w="1500000"/>
              </a:tblGrid>
              <a:tr h="300000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เมนู</a:t>
                      </a:r>
                    </a:p>
                  </a:txBody>
                  <a:tcPr marL="70000" marR="70000" marT="35000" marB="35000" anchor="ctr">
                    <a:solidFill>
                      <a:srgbClr val="203C8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ต้นทุนเดือนนี้</a:t>
                      </a:r>
                    </a:p>
                  </a:txBody>
                  <a:tcPr marL="70000" marR="70000" marT="35000" marB="35000" anchor="ctr">
                    <a:solidFill>
                      <a:srgbClr val="203C8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เปลี่ยน</a:t>
                      </a:r>
                    </a:p>
                  </a:txBody>
                  <a:tcPr marL="70000" marR="70000" marT="35000" marB="35000" anchor="ctr">
                    <a:solidFill>
                      <a:srgbClr val="203C81"/>
                    </a:solidFill>
                  </a:tcPr>
                </a:tc>
              </a:tr>
              <a:tr h="30000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(B) แซลมอน ซาชิมิ (1 ชิ้น)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฿224,240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+฿46,851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(B) แซลมอนดอง (3 ชิ้น)</a:t>
                      </a:r>
                    </a:p>
                  </a:txBody>
                  <a:tcPr marL="70000" marR="70000" marT="35000" marB="35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฿79,966</a:t>
                      </a:r>
                    </a:p>
                  </a:txBody>
                  <a:tcPr marL="70000" marR="70000" marT="35000" marB="35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+฿14,071</a:t>
                      </a:r>
                    </a:p>
                  </a:txBody>
                  <a:tcPr marL="70000" marR="70000" marT="35000" marB="35000" anchor="ctr">
                    <a:solidFill>
                      <a:srgbClr val="F8FAFC"/>
                    </a:solidFill>
                  </a:tcPr>
                </a:tc>
              </a:tr>
              <a:tr h="30000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(B) กุ้งสด (5 ชิ้น )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฿72,952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+฿11,791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6200000" y="2500000"/>
            <a:ext cx="5500000" cy="2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047757"/>
                </a:solidFill>
                <a:latin typeface="Tahoma"/>
                <a:ea typeface="Tahoma"/>
                <a:cs typeface="Tahoma"/>
              </a:rPr>
              <a:t>เมนูต้นทุนลดลงมากสุด (MoM)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6200000" y="2780000"/>
          <a:ext cx="5300000" cy="120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00000"/>
                <a:gridCol w="1700000"/>
                <a:gridCol w="1500000"/>
              </a:tblGrid>
              <a:tr h="300000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เมนู</a:t>
                      </a:r>
                    </a:p>
                  </a:txBody>
                  <a:tcPr marL="70000" marR="70000" marT="35000" marB="35000" anchor="ctr">
                    <a:solidFill>
                      <a:srgbClr val="203C8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ต้นทุนเดือนนี้</a:t>
                      </a:r>
                    </a:p>
                  </a:txBody>
                  <a:tcPr marL="70000" marR="70000" marT="35000" marB="35000" anchor="ctr">
                    <a:solidFill>
                      <a:srgbClr val="203C8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เปลี่ยน</a:t>
                      </a:r>
                    </a:p>
                  </a:txBody>
                  <a:tcPr marL="70000" marR="70000" marT="35000" marB="35000" anchor="ctr">
                    <a:solidFill>
                      <a:srgbClr val="203C81"/>
                    </a:solidFill>
                  </a:tcPr>
                </a:tc>
              </a:tr>
              <a:tr h="30000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(B) ทุเรียน (1 เม็ด)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฿101,592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฿-10,948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(B) หอยนางรมน้ำจิ้มพอนสึ …</a:t>
                      </a:r>
                    </a:p>
                  </a:txBody>
                  <a:tcPr marL="70000" marR="70000" marT="35000" marB="35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฿9,218</a:t>
                      </a:r>
                    </a:p>
                  </a:txBody>
                  <a:tcPr marL="70000" marR="70000" marT="35000" marB="35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฿-1,549</a:t>
                      </a:r>
                    </a:p>
                  </a:txBody>
                  <a:tcPr marL="70000" marR="70000" marT="35000" marB="35000" anchor="ctr">
                    <a:solidFill>
                      <a:srgbClr val="F8FAFC"/>
                    </a:solidFill>
                  </a:tcPr>
                </a:tc>
              </a:tr>
              <a:tr h="30000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(B) สเต็กปลาแซลมอน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฿12,209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฿-1,103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600000" y="4100000"/>
            <a:ext cx="9000000" cy="2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203C81"/>
                </a:solidFill>
                <a:latin typeface="Tahoma"/>
                <a:ea typeface="Tahoma"/>
                <a:cs typeface="Tahoma"/>
              </a:rPr>
              <a:t>วัตถุดิบทั้งหมดที่ควรสั่งซื้อ (48 รายการ) — ดูสไลด์ถัดไป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0000" y="6600000"/>
            <a:ext cx="11150000" cy="2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Oshinei · ต้นทุนวัตถุดิบเทียบยอดขาย &amp; แผนสั่งซื้อวัตถุดิบหลัก 48 ชนิด  ·  46/92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0578" cy="6858000"/>
          </a:xfrm>
          <a:prstGeom prst="rect">
            <a:avLst/>
          </a:prstGeom>
          <a:solidFill>
            <a:srgbClr val="203C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0785" y="51759"/>
            <a:ext cx="1171755" cy="117175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00000" y="230000"/>
            <a:ext cx="1115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i="0" spc="15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ส่วนที่ 3 · รายละเอียดรายสาขา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00" y="420000"/>
            <a:ext cx="1115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 i="0">
                <a:solidFill>
                  <a:srgbClr val="203C81"/>
                </a:solidFill>
                <a:latin typeface="Tahoma"/>
                <a:ea typeface="Tahoma"/>
                <a:cs typeface="Tahoma"/>
              </a:rPr>
              <a:t>รังสิต — วัตถุดิบทั้งหมดที่ควรสั่งซื้อ (48 รายการ) (หน้า 1/2)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00000" y="1300000"/>
          <a:ext cx="11150000" cy="515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00000"/>
                <a:gridCol w="6200000"/>
                <a:gridCol w="2700000"/>
                <a:gridCol w="1850000"/>
              </a:tblGrid>
              <a:tr h="200000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#</a:t>
                      </a:r>
                    </a:p>
                  </a:txBody>
                  <a:tcPr marL="70000" marR="70000" marT="12000" marB="12000" anchor="ctr">
                    <a:solidFill>
                      <a:srgbClr val="203C8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วัตถุดิบ</a:t>
                      </a:r>
                    </a:p>
                  </a:txBody>
                  <a:tcPr marL="70000" marR="70000" marT="12000" marB="12000" anchor="ctr">
                    <a:solidFill>
                      <a:srgbClr val="203C8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ควรสั่ง/เดือน</a:t>
                      </a:r>
                    </a:p>
                  </a:txBody>
                  <a:tcPr marL="70000" marR="70000" marT="12000" marB="12000" anchor="ctr">
                    <a:solidFill>
                      <a:srgbClr val="203C8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มูลค่า/เดือน (฿)</a:t>
                      </a:r>
                    </a:p>
                  </a:txBody>
                  <a:tcPr marL="70000" marR="70000" marT="12000" marB="12000" anchor="ctr">
                    <a:solidFill>
                      <a:srgbClr val="203C81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เนื้อปลาทูน่า 1 ชิ้น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110 แพ็ค 1 กก. (110.00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63,800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กุ้งแกะเปลือก  5 ตัวละ 15 กรัม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19 แพ็ค 10 กก. (190.00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58,862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ไข่หอยเม่น แช่แข็ง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154 แพ็ค 100 กรัม (15.40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39,270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เนื้อใบพายออสเตรเลียสไลด์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79 แพ็ค 1 กก. (79.00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37,130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5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เนื้อเสือร้องไห้สไลด์ ( 5 ชิ้นละ 10 กรัม 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10 แพ็ค 10 กก. (100.00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35,200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6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หอยเซลล์ต้ม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61 แพ็ค 1 กก. (61.00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31,720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7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ปลาไหลอูนางิ 70 P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332 แพ็ค 120 กรัม (39.84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31,540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8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ปลาซาบะดอง 6 ชิ้น ชิ้นละ 10 กรัม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 แพ็ค 12.5 กก. (37.50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21,309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9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หอยนางรมญี่ปุ่น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1,578 ตัว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20,619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10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เนื้อออสเตรเลียแบบตัด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34 แพ็ค 1 กก. (34.00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19,176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11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หนวดปลาหมึกยักษ์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 แพ็ค 12 กก. (36.00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18,705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12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สาหร่ายโนริแผ่น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4,755 แผ่น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17,500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13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ปลาฮามาจิ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18 แพ็ค 1.85 กก. (33.30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17,388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14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ปลาเนื้อขาวหั่นเต๋า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6 แพ็ค 10 กก. (60.00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16,878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15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ไข่กุ้ง Ebiko Grade A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 แพ็ค 10 กก. (30.00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13,296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16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ปลาหมึกกระดอง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 แพ็ค 10 กก. (40.00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12,800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17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กุ้งอาเจนติน่า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14 แพ็ค 2 กก. (28.00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11,298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18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ปลาไหลอนาโงะสไลด์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66 แพ็ค 200 กรัม (13.20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10,824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19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เนื้อชาโรเล่ส์หมักเสียบไม้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1,093 ชิ้น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9,287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20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ไข่หวานหั่นเต๋า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5 แพ็ค 10 กก. (50.00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9,095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21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มันปูปรงรส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14 แพ็ค 1 กก. (14.00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8,918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22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ปลาซาบะ ½ ตัว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 แพ็ค 20 กก. (40.00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7,956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23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เบสซอฟต์ครีมรสนม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27 แพ็ค 4.4 กก. (118.80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7,332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24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ปีกไก่สำเร็จรูป 1 ชิ้น / 35 กรัม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 แพ็ค 10 กก. (20.00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6,893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25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ปลาไหลสไลด์ 9 ชิ้น ชิ้นละ 6 กรัม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 แพ็ค 7.2 กก. (7.20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6,480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26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เนื้อสไลด์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20 กก.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6,442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27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ตับปลาอังกิโมะ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758 แพ็ค 15 กรัม (11.37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6,064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28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ปลาดอลลี่แช่แข็ง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7 แพ็ค 10 กก. (70.00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5,733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29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วาซาบิ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 แพ็ค 10 กก. (10.00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4,789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30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หอยสังข์ญี่ปุ่น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17 แพ็ค 120 กรัม (2.04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4,505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00000" y="6600000"/>
            <a:ext cx="11150000" cy="2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Oshinei · ต้นทุนวัตถุดิบเทียบยอดขาย &amp; แผนสั่งซื้อวัตถุดิบหลัก 48 ชนิด  ·  47/92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0578" cy="6858000"/>
          </a:xfrm>
          <a:prstGeom prst="rect">
            <a:avLst/>
          </a:prstGeom>
          <a:solidFill>
            <a:srgbClr val="203C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0785" y="51759"/>
            <a:ext cx="1171755" cy="117175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00000" y="230000"/>
            <a:ext cx="1115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i="0" spc="15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ส่วนที่ 3 · รายละเอียดรายสาขา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00" y="420000"/>
            <a:ext cx="1115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 i="0">
                <a:solidFill>
                  <a:srgbClr val="203C81"/>
                </a:solidFill>
                <a:latin typeface="Tahoma"/>
                <a:ea typeface="Tahoma"/>
                <a:cs typeface="Tahoma"/>
              </a:rPr>
              <a:t>รังสิต — วัตถุดิบทั้งหมดที่ควรสั่งซื้อ (48 รายการ) (หน้า 2/2)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00000" y="1300000"/>
          <a:ext cx="11150000" cy="317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00000"/>
                <a:gridCol w="6200000"/>
                <a:gridCol w="2700000"/>
                <a:gridCol w="1850000"/>
              </a:tblGrid>
              <a:tr h="200000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#</a:t>
                      </a:r>
                    </a:p>
                  </a:txBody>
                  <a:tcPr marL="70000" marR="70000" marT="12000" marB="12000" anchor="ctr">
                    <a:solidFill>
                      <a:srgbClr val="203C8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วัตถุดิบ</a:t>
                      </a:r>
                    </a:p>
                  </a:txBody>
                  <a:tcPr marL="70000" marR="70000" marT="12000" marB="12000" anchor="ctr">
                    <a:solidFill>
                      <a:srgbClr val="203C8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ควรสั่ง/เดือน</a:t>
                      </a:r>
                    </a:p>
                  </a:txBody>
                  <a:tcPr marL="70000" marR="70000" marT="12000" marB="12000" anchor="ctr">
                    <a:solidFill>
                      <a:srgbClr val="203C8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มูลค่า/เดือน (฿)</a:t>
                      </a:r>
                    </a:p>
                  </a:txBody>
                  <a:tcPr marL="70000" marR="70000" marT="12000" marB="12000" anchor="ctr">
                    <a:solidFill>
                      <a:srgbClr val="203C81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31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กุ้งเทมปุระ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912 ชิ้น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4,400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32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สาเกสำหรับปรุงอาหาร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 แพ็ค 18 ลิตร (36.00 ลิตร)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4,092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33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หอยเป๋าฮื้อ ตุ๋นปรุงรส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78 ตัว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3,090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34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เบสซอฟต์ครีมทูโทน (รสมัตฉะ และรสนม)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11 แพ็ค 4.4 กก. (48.40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2,986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35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เกี๊ยวซ่าอูนิ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222 ชิ้น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2,659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36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ปลาเงินทอดกรอบ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7 แพ็ค 250 กรัม (1.75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2,212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37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เนื้อออสเตรเลี่ยนวากิว สไลด์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 แพ็ค 1 กก. (3.00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2,148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38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น้ำดองสไลต์เกาหลี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 แพ็ค 20 ลิตร (20.00 ลิตร)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2,120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39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เนื้อวากิวพับนอก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 แพ็ค 1 กก. (3.00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1,601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40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ข้าวญี่ปุ่นปรุงรส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 แพ็ค 25 กก. (25.00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1,080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41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เนื้อชาโรเล่ส์หมักเสียบไม้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121 ไม้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1,002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42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แป้งเทมปุระผง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 แพ็ค 10 กก. (10.00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770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43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สาหร่ายโนรี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 กก.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689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44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สาหร่ายวากาแมะ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 กก.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589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45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กุ้งยืด Ebi Tempura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68 ตัว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324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46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ไข่ปลาแซลมอน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 กก.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152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47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กุ้งลายเสือ (อิงราคากุ้งอาร์เจนติน่า/ตัว)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 ตัว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39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48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สาหร่ายโนริหั่นฝอย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 ชิ้น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8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00000" y="6600000"/>
            <a:ext cx="11150000" cy="2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Oshinei · ต้นทุนวัตถุดิบเทียบยอดขาย &amp; แผนสั่งซื้อวัตถุดิบหลัก 48 ชนิด  ·  48/92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0578" cy="6858000"/>
          </a:xfrm>
          <a:prstGeom prst="rect">
            <a:avLst/>
          </a:prstGeom>
          <a:solidFill>
            <a:srgbClr val="203C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0785" y="51759"/>
            <a:ext cx="1171755" cy="117175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00000" y="230000"/>
            <a:ext cx="1115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i="0" spc="15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ส่วนที่ 3 · รายละเอียดรายสาขา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00" y="420000"/>
            <a:ext cx="1115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203C81"/>
                </a:solidFill>
                <a:latin typeface="Tahoma"/>
                <a:ea typeface="Tahoma"/>
                <a:cs typeface="Tahoma"/>
              </a:rPr>
              <a:t>ร้อยเอ็ด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0000" y="950000"/>
            <a:ext cx="1115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อันดับต้นทุนอาหาร #4/28 (1=สูงสุด)  ·  อันดับมูลค่าสั่งซื้อ #12/28 (1=สูงสุด)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0000" y="1350000"/>
            <a:ext cx="2682500" cy="100000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0000" rIns="120000" tIns="110000" bIns="80000"/>
          <a:lstStyle/>
          <a:p>
            <a:pPr algn="ctr"/>
            <a:r>
              <a:rPr sz="1100" b="0" i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ยอดขาย (ไม่รวม VAT)</a:t>
            </a:r>
          </a:p>
          <a:p>
            <a:pPr>
              <a:spcBef>
                <a:spcPts val="400"/>
              </a:spcBef>
            </a:pPr>
            <a:r>
              <a:rPr sz="2000" b="1" i="0">
                <a:solidFill>
                  <a:srgbClr val="1F2937"/>
                </a:solidFill>
                <a:latin typeface="Tahoma"/>
                <a:ea typeface="Tahoma"/>
                <a:cs typeface="Tahoma"/>
              </a:rPr>
              <a:t>฿3,843,865</a:t>
            </a:r>
          </a:p>
          <a:p>
            <a:pPr>
              <a:spcBef>
                <a:spcPts val="400"/>
              </a:spcBef>
            </a:pPr>
            <a:r>
              <a:rPr sz="1050" b="0" i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/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2500" y="1350000"/>
            <a:ext cx="2682500" cy="100000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0000" rIns="120000" tIns="110000" bIns="80000"/>
          <a:lstStyle/>
          <a:p>
            <a:pPr algn="ctr"/>
            <a:r>
              <a:rPr sz="1100" b="0" i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ต้นทุนวัตถุดิบตามสูตร</a:t>
            </a:r>
          </a:p>
          <a:p>
            <a:pPr>
              <a:spcBef>
                <a:spcPts val="400"/>
              </a:spcBef>
            </a:pPr>
            <a:r>
              <a:rPr sz="2000" b="1" i="0">
                <a:solidFill>
                  <a:srgbClr val="1F2937"/>
                </a:solidFill>
                <a:latin typeface="Tahoma"/>
                <a:ea typeface="Tahoma"/>
                <a:cs typeface="Tahoma"/>
              </a:rPr>
              <a:t>฿2,728,585</a:t>
            </a:r>
          </a:p>
          <a:p>
            <a:pPr>
              <a:spcBef>
                <a:spcPts val="400"/>
              </a:spcBef>
            </a:pPr>
            <a:r>
              <a:rPr sz="1050" b="0" i="0">
                <a:solidFill>
                  <a:srgbClr val="B91C1C"/>
                </a:solidFill>
                <a:latin typeface="Tahoma"/>
                <a:ea typeface="Tahoma"/>
                <a:cs typeface="Tahoma"/>
              </a:rPr>
              <a:t>71.0% ของยอดขาย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5000" y="1350000"/>
            <a:ext cx="2682500" cy="100000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0000" rIns="120000" tIns="110000" bIns="80000"/>
          <a:lstStyle/>
          <a:p>
            <a:pPr algn="ctr"/>
            <a:r>
              <a:rPr sz="1100" b="0" i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เปลี่ยนจากเดือนก่อน</a:t>
            </a:r>
          </a:p>
          <a:p>
            <a:pPr>
              <a:spcBef>
                <a:spcPts val="400"/>
              </a:spcBef>
            </a:pPr>
            <a:r>
              <a:rPr sz="2000" b="1" i="0">
                <a:solidFill>
                  <a:srgbClr val="1F2937"/>
                </a:solidFill>
                <a:latin typeface="Tahoma"/>
                <a:ea typeface="Tahoma"/>
                <a:cs typeface="Tahoma"/>
              </a:rPr>
              <a:t>+2.7 จุด</a:t>
            </a:r>
          </a:p>
          <a:p>
            <a:pPr>
              <a:spcBef>
                <a:spcPts val="400"/>
              </a:spcBef>
            </a:pPr>
            <a:r>
              <a:rPr sz="1050" b="0" i="0">
                <a:solidFill>
                  <a:srgbClr val="B91C1C"/>
                </a:solidFill>
                <a:latin typeface="Tahoma"/>
                <a:ea typeface="Tahoma"/>
                <a:cs typeface="Tahoma"/>
              </a:rPr>
              <a:t>68.3% เดือนก่อน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67500" y="1350000"/>
            <a:ext cx="2682500" cy="100000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0000" rIns="120000" tIns="110000" bIns="80000"/>
          <a:lstStyle/>
          <a:p>
            <a:pPr algn="ctr"/>
            <a:r>
              <a:rPr sz="1100" b="0" i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ควรสั่งซื้อ 48 รายการหลัก/เดือน</a:t>
            </a:r>
          </a:p>
          <a:p>
            <a:pPr>
              <a:spcBef>
                <a:spcPts val="400"/>
              </a:spcBef>
            </a:pPr>
            <a:r>
              <a:rPr sz="2000" b="1" i="0">
                <a:solidFill>
                  <a:srgbClr val="1F2937"/>
                </a:solidFill>
                <a:latin typeface="Tahoma"/>
                <a:ea typeface="Tahoma"/>
                <a:cs typeface="Tahoma"/>
              </a:rPr>
              <a:t>฿644,560</a:t>
            </a:r>
          </a:p>
          <a:p>
            <a:pPr>
              <a:spcBef>
                <a:spcPts val="400"/>
              </a:spcBef>
            </a:pPr>
            <a:r>
              <a:rPr sz="1050" b="0" i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48 รายการ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0000" y="2500000"/>
            <a:ext cx="5500000" cy="2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B91C1C"/>
                </a:solidFill>
                <a:latin typeface="Tahoma"/>
                <a:ea typeface="Tahoma"/>
                <a:cs typeface="Tahoma"/>
              </a:rPr>
              <a:t>เมนูต้นทุนเพิ่มขึ้นมากสุด (MoM)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00000" y="2780000"/>
          <a:ext cx="5300000" cy="120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00000"/>
                <a:gridCol w="1700000"/>
                <a:gridCol w="1500000"/>
              </a:tblGrid>
              <a:tr h="300000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เมนู</a:t>
                      </a:r>
                    </a:p>
                  </a:txBody>
                  <a:tcPr marL="70000" marR="70000" marT="35000" marB="35000" anchor="ctr">
                    <a:solidFill>
                      <a:srgbClr val="203C8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ต้นทุนเดือนนี้</a:t>
                      </a:r>
                    </a:p>
                  </a:txBody>
                  <a:tcPr marL="70000" marR="70000" marT="35000" marB="35000" anchor="ctr">
                    <a:solidFill>
                      <a:srgbClr val="203C8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เปลี่ยน</a:t>
                      </a:r>
                    </a:p>
                  </a:txBody>
                  <a:tcPr marL="70000" marR="70000" marT="35000" marB="35000" anchor="ctr">
                    <a:solidFill>
                      <a:srgbClr val="203C81"/>
                    </a:solidFill>
                  </a:tcPr>
                </a:tc>
              </a:tr>
              <a:tr h="30000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(B) ทุเรียน (1 เม็ด)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฿383,928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+฿94,520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(B) แซลมอน ซาชิมิ (1 ชิ้น)</a:t>
                      </a:r>
                    </a:p>
                  </a:txBody>
                  <a:tcPr marL="70000" marR="70000" marT="35000" marB="35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฿461,686</a:t>
                      </a:r>
                    </a:p>
                  </a:txBody>
                  <a:tcPr marL="70000" marR="70000" marT="35000" marB="35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+฿7,514</a:t>
                      </a:r>
                    </a:p>
                  </a:txBody>
                  <a:tcPr marL="70000" marR="70000" marT="35000" marB="35000" anchor="ctr">
                    <a:solidFill>
                      <a:srgbClr val="F8FAFC"/>
                    </a:solidFill>
                  </a:tcPr>
                </a:tc>
              </a:tr>
              <a:tr h="30000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(B) ยำแซลมอนน้ำปลาร้า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฿132,546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+฿7,436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6200000" y="2500000"/>
            <a:ext cx="5500000" cy="2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047757"/>
                </a:solidFill>
                <a:latin typeface="Tahoma"/>
                <a:ea typeface="Tahoma"/>
                <a:cs typeface="Tahoma"/>
              </a:rPr>
              <a:t>เมนูต้นทุนลดลงมากสุด (MoM)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6200000" y="2780000"/>
          <a:ext cx="5300000" cy="120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00000"/>
                <a:gridCol w="1700000"/>
                <a:gridCol w="1500000"/>
              </a:tblGrid>
              <a:tr h="300000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เมนู</a:t>
                      </a:r>
                    </a:p>
                  </a:txBody>
                  <a:tcPr marL="70000" marR="70000" marT="35000" marB="35000" anchor="ctr">
                    <a:solidFill>
                      <a:srgbClr val="203C8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ต้นทุนเดือนนี้</a:t>
                      </a:r>
                    </a:p>
                  </a:txBody>
                  <a:tcPr marL="70000" marR="70000" marT="35000" marB="35000" anchor="ctr">
                    <a:solidFill>
                      <a:srgbClr val="203C8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เปลี่ยน</a:t>
                      </a:r>
                    </a:p>
                  </a:txBody>
                  <a:tcPr marL="70000" marR="70000" marT="35000" marB="35000" anchor="ctr">
                    <a:solidFill>
                      <a:srgbClr val="203C81"/>
                    </a:solidFill>
                  </a:tcPr>
                </a:tc>
              </a:tr>
              <a:tr h="30000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(B) กุ้งอาเจนติน่าซาชิมิ …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฿41,210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฿-21,736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(B) หอยนางรมเสิร์ฟพร้อมน้…</a:t>
                      </a:r>
                    </a:p>
                  </a:txBody>
                  <a:tcPr marL="70000" marR="70000" marT="35000" marB="35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฿23,714</a:t>
                      </a:r>
                    </a:p>
                  </a:txBody>
                  <a:tcPr marL="70000" marR="70000" marT="35000" marB="35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฿-17,797</a:t>
                      </a:r>
                    </a:p>
                  </a:txBody>
                  <a:tcPr marL="70000" marR="70000" marT="35000" marB="35000" anchor="ctr">
                    <a:solidFill>
                      <a:srgbClr val="F8FAFC"/>
                    </a:solidFill>
                  </a:tcPr>
                </a:tc>
              </a:tr>
              <a:tr h="30000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(B) หอยเชลล์ต้ม ฮอกไกโด (…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฿51,081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฿-12,341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600000" y="4100000"/>
            <a:ext cx="9000000" cy="2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203C81"/>
                </a:solidFill>
                <a:latin typeface="Tahoma"/>
                <a:ea typeface="Tahoma"/>
                <a:cs typeface="Tahoma"/>
              </a:rPr>
              <a:t>วัตถุดิบทั้งหมดที่ควรสั่งซื้อ (48 รายการ) — ดูสไลด์ถัดไป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0000" y="6600000"/>
            <a:ext cx="11150000" cy="2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Oshinei · ต้นทุนวัตถุดิบเทียบยอดขาย &amp; แผนสั่งซื้อวัตถุดิบหลัก 48 ชนิด  ·  49/92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0578" cy="6858000"/>
          </a:xfrm>
          <a:prstGeom prst="rect">
            <a:avLst/>
          </a:prstGeom>
          <a:solidFill>
            <a:srgbClr val="203C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0785" y="51759"/>
            <a:ext cx="1171755" cy="117175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00000" y="230000"/>
            <a:ext cx="1115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i="0" spc="15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ส่วนที่ 3 · รายละเอียดรายสาขา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00" y="420000"/>
            <a:ext cx="1115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 i="0">
                <a:solidFill>
                  <a:srgbClr val="203C81"/>
                </a:solidFill>
                <a:latin typeface="Tahoma"/>
                <a:ea typeface="Tahoma"/>
                <a:cs typeface="Tahoma"/>
              </a:rPr>
              <a:t>ร้อยเอ็ด — วัตถุดิบทั้งหมดที่ควรสั่งซื้อ (48 รายการ) (หน้า 1/2)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00000" y="1300000"/>
          <a:ext cx="11150000" cy="515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00000"/>
                <a:gridCol w="6200000"/>
                <a:gridCol w="2700000"/>
                <a:gridCol w="1850000"/>
              </a:tblGrid>
              <a:tr h="200000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#</a:t>
                      </a:r>
                    </a:p>
                  </a:txBody>
                  <a:tcPr marL="70000" marR="70000" marT="12000" marB="12000" anchor="ctr">
                    <a:solidFill>
                      <a:srgbClr val="203C8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วัตถุดิบ</a:t>
                      </a:r>
                    </a:p>
                  </a:txBody>
                  <a:tcPr marL="70000" marR="70000" marT="12000" marB="12000" anchor="ctr">
                    <a:solidFill>
                      <a:srgbClr val="203C8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ควรสั่ง/เดือน</a:t>
                      </a:r>
                    </a:p>
                  </a:txBody>
                  <a:tcPr marL="70000" marR="70000" marT="12000" marB="12000" anchor="ctr">
                    <a:solidFill>
                      <a:srgbClr val="203C8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มูลค่า/เดือน (฿)</a:t>
                      </a:r>
                    </a:p>
                  </a:txBody>
                  <a:tcPr marL="70000" marR="70000" marT="12000" marB="12000" anchor="ctr">
                    <a:solidFill>
                      <a:srgbClr val="203C81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กุ้งแกะเปลือก  5 ตัวละ 15 กรัม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44 แพ็ค 10 กก. (440.00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136,312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เนื้อปลาทูน่า 1 ชิ้น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105 แพ็ค 1 กก. (105.00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60,900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เนื้อเสือร้องไห้สไลด์ ( 5 ชิ้นละ 10 กรัม 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11 แพ็ค 10 กก. (110.00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38,720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เนื้อใบพายออสเตรเลียสไลด์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82 แพ็ค 1 กก. (82.00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38,540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5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หอยเซลล์ต้ม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65 แพ็ค 1 กก. (65.00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33,800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6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หนวดปลาหมึกยักษ์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5 แพ็ค 12 กก. (60.00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31,175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7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ปลาซาบะดอง 6 ชิ้น ชิ้นละ 10 กรัม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 แพ็ค 12.5 กก. (50.00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28,412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8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สาหร่ายโนริแผ่น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7,564 แผ่น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27,666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9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ปลาเนื้อขาวหั่นเต๋า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7 แพ็ค 10 กก. (70.00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19,691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10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ไข่กุ้ง Ebiko Grade A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 แพ็ค 10 กก. (40.00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17,728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11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หอยนางรมญี่ปุ่น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1,349 ตัว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17,621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12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ปลาไหลอูนางิ 70 P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183 แพ็ค 120 กรัม (21.96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17,385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13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ไข่หอยเม่น แช่แข็ง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65 แพ็ค 100 กรัม (6.50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16,575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14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ปลาไหลอนาโงะสไลด์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86 แพ็ค 200 กรัม (17.20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14,104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15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ปลาซาบะ ½ ตัว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 แพ็ค 20 กก. (60.00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11,934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16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ไข่หวานหั่นเต๋า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6 แพ็ค 10 กก. (60.00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10,914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17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กุ้งอาเจนติน่า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13 แพ็ค 2 กก. (26.00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10,491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18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มันปูปรงรส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15 แพ็ค 1 กก. (15.00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9,555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19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ปลาดอลลี่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10 แพ็ค 10 กก. (100.00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8,190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20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เบสซอฟต์ครีมทูโทน (รสมัตฉะ และรสนม)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30 แพ็ค 4.4 กก. (132.00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8,142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21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เนื้อออสเตรเลียแบบตัด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14 แพ็ค 1 กก. (14.00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7,896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22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ปลาฮามาจิ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8 แพ็ค 1.85 กก. (14.80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7,728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23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ปีกไก่สำเร็จรูป 1 ชิ้น / 35 กรัม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 แพ็ค 10 กก. (20.00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6,893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24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ตับปลาอังกิโมะ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847 แพ็ค 15 กรัม (12.71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6,776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25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เนื้อสไลด์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20 กก.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6,507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26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ปลาไหลสไลด์ 9 ชิ้น ชิ้นละ 6 กรัม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 แพ็ค 7.2 กก. (7.20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6,480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27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กุ้งเทมปุระ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1,303 ชิ้น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6,290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28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ปลาเงินทอดกรอบ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18 แพ็ค 250 กรัม (4.50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5,687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29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วาซาบิ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 แพ็ค 10 กก. (10.00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4,789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30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เบสซอฟต์ครีมรสนม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17 แพ็ค 4.4 กก. (74.80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4,616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00000" y="6600000"/>
            <a:ext cx="11150000" cy="2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Oshinei · ต้นทุนวัตถุดิบเทียบยอดขาย &amp; แผนสั่งซื้อวัตถุดิบหลัก 48 ชนิด  ·  50/92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0578" cy="6858000"/>
          </a:xfrm>
          <a:prstGeom prst="rect">
            <a:avLst/>
          </a:prstGeom>
          <a:solidFill>
            <a:srgbClr val="203C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0785" y="51759"/>
            <a:ext cx="1171755" cy="117175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00000" y="230000"/>
            <a:ext cx="1115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i="0" spc="15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ส่วนที่ 3 · รายละเอียดรายสาขา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00" y="420000"/>
            <a:ext cx="1115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 i="0">
                <a:solidFill>
                  <a:srgbClr val="203C81"/>
                </a:solidFill>
                <a:latin typeface="Tahoma"/>
                <a:ea typeface="Tahoma"/>
                <a:cs typeface="Tahoma"/>
              </a:rPr>
              <a:t>ร้อยเอ็ด — วัตถุดิบทั้งหมดที่ควรสั่งซื้อ (48 รายการ) (หน้า 2/2)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00000" y="1300000"/>
          <a:ext cx="11150000" cy="317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00000"/>
                <a:gridCol w="6200000"/>
                <a:gridCol w="2700000"/>
                <a:gridCol w="1850000"/>
              </a:tblGrid>
              <a:tr h="200000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#</a:t>
                      </a:r>
                    </a:p>
                  </a:txBody>
                  <a:tcPr marL="70000" marR="70000" marT="12000" marB="12000" anchor="ctr">
                    <a:solidFill>
                      <a:srgbClr val="203C8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วัตถุดิบ</a:t>
                      </a:r>
                    </a:p>
                  </a:txBody>
                  <a:tcPr marL="70000" marR="70000" marT="12000" marB="12000" anchor="ctr">
                    <a:solidFill>
                      <a:srgbClr val="203C8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ควรสั่ง/เดือน</a:t>
                      </a:r>
                    </a:p>
                  </a:txBody>
                  <a:tcPr marL="70000" marR="70000" marT="12000" marB="12000" anchor="ctr">
                    <a:solidFill>
                      <a:srgbClr val="203C8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มูลค่า/เดือน (฿)</a:t>
                      </a:r>
                    </a:p>
                  </a:txBody>
                  <a:tcPr marL="70000" marR="70000" marT="12000" marB="12000" anchor="ctr">
                    <a:solidFill>
                      <a:srgbClr val="203C81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31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น้ำดองสไลต์เกาหลี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 แพ็ค 20 ลิตร (40.00 ลิตร)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4,240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32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สาเกสำหรับปรุงอาหาร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 แพ็ค 18 ลิตร (36.00 ลิตร)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4,092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33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เบสซอฟต์ครีมรสมัตฉะ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13 แพ็ค 4.4 กก. (57.20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3,527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34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ปลาหมึกกระดอง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 แพ็ค 10 กก. (10.00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3,200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35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มิริน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 แพ็ค 20 ลิตร (20.00 ลิตร)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1,648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36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เนื้อออสเตรเลียสไลด์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 แพ็ค 1 กก. (2.00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1,432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37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ข้าวญี่ปุ่นปรุงรส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 แพ็ค 25 กก. (25.00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1,080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38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สาหร่ายโนริหั่นฝอย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 กก.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877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39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แป้งเทมปุระผง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 แพ็ค 10 กก. (10.00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770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40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สาหร่ายวากาแมะ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 กก.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700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41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เนื้อวากิวพับนอก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 แพ็ค 1 กก. (1.00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534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42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กุ้งยืด Ebi Tempura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70 ตัว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336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43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เกี๊ยวซ่าอูนิ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23 ชิ้น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269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44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ไข่ปลาแซลมอน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 กก.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154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45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กุ้งลายเสือ (อิงราคากุ้งอาร์เจนติน่า/ตัว)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5 ตัว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78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46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ปลาฮามาจิ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 กก.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49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47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หอยนางรมญี่ปุ่น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 ชิ้น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46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48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สาหร่ายโนริหั่นฝอย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 ชิ้น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9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00000" y="6600000"/>
            <a:ext cx="11150000" cy="2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Oshinei · ต้นทุนวัตถุดิบเทียบยอดขาย &amp; แผนสั่งซื้อวัตถุดิบหลัก 48 ชนิด  ·  51/92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0578" cy="6858000"/>
          </a:xfrm>
          <a:prstGeom prst="rect">
            <a:avLst/>
          </a:prstGeom>
          <a:solidFill>
            <a:srgbClr val="203C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0785" y="51759"/>
            <a:ext cx="1171755" cy="117175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00000" y="230000"/>
            <a:ext cx="1115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i="0" spc="15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ส่วนที่ 3 · รายละเอียดรายสาขา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00" y="420000"/>
            <a:ext cx="1115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203C81"/>
                </a:solidFill>
                <a:latin typeface="Tahoma"/>
                <a:ea typeface="Tahoma"/>
                <a:cs typeface="Tahoma"/>
              </a:rPr>
              <a:t>ลพบุรี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0000" y="950000"/>
            <a:ext cx="1115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อันดับต้นทุนอาหาร #5/28 (1=สูงสุด)  ·  อันดับมูลค่าสั่งซื้อ #10/28 (1=สูงสุด)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0000" y="1350000"/>
            <a:ext cx="2682500" cy="100000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0000" rIns="120000" tIns="110000" bIns="80000"/>
          <a:lstStyle/>
          <a:p>
            <a:pPr algn="ctr"/>
            <a:r>
              <a:rPr sz="1100" b="0" i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ยอดขาย (ไม่รวม VAT)</a:t>
            </a:r>
          </a:p>
          <a:p>
            <a:pPr>
              <a:spcBef>
                <a:spcPts val="400"/>
              </a:spcBef>
            </a:pPr>
            <a:r>
              <a:rPr sz="2000" b="1" i="0">
                <a:solidFill>
                  <a:srgbClr val="1F2937"/>
                </a:solidFill>
                <a:latin typeface="Tahoma"/>
                <a:ea typeface="Tahoma"/>
                <a:cs typeface="Tahoma"/>
              </a:rPr>
              <a:t>฿3,605,529</a:t>
            </a:r>
          </a:p>
          <a:p>
            <a:pPr>
              <a:spcBef>
                <a:spcPts val="400"/>
              </a:spcBef>
            </a:pPr>
            <a:r>
              <a:rPr sz="1050" b="0" i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/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2500" y="1350000"/>
            <a:ext cx="2682500" cy="100000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0000" rIns="120000" tIns="110000" bIns="80000"/>
          <a:lstStyle/>
          <a:p>
            <a:pPr algn="ctr"/>
            <a:r>
              <a:rPr sz="1100" b="0" i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ต้นทุนวัตถุดิบตามสูตร</a:t>
            </a:r>
          </a:p>
          <a:p>
            <a:pPr>
              <a:spcBef>
                <a:spcPts val="400"/>
              </a:spcBef>
            </a:pPr>
            <a:r>
              <a:rPr sz="2000" b="1" i="0">
                <a:solidFill>
                  <a:srgbClr val="1F2937"/>
                </a:solidFill>
                <a:latin typeface="Tahoma"/>
                <a:ea typeface="Tahoma"/>
                <a:cs typeface="Tahoma"/>
              </a:rPr>
              <a:t>฿2,511,345</a:t>
            </a:r>
          </a:p>
          <a:p>
            <a:pPr>
              <a:spcBef>
                <a:spcPts val="400"/>
              </a:spcBef>
            </a:pPr>
            <a:r>
              <a:rPr sz="1050" b="0" i="0">
                <a:solidFill>
                  <a:srgbClr val="B91C1C"/>
                </a:solidFill>
                <a:latin typeface="Tahoma"/>
                <a:ea typeface="Tahoma"/>
                <a:cs typeface="Tahoma"/>
              </a:rPr>
              <a:t>69.7% ของยอดขาย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5000" y="1350000"/>
            <a:ext cx="2682500" cy="100000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0000" rIns="120000" tIns="110000" bIns="80000"/>
          <a:lstStyle/>
          <a:p>
            <a:pPr algn="ctr"/>
            <a:r>
              <a:rPr sz="1100" b="0" i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เปลี่ยนจากเดือนก่อน</a:t>
            </a:r>
          </a:p>
          <a:p>
            <a:pPr>
              <a:spcBef>
                <a:spcPts val="400"/>
              </a:spcBef>
            </a:pPr>
            <a:r>
              <a:rPr sz="2000" b="1" i="0">
                <a:solidFill>
                  <a:srgbClr val="1F2937"/>
                </a:solidFill>
                <a:latin typeface="Tahoma"/>
                <a:ea typeface="Tahoma"/>
                <a:cs typeface="Tahoma"/>
              </a:rPr>
              <a:t>+1.8 จุด</a:t>
            </a:r>
          </a:p>
          <a:p>
            <a:pPr>
              <a:spcBef>
                <a:spcPts val="400"/>
              </a:spcBef>
            </a:pPr>
            <a:r>
              <a:rPr sz="1050" b="0" i="0">
                <a:solidFill>
                  <a:srgbClr val="B91C1C"/>
                </a:solidFill>
                <a:latin typeface="Tahoma"/>
                <a:ea typeface="Tahoma"/>
                <a:cs typeface="Tahoma"/>
              </a:rPr>
              <a:t>67.8% เดือนก่อน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67500" y="1350000"/>
            <a:ext cx="2682500" cy="100000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0000" rIns="120000" tIns="110000" bIns="80000"/>
          <a:lstStyle/>
          <a:p>
            <a:pPr algn="ctr"/>
            <a:r>
              <a:rPr sz="1100" b="0" i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ควรสั่งซื้อ 48 รายการหลัก/เดือน</a:t>
            </a:r>
          </a:p>
          <a:p>
            <a:pPr>
              <a:spcBef>
                <a:spcPts val="400"/>
              </a:spcBef>
            </a:pPr>
            <a:r>
              <a:rPr sz="2000" b="1" i="0">
                <a:solidFill>
                  <a:srgbClr val="1F2937"/>
                </a:solidFill>
                <a:latin typeface="Tahoma"/>
                <a:ea typeface="Tahoma"/>
                <a:cs typeface="Tahoma"/>
              </a:rPr>
              <a:t>฿748,761</a:t>
            </a:r>
          </a:p>
          <a:p>
            <a:pPr>
              <a:spcBef>
                <a:spcPts val="400"/>
              </a:spcBef>
            </a:pPr>
            <a:r>
              <a:rPr sz="1050" b="0" i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51 รายการ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0000" y="2500000"/>
            <a:ext cx="5500000" cy="2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B91C1C"/>
                </a:solidFill>
                <a:latin typeface="Tahoma"/>
                <a:ea typeface="Tahoma"/>
                <a:cs typeface="Tahoma"/>
              </a:rPr>
              <a:t>เมนูต้นทุนเพิ่มขึ้นมากสุด (MoM)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00000" y="2780000"/>
          <a:ext cx="5300000" cy="120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00000"/>
                <a:gridCol w="1700000"/>
                <a:gridCol w="1500000"/>
              </a:tblGrid>
              <a:tr h="300000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เมนู</a:t>
                      </a:r>
                    </a:p>
                  </a:txBody>
                  <a:tcPr marL="70000" marR="70000" marT="35000" marB="35000" anchor="ctr">
                    <a:solidFill>
                      <a:srgbClr val="203C8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ต้นทุนเดือนนี้</a:t>
                      </a:r>
                    </a:p>
                  </a:txBody>
                  <a:tcPr marL="70000" marR="70000" marT="35000" marB="35000" anchor="ctr">
                    <a:solidFill>
                      <a:srgbClr val="203C8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เปลี่ยน</a:t>
                      </a:r>
                    </a:p>
                  </a:txBody>
                  <a:tcPr marL="70000" marR="70000" marT="35000" marB="35000" anchor="ctr">
                    <a:solidFill>
                      <a:srgbClr val="203C81"/>
                    </a:solidFill>
                  </a:tcPr>
                </a:tc>
              </a:tr>
              <a:tr h="30000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(B) ทุเรียน (1 เม็ด)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฿316,132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+฿108,596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(B) แซลมอน ซาชิมิ (1 ชิ้น)</a:t>
                      </a:r>
                    </a:p>
                  </a:txBody>
                  <a:tcPr marL="70000" marR="70000" marT="35000" marB="35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฿417,862</a:t>
                      </a:r>
                    </a:p>
                  </a:txBody>
                  <a:tcPr marL="70000" marR="70000" marT="35000" marB="35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+฿50,556</a:t>
                      </a:r>
                    </a:p>
                  </a:txBody>
                  <a:tcPr marL="70000" marR="70000" marT="35000" marB="35000" anchor="ctr">
                    <a:solidFill>
                      <a:srgbClr val="F8FAFC"/>
                    </a:solidFill>
                  </a:tcPr>
                </a:tc>
              </a:tr>
              <a:tr h="30000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(B) ชุดปลาดิบรวม 4 อย่าง …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฿81,181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+฿18,283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6200000" y="2500000"/>
            <a:ext cx="5500000" cy="2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047757"/>
                </a:solidFill>
                <a:latin typeface="Tahoma"/>
                <a:ea typeface="Tahoma"/>
                <a:cs typeface="Tahoma"/>
              </a:rPr>
              <a:t>เมนูต้นทุนลดลงมากสุด (MoM)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6200000" y="2780000"/>
          <a:ext cx="5300000" cy="120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00000"/>
                <a:gridCol w="1700000"/>
                <a:gridCol w="1500000"/>
              </a:tblGrid>
              <a:tr h="300000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เมนู</a:t>
                      </a:r>
                    </a:p>
                  </a:txBody>
                  <a:tcPr marL="70000" marR="70000" marT="35000" marB="35000" anchor="ctr">
                    <a:solidFill>
                      <a:srgbClr val="203C8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ต้นทุนเดือนนี้</a:t>
                      </a:r>
                    </a:p>
                  </a:txBody>
                  <a:tcPr marL="70000" marR="70000" marT="35000" marB="35000" anchor="ctr">
                    <a:solidFill>
                      <a:srgbClr val="203C8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เปลี่ยน</a:t>
                      </a:r>
                    </a:p>
                  </a:txBody>
                  <a:tcPr marL="70000" marR="70000" marT="35000" marB="35000" anchor="ctr">
                    <a:solidFill>
                      <a:srgbClr val="203C81"/>
                    </a:solidFill>
                  </a:tcPr>
                </a:tc>
              </a:tr>
              <a:tr h="30000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(B) หอยนางรมเสิร์ฟพร้อมน้…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฿24,522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฿-17,995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(B) กุ้งอาเจนติน่าซาชิมิ …</a:t>
                      </a:r>
                    </a:p>
                  </a:txBody>
                  <a:tcPr marL="70000" marR="70000" marT="35000" marB="35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฿36,932</a:t>
                      </a:r>
                    </a:p>
                  </a:txBody>
                  <a:tcPr marL="70000" marR="70000" marT="35000" marB="35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฿-16,862</a:t>
                      </a:r>
                    </a:p>
                  </a:txBody>
                  <a:tcPr marL="70000" marR="70000" marT="35000" marB="35000" anchor="ctr">
                    <a:solidFill>
                      <a:srgbClr val="F8FAFC"/>
                    </a:solidFill>
                  </a:tcPr>
                </a:tc>
              </a:tr>
              <a:tr h="30000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(B) ปลาฮามาจิ ซาชิมิ (1ชิ…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฿28,153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฿-12,330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600000" y="4100000"/>
            <a:ext cx="9000000" cy="2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203C81"/>
                </a:solidFill>
                <a:latin typeface="Tahoma"/>
                <a:ea typeface="Tahoma"/>
                <a:cs typeface="Tahoma"/>
              </a:rPr>
              <a:t>วัตถุดิบทั้งหมดที่ควรสั่งซื้อ (51 รายการ) — ดูสไลด์ถัดไป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0000" y="6600000"/>
            <a:ext cx="11150000" cy="2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Oshinei · ต้นทุนวัตถุดิบเทียบยอดขาย &amp; แผนสั่งซื้อวัตถุดิบหลัก 48 ชนิด  ·  52/92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0578" cy="6858000"/>
          </a:xfrm>
          <a:prstGeom prst="rect">
            <a:avLst/>
          </a:prstGeom>
          <a:solidFill>
            <a:srgbClr val="203C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0785" y="51759"/>
            <a:ext cx="1171755" cy="117175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00000" y="230000"/>
            <a:ext cx="1115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i="0" spc="15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ส่วนที่ 3 · รายละเอียดรายสาขา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00" y="420000"/>
            <a:ext cx="1115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 i="0">
                <a:solidFill>
                  <a:srgbClr val="203C81"/>
                </a:solidFill>
                <a:latin typeface="Tahoma"/>
                <a:ea typeface="Tahoma"/>
                <a:cs typeface="Tahoma"/>
              </a:rPr>
              <a:t>ลพบุรี — วัตถุดิบทั้งหมดที่ควรสั่งซื้อ (51 รายการ) (หน้า 1/2)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00000" y="1300000"/>
          <a:ext cx="11150000" cy="515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00000"/>
                <a:gridCol w="6200000"/>
                <a:gridCol w="2700000"/>
                <a:gridCol w="1850000"/>
              </a:tblGrid>
              <a:tr h="200000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#</a:t>
                      </a:r>
                    </a:p>
                  </a:txBody>
                  <a:tcPr marL="70000" marR="70000" marT="12000" marB="12000" anchor="ctr">
                    <a:solidFill>
                      <a:srgbClr val="203C8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วัตถุดิบ</a:t>
                      </a:r>
                    </a:p>
                  </a:txBody>
                  <a:tcPr marL="70000" marR="70000" marT="12000" marB="12000" anchor="ctr">
                    <a:solidFill>
                      <a:srgbClr val="203C8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ควรสั่ง/เดือน</a:t>
                      </a:r>
                    </a:p>
                  </a:txBody>
                  <a:tcPr marL="70000" marR="70000" marT="12000" marB="12000" anchor="ctr">
                    <a:solidFill>
                      <a:srgbClr val="203C8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มูลค่า/เดือน (฿)</a:t>
                      </a:r>
                    </a:p>
                  </a:txBody>
                  <a:tcPr marL="70000" marR="70000" marT="12000" marB="12000" anchor="ctr">
                    <a:solidFill>
                      <a:srgbClr val="203C81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กุ้งแกะเปลือก  5 ตัวละ 15 กรัม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34 แพ็ค 10 กก. (340.00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105,332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เนื้อปลาทูน่า 1 ชิ้น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140 แพ็ค 1 กก. (140.00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81,200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เนื้อใบพายออสเตรเลียสไลด์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100 แพ็ค 1 กก. (100.00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47,000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เนื้อเสือร้องไห้สไลด์ ( 5 ชิ้นละ 10 กรัม 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13 แพ็ค 10 กก. (130.00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45,760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5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หอยเซลล์ต้ม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79 แพ็ค 1 กก. (79.00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41,080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6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ปลาไหลอูนางิ 70 P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337 แพ็ค 120 กรัม (40.44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32,015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7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ปลาซาบะดอง 6 ชิ้น ชิ้นละ 10 กรัม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 แพ็ค 12.5 กก. (50.00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28,412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8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หนวดปลาหมึกยักษ์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 แพ็ค 12 กก. (48.00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24,940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9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ปลาเนื้อขาวหั่นเต๋า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8 แพ็ค 10 กก. (80.00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22,504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10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ส่าหร่ายแผ่น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6,117 แผ่น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22,265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11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หอยนางรมญี่ปุ่น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1,626 ตัว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21,241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12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ไข่หอยเม่น แช่แข็ง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71 แพ็ค 100 กรัม (7.10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18,105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13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ไข่กุ้ง Ebiko Grade A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 แพ็ค 10 กก. (40.00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17,728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14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ปลาหมึกกระดอง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5 แพ็ค 10 กก. (50.00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16,000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15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ปลาซาบะ ½ ตัว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 แพ็ค 20 กก. (80.00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15,912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16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ปลาไหลอนาโงะสไลด์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95 แพ็ค 200 กรัม (19.00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15,580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17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เนื้อชาโรเล่ส์หมักเสียบไม้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1,719 ชิ้น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14,606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18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ปลาฮามาจิ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15 แพ็ค 1.85 กก. (27.75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14,490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19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มันปูปรงรส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22 แพ็ค 1 กก. (22.00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14,014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20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ปลาไหลสไลด์ 9 ชิ้น ชิ้นละ 6 กรัม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 แพ็ค 7.2 กก. (14.40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12,960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21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ไข่หวานหั่นเต๋า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7 แพ็ค 10 กก. (70.00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12,733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22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เนื้อออสเตรเลียแบบตัด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19 แพ็ค 1 กก. (19.00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10,716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23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ปีกไก่สำเร็จรูป 1 ชิ้น / 35 กรัม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 แพ็ค 10 กก. (30.00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10,339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24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ตับปลาอังกิโมะ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1,173 แพ็ค 15 กรัม (17.59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9,384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25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เนื้อสไลด์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28 กก.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9,137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26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กุ้งอาเจนติน่า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11 แพ็ค 2 กก. (22.00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8,877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27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เบสซอฟต์ครีมทูโทน (รสมัตฉะ และรสนม)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30 แพ็ค 4.4 กก. (132.00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8,142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28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ปลาดอลลี่ ½ ตัว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9 แพ็ค 10 กก. (90.00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7,371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29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กุ้งเทมปุระ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1,392 ชิ้น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6,723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30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หอยสังข์ญี่ปุ่น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24 แพ็ค 120 กรัม (2.88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6,360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00000" y="6600000"/>
            <a:ext cx="11150000" cy="2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Oshinei · ต้นทุนวัตถุดิบเทียบยอดขาย &amp; แผนสั่งซื้อวัตถุดิบหลัก 48 ชนิด  ·  53/92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0578" cy="6858000"/>
          </a:xfrm>
          <a:prstGeom prst="rect">
            <a:avLst/>
          </a:prstGeom>
          <a:solidFill>
            <a:srgbClr val="203C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0785" y="51759"/>
            <a:ext cx="1171755" cy="117175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00000" y="230000"/>
            <a:ext cx="1115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i="0" spc="15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ส่วนที่ 3 · รายละเอียดรายสาขา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00" y="420000"/>
            <a:ext cx="1115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 i="0">
                <a:solidFill>
                  <a:srgbClr val="203C81"/>
                </a:solidFill>
                <a:latin typeface="Tahoma"/>
                <a:ea typeface="Tahoma"/>
                <a:cs typeface="Tahoma"/>
              </a:rPr>
              <a:t>ลพบุรี — วัตถุดิบทั้งหมดที่ควรสั่งซื้อ (51 รายการ) (หน้า 2/2)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00000" y="1300000"/>
          <a:ext cx="11150000" cy="3665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00000"/>
                <a:gridCol w="6200000"/>
                <a:gridCol w="2700000"/>
                <a:gridCol w="1850000"/>
              </a:tblGrid>
              <a:tr h="200000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#</a:t>
                      </a:r>
                    </a:p>
                  </a:txBody>
                  <a:tcPr marL="70000" marR="70000" marT="12000" marB="12000" anchor="ctr">
                    <a:solidFill>
                      <a:srgbClr val="203C8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วัตถุดิบ</a:t>
                      </a:r>
                    </a:p>
                  </a:txBody>
                  <a:tcPr marL="70000" marR="70000" marT="12000" marB="12000" anchor="ctr">
                    <a:solidFill>
                      <a:srgbClr val="203C8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ควรสั่ง/เดือน</a:t>
                      </a:r>
                    </a:p>
                  </a:txBody>
                  <a:tcPr marL="70000" marR="70000" marT="12000" marB="12000" anchor="ctr">
                    <a:solidFill>
                      <a:srgbClr val="203C8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มูลค่า/เดือน (฿)</a:t>
                      </a:r>
                    </a:p>
                  </a:txBody>
                  <a:tcPr marL="70000" marR="70000" marT="12000" marB="12000" anchor="ctr">
                    <a:solidFill>
                      <a:srgbClr val="203C81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31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เบสซอฟต์ครีมรสนม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18 แพ็ค 4.4 กก. (79.20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4,888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32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วาซาบิ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 แพ็ค 10 กก. (10.00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4,789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33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ปลาเงินทอดกรอบ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14 แพ็ค 250 กรัม (3.50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4,423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34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เบสซอฟต์ครีมรสมัตฉะ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16 แพ็ค 4.4 กก. (70.40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4,341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35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น้ำดองสไลต์เกาหลี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 แพ็ค 20 ลิตร (40.00 ลิตร)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4,240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36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สาเกสำหรับปรุงอาหาร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 แพ็ค 18 ลิตร (36.00 ลิตร)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4,092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37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หอยเป๋าฮื้อ ตุ๋นปรุงรส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96 ตัว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3,792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38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เนื้อชาโรเล่ส์หมักเสียบไม้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399 ไม้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3,318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39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เกี๊ยวซ่าอูนิ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275 ชิ้น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3,295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40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เนื้อออสเตรเลียสไลด์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 แพ็ค 1 กก. (4.00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2,864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41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มิริน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 แพ็ค 20 ลิตร (20.00 ลิตร)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1,648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42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เนื้อวากิวพับนอก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 แพ็ค 1 กก. (3.00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1,601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43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สาหร่ายโนริหั่นฝอย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 กก.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1,131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44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ข้าวญี่ปุ่นปรุงรส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 แพ็ค 25 กก. (25.00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1,080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45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แป้งเทมปุระผง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 แพ็ค 10 กก. (10.00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770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46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กุ้งยืด Ebi Tempura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118 ตัว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569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47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สาหร่ายวากาแมะ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 กก.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548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48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ไข่ปลาแซลมอน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 กก.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322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49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ปลาฮามาจิ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 กก.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98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50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กุ้งลายเสือ (อิงราคากุ้งอาร์เจนติน่า/ตัว)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 ตัว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19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51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สาหร่ายโนริหั่นฝอย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 ชิ้น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8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00000" y="6600000"/>
            <a:ext cx="11150000" cy="2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Oshinei · ต้นทุนวัตถุดิบเทียบยอดขาย &amp; แผนสั่งซื้อวัตถุดิบหลัก 48 ชนิด  ·  54/92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0578" cy="6858000"/>
          </a:xfrm>
          <a:prstGeom prst="rect">
            <a:avLst/>
          </a:prstGeom>
          <a:solidFill>
            <a:srgbClr val="203C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0785" y="51759"/>
            <a:ext cx="1171755" cy="117175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00000" y="230000"/>
            <a:ext cx="1115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i="0" spc="15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ส่วนที่ 3 · รายละเอียดรายสาขา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00" y="420000"/>
            <a:ext cx="1115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203C81"/>
                </a:solidFill>
                <a:latin typeface="Tahoma"/>
                <a:ea typeface="Tahoma"/>
                <a:cs typeface="Tahoma"/>
              </a:rPr>
              <a:t>ศรีสะเกษ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0000" y="950000"/>
            <a:ext cx="1115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อันดับต้นทุนอาหาร #6/28 (1=สูงสุด)  ·  อันดับมูลค่าสั่งซื้อ #27/28 (1=สูงสุด)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0000" y="1350000"/>
            <a:ext cx="2682500" cy="100000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0000" rIns="120000" tIns="110000" bIns="80000"/>
          <a:lstStyle/>
          <a:p>
            <a:pPr algn="ctr"/>
            <a:r>
              <a:rPr sz="1100" b="0" i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ยอดขาย (ไม่รวม VAT)</a:t>
            </a:r>
          </a:p>
          <a:p>
            <a:pPr>
              <a:spcBef>
                <a:spcPts val="400"/>
              </a:spcBef>
            </a:pPr>
            <a:r>
              <a:rPr sz="2000" b="1" i="0">
                <a:solidFill>
                  <a:srgbClr val="1F2937"/>
                </a:solidFill>
                <a:latin typeface="Tahoma"/>
                <a:ea typeface="Tahoma"/>
                <a:cs typeface="Tahoma"/>
              </a:rPr>
              <a:t>฿1,681,664</a:t>
            </a:r>
          </a:p>
          <a:p>
            <a:pPr>
              <a:spcBef>
                <a:spcPts val="400"/>
              </a:spcBef>
            </a:pPr>
            <a:r>
              <a:rPr sz="1050" b="0" i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/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2500" y="1350000"/>
            <a:ext cx="2682500" cy="100000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0000" rIns="120000" tIns="110000" bIns="80000"/>
          <a:lstStyle/>
          <a:p>
            <a:pPr algn="ctr"/>
            <a:r>
              <a:rPr sz="1100" b="0" i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ต้นทุนวัตถุดิบตามสูตร</a:t>
            </a:r>
          </a:p>
          <a:p>
            <a:pPr>
              <a:spcBef>
                <a:spcPts val="400"/>
              </a:spcBef>
            </a:pPr>
            <a:r>
              <a:rPr sz="2000" b="1" i="0">
                <a:solidFill>
                  <a:srgbClr val="1F2937"/>
                </a:solidFill>
                <a:latin typeface="Tahoma"/>
                <a:ea typeface="Tahoma"/>
                <a:cs typeface="Tahoma"/>
              </a:rPr>
              <a:t>฿1,136,910</a:t>
            </a:r>
          </a:p>
          <a:p>
            <a:pPr>
              <a:spcBef>
                <a:spcPts val="400"/>
              </a:spcBef>
            </a:pPr>
            <a:r>
              <a:rPr sz="1050" b="0" i="0">
                <a:solidFill>
                  <a:srgbClr val="B91C1C"/>
                </a:solidFill>
                <a:latin typeface="Tahoma"/>
                <a:ea typeface="Tahoma"/>
                <a:cs typeface="Tahoma"/>
              </a:rPr>
              <a:t>67.6% ของยอดขาย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5000" y="1350000"/>
            <a:ext cx="2682500" cy="100000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0000" rIns="120000" tIns="110000" bIns="80000"/>
          <a:lstStyle/>
          <a:p>
            <a:pPr algn="ctr"/>
            <a:r>
              <a:rPr sz="1100" b="0" i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เปลี่ยนจากเดือนก่อน</a:t>
            </a:r>
          </a:p>
          <a:p>
            <a:pPr>
              <a:spcBef>
                <a:spcPts val="400"/>
              </a:spcBef>
            </a:pPr>
            <a:r>
              <a:rPr sz="2000" b="1" i="0">
                <a:solidFill>
                  <a:srgbClr val="1F2937"/>
                </a:solidFill>
                <a:latin typeface="Tahoma"/>
                <a:ea typeface="Tahoma"/>
                <a:cs typeface="Tahoma"/>
              </a:rPr>
              <a:t>+9.5 จุด</a:t>
            </a:r>
          </a:p>
          <a:p>
            <a:pPr>
              <a:spcBef>
                <a:spcPts val="400"/>
              </a:spcBef>
            </a:pPr>
            <a:r>
              <a:rPr sz="1050" b="0" i="0">
                <a:solidFill>
                  <a:srgbClr val="B91C1C"/>
                </a:solidFill>
                <a:latin typeface="Tahoma"/>
                <a:ea typeface="Tahoma"/>
                <a:cs typeface="Tahoma"/>
              </a:rPr>
              <a:t>58.1% เดือนก่อน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67500" y="1350000"/>
            <a:ext cx="2682500" cy="100000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0000" rIns="120000" tIns="110000" bIns="80000"/>
          <a:lstStyle/>
          <a:p>
            <a:pPr algn="ctr"/>
            <a:r>
              <a:rPr sz="1100" b="0" i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ควรสั่งซื้อ 48 รายการหลัก/เดือน</a:t>
            </a:r>
          </a:p>
          <a:p>
            <a:pPr>
              <a:spcBef>
                <a:spcPts val="400"/>
              </a:spcBef>
            </a:pPr>
            <a:r>
              <a:rPr sz="2000" b="1" i="0">
                <a:solidFill>
                  <a:srgbClr val="1F2937"/>
                </a:solidFill>
                <a:latin typeface="Tahoma"/>
                <a:ea typeface="Tahoma"/>
                <a:cs typeface="Tahoma"/>
              </a:rPr>
              <a:t>฿309,178</a:t>
            </a:r>
          </a:p>
          <a:p>
            <a:pPr>
              <a:spcBef>
                <a:spcPts val="400"/>
              </a:spcBef>
            </a:pPr>
            <a:r>
              <a:rPr sz="1050" b="0" i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49 รายการ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0000" y="2500000"/>
            <a:ext cx="5500000" cy="2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B91C1C"/>
                </a:solidFill>
                <a:latin typeface="Tahoma"/>
                <a:ea typeface="Tahoma"/>
                <a:cs typeface="Tahoma"/>
              </a:rPr>
              <a:t>เมนูต้นทุนเพิ่มขึ้นมากสุด (MoM)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00000" y="2780000"/>
          <a:ext cx="5300000" cy="120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00000"/>
                <a:gridCol w="1700000"/>
                <a:gridCol w="1500000"/>
              </a:tblGrid>
              <a:tr h="300000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เมนู</a:t>
                      </a:r>
                    </a:p>
                  </a:txBody>
                  <a:tcPr marL="70000" marR="70000" marT="35000" marB="35000" anchor="ctr">
                    <a:solidFill>
                      <a:srgbClr val="203C8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ต้นทุนเดือนนี้</a:t>
                      </a:r>
                    </a:p>
                  </a:txBody>
                  <a:tcPr marL="70000" marR="70000" marT="35000" marB="35000" anchor="ctr">
                    <a:solidFill>
                      <a:srgbClr val="203C8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เปลี่ยน</a:t>
                      </a:r>
                    </a:p>
                  </a:txBody>
                  <a:tcPr marL="70000" marR="70000" marT="35000" marB="35000" anchor="ctr">
                    <a:solidFill>
                      <a:srgbClr val="203C81"/>
                    </a:solidFill>
                  </a:tcPr>
                </a:tc>
              </a:tr>
              <a:tr h="30000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(B) ทุเรียน (1 เม็ด)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฿175,984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+฿103,972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(B) แซลมอน ซาชิมิ (1 ชิ้น)</a:t>
                      </a:r>
                    </a:p>
                  </a:txBody>
                  <a:tcPr marL="70000" marR="70000" marT="35000" marB="35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฿185,544</a:t>
                      </a:r>
                    </a:p>
                  </a:txBody>
                  <a:tcPr marL="70000" marR="70000" marT="35000" marB="35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+฿36,170</a:t>
                      </a:r>
                    </a:p>
                  </a:txBody>
                  <a:tcPr marL="70000" marR="70000" marT="35000" marB="35000" anchor="ctr">
                    <a:solidFill>
                      <a:srgbClr val="F8FAFC"/>
                    </a:solidFill>
                  </a:tcPr>
                </a:tc>
              </a:tr>
              <a:tr h="30000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(B) แซลมอนดอง (3 ชิ้น)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฿70,802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+฿13,556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6200000" y="2500000"/>
            <a:ext cx="5500000" cy="2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047757"/>
                </a:solidFill>
                <a:latin typeface="Tahoma"/>
                <a:ea typeface="Tahoma"/>
                <a:cs typeface="Tahoma"/>
              </a:rPr>
              <a:t>เมนูต้นทุนลดลงมากสุด (MoM)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6200000" y="2780000"/>
          <a:ext cx="5300000" cy="120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00000"/>
                <a:gridCol w="1700000"/>
                <a:gridCol w="1500000"/>
              </a:tblGrid>
              <a:tr h="300000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เมนู</a:t>
                      </a:r>
                    </a:p>
                  </a:txBody>
                  <a:tcPr marL="70000" marR="70000" marT="35000" marB="35000" anchor="ctr">
                    <a:solidFill>
                      <a:srgbClr val="203C8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ต้นทุนเดือนนี้</a:t>
                      </a:r>
                    </a:p>
                  </a:txBody>
                  <a:tcPr marL="70000" marR="70000" marT="35000" marB="35000" anchor="ctr">
                    <a:solidFill>
                      <a:srgbClr val="203C8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เปลี่ยน</a:t>
                      </a:r>
                    </a:p>
                  </a:txBody>
                  <a:tcPr marL="70000" marR="70000" marT="35000" marB="35000" anchor="ctr">
                    <a:solidFill>
                      <a:srgbClr val="203C81"/>
                    </a:solidFill>
                  </a:tcPr>
                </a:tc>
              </a:tr>
              <a:tr h="30000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(B) ปลาฮามาจิ ซาชิมิ (1ชิ…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฿11,550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฿-7,355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(B) กุ้งอาเจนติน่าซาชิมิ …</a:t>
                      </a:r>
                    </a:p>
                  </a:txBody>
                  <a:tcPr marL="70000" marR="70000" marT="35000" marB="35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฿19,548</a:t>
                      </a:r>
                    </a:p>
                  </a:txBody>
                  <a:tcPr marL="70000" marR="70000" marT="35000" marB="35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฿-7,013</a:t>
                      </a:r>
                    </a:p>
                  </a:txBody>
                  <a:tcPr marL="70000" marR="70000" marT="35000" marB="35000" anchor="ctr">
                    <a:solidFill>
                      <a:srgbClr val="F8FAFC"/>
                    </a:solidFill>
                  </a:tcPr>
                </a:tc>
              </a:tr>
              <a:tr h="30000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(B) หอยนางรมเสิร์ฟพร้อมน้…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฿12,307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฿-5,993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600000" y="4100000"/>
            <a:ext cx="9000000" cy="2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203C81"/>
                </a:solidFill>
                <a:latin typeface="Tahoma"/>
                <a:ea typeface="Tahoma"/>
                <a:cs typeface="Tahoma"/>
              </a:rPr>
              <a:t>วัตถุดิบทั้งหมดที่ควรสั่งซื้อ (49 รายการ) — ดูสไลด์ถัดไป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0000" y="6600000"/>
            <a:ext cx="11150000" cy="2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Oshinei · ต้นทุนวัตถุดิบเทียบยอดขาย &amp; แผนสั่งซื้อวัตถุดิบหลัก 48 ชนิด  ·  55/92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0578" cy="6858000"/>
          </a:xfrm>
          <a:prstGeom prst="rect">
            <a:avLst/>
          </a:prstGeom>
          <a:solidFill>
            <a:srgbClr val="203C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0785" y="51759"/>
            <a:ext cx="1171755" cy="117175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00000" y="230000"/>
            <a:ext cx="1115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i="0" spc="15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ส่วนที่ 3 · รายละเอียดรายสาขา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00" y="420000"/>
            <a:ext cx="1115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 i="0">
                <a:solidFill>
                  <a:srgbClr val="203C81"/>
                </a:solidFill>
                <a:latin typeface="Tahoma"/>
                <a:ea typeface="Tahoma"/>
                <a:cs typeface="Tahoma"/>
              </a:rPr>
              <a:t>ศรีสะเกษ — วัตถุดิบทั้งหมดที่ควรสั่งซื้อ (49 รายการ) (หน้า 1/2)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00000" y="1300000"/>
          <a:ext cx="11150000" cy="515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00000"/>
                <a:gridCol w="6200000"/>
                <a:gridCol w="2700000"/>
                <a:gridCol w="1850000"/>
              </a:tblGrid>
              <a:tr h="200000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#</a:t>
                      </a:r>
                    </a:p>
                  </a:txBody>
                  <a:tcPr marL="70000" marR="70000" marT="12000" marB="12000" anchor="ctr">
                    <a:solidFill>
                      <a:srgbClr val="203C8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วัตถุดิบ</a:t>
                      </a:r>
                    </a:p>
                  </a:txBody>
                  <a:tcPr marL="70000" marR="70000" marT="12000" marB="12000" anchor="ctr">
                    <a:solidFill>
                      <a:srgbClr val="203C8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ควรสั่ง/เดือน</a:t>
                      </a:r>
                    </a:p>
                  </a:txBody>
                  <a:tcPr marL="70000" marR="70000" marT="12000" marB="12000" anchor="ctr">
                    <a:solidFill>
                      <a:srgbClr val="203C8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มูลค่า/เดือน (฿)</a:t>
                      </a:r>
                    </a:p>
                  </a:txBody>
                  <a:tcPr marL="70000" marR="70000" marT="12000" marB="12000" anchor="ctr">
                    <a:solidFill>
                      <a:srgbClr val="203C81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กุ้งแกะเปลือก  5 ตัวละ 15 กรัม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13 แพ็ค 10 กก. (130.00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40,274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เนื้อปลาทูน่า 1 ชิ้น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44 แพ็ค 1 กก. (44.00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25,520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หอยเซลล์ต้ม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43 แพ็ค 1 กก. (43.00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22,360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เนื้อเสือร้องไห้สไลด์ ( 5 ชิ้นละ 10 กรัม 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5 แพ็ค 10 กก. (50.00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17,600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5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เนื้อใบพายออสเตรเลียสไลด์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35 แพ็ค 1 กก. (35.00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16,450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6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ปลาซาบะดอง 6 ชิ้น ชิ้นละ 10 กรัม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 แพ็ค 12.5 กก. (25.00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14,206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7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หนวดปลาหมึกยักษ์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 แพ็ค 12 กก. (24.00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12,470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8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ปลาเนื้อขาวหั่นเต๋า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 แพ็ค 10 กก. (40.00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11,252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9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ส่าหร่ายแผ่น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2,999 แผ่น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10,954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10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หอยนางรมญี่ปุ่น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837 ตัว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10,937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11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ปลาไหลอูนางิ 70 P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100 แพ็ค 120 กรัม (12.00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9,500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12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ไข่หอยเม่น แช่แข็ง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36 แพ็ค 100 กรัม (3.60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9,180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13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ไข่กุ้ง Ebiko Grade A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 แพ็ค 10 กก. (20.00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8,864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14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ปลาซาบะ ½ ตัว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 แพ็ค 20 กก. (40.00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7,956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15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เนื้อชาโรเล่ส์หมักเสียบไม้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804 ชิ้น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6,832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16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ปลาฮามาจิ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7 แพ็ค 1.85 กก. (12.95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6,762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17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ปลาไหลสไลด์ 9 ชิ้น ชิ้นละ 6 กรัม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 แพ็ค 7.2 กก. (7.20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6,480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18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มันปูปรงรส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9 แพ็ค 1 กก. (9.00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5,733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19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ไข่หวานหั่นเต๋า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 แพ็ค 10 กก. (30.00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5,457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20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ปลาไหลอนาโงะสไลด์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31 แพ็ค 200 กรัม (6.20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5,084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21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กุ้งอาเจนติน่า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6 แพ็ค 2 กก. (12.00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4,842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22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วาซาบิ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 แพ็ค 10 กก. (10.00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4,789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23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เนื้อออสเตรเลียแบบตัด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8 แพ็ค 1 กก. (8.00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4,512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24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เบสซอฟต์ครีมรสนม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16 แพ็ค 4.4 กก. (70.40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4,345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25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ปีกไก่สำเร็จรูป 1 ชิ้น / 35 กรัม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 แพ็ค 10 กก. (10.00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3,446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26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ตับปลาอังกิโมะ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426 แพ็ค 15 กรัม (6.39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3,408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27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ปลาดอลลี่ ½ ตัว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 แพ็ค 10 กก. (40.00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3,276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28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กุ้งเทมปุระ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666 ชิ้น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3,216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29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ปลาเงินทอดกรอบ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10 แพ็ค 250 กรัม (2.50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3,160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30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เนื้อสไลด์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10 กก.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3,107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00000" y="6600000"/>
            <a:ext cx="11150000" cy="2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Oshinei · ต้นทุนวัตถุดิบเทียบยอดขาย &amp; แผนสั่งซื้อวัตถุดิบหลัก 48 ชนิด  ·  56/92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0578" cy="6858000"/>
          </a:xfrm>
          <a:prstGeom prst="rect">
            <a:avLst/>
          </a:prstGeom>
          <a:solidFill>
            <a:srgbClr val="203C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0785" y="51759"/>
            <a:ext cx="1171755" cy="117175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00000" y="230000"/>
            <a:ext cx="1115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i="0" spc="15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ส่วนที่ 3 · รายละเอียดรายสาขา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00" y="420000"/>
            <a:ext cx="1115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 i="0">
                <a:solidFill>
                  <a:srgbClr val="203C81"/>
                </a:solidFill>
                <a:latin typeface="Tahoma"/>
                <a:ea typeface="Tahoma"/>
                <a:cs typeface="Tahoma"/>
              </a:rPr>
              <a:t>ศรีสะเกษ — วัตถุดิบทั้งหมดที่ควรสั่งซื้อ (49 รายการ) (หน้า 2/2)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00000" y="1300000"/>
          <a:ext cx="11150000" cy="3335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00000"/>
                <a:gridCol w="6200000"/>
                <a:gridCol w="2700000"/>
                <a:gridCol w="1850000"/>
              </a:tblGrid>
              <a:tr h="200000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#</a:t>
                      </a:r>
                    </a:p>
                  </a:txBody>
                  <a:tcPr marL="70000" marR="70000" marT="12000" marB="12000" anchor="ctr">
                    <a:solidFill>
                      <a:srgbClr val="203C8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วัตถุดิบ</a:t>
                      </a:r>
                    </a:p>
                  </a:txBody>
                  <a:tcPr marL="70000" marR="70000" marT="12000" marB="12000" anchor="ctr">
                    <a:solidFill>
                      <a:srgbClr val="203C8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ควรสั่ง/เดือน</a:t>
                      </a:r>
                    </a:p>
                  </a:txBody>
                  <a:tcPr marL="70000" marR="70000" marT="12000" marB="12000" anchor="ctr">
                    <a:solidFill>
                      <a:srgbClr val="203C8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มูลค่า/เดือน (฿)</a:t>
                      </a:r>
                    </a:p>
                  </a:txBody>
                  <a:tcPr marL="70000" marR="70000" marT="12000" marB="12000" anchor="ctr">
                    <a:solidFill>
                      <a:srgbClr val="203C81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31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น้ำดองสไลต์เกาหลี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 แพ็ค 20 ลิตร (20.00 ลิตร)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2,120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32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สาเกสำหรับปรุงอาหาร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 แพ็ค 18 ลิตร (18.00 ลิตร)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2,046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33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มิริน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 แพ็ค 20 ลิตร (20.00 ลิตร)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1,648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34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เนื้อชาโรเล่ส์หมักเสียบไม้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196 ไม้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1,630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35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เบสซอฟต์ครีมทูโทน (รสมัตฉะ และรสนม)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6 แพ็ค 4.4 กก. (26.40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1,628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36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หอยแครงยักษ์สไลด์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143 ชิ้น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1,583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37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เกี๊ยวซ่าอูนิ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123 ชิ้น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1,476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38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ข้าวญี่ปุ่นปรุงรส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 แพ็ค 25 กก. (25.00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1,080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39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เนื้อวากิวพับนอก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 แพ็ค 1 กก. (2.00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1,067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40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แป้งเทมปุระผง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 แพ็ค 10 กก. (10.00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770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41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เนื้อออสเตรเลี่ยนวากิว สไลด์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 แพ็ค 1 กก. (1.00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716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42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สาหร่ายโนรี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 กก.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452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43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สาหร่ายวากาแมะ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 กก.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328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44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เบสซอฟต์ครีมรสมัตฉะ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 แพ็ค 4.4 กก. (4.40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271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45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กุ้งยืด Ebi Tempura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31 ตัว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148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46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ไข่ปลาแซลมอน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 กก.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82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47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ปลาฮามาจิ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 กก.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80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48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หอยนางรมญี่ปุ่น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6 ชิ้น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77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49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สาหร่ายโนริหั่นฝอย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 ชิ้น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00000" y="6600000"/>
            <a:ext cx="11150000" cy="2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Oshinei · ต้นทุนวัตถุดิบเทียบยอดขาย &amp; แผนสั่งซื้อวัตถุดิบหลัก 48 ชนิด  ·  57/92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0578" cy="6858000"/>
          </a:xfrm>
          <a:prstGeom prst="rect">
            <a:avLst/>
          </a:prstGeom>
          <a:solidFill>
            <a:srgbClr val="203C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0785" y="51759"/>
            <a:ext cx="1171755" cy="117175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00000" y="230000"/>
            <a:ext cx="1115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i="0" spc="15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ส่วนที่ 3 · รายละเอียดรายสาขา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00" y="420000"/>
            <a:ext cx="1115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203C81"/>
                </a:solidFill>
                <a:latin typeface="Tahoma"/>
                <a:ea typeface="Tahoma"/>
                <a:cs typeface="Tahoma"/>
              </a:rPr>
              <a:t>สกลนคร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0000" y="950000"/>
            <a:ext cx="1115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อันดับต้นทุนอาหาร #24/28 (1=สูงสุด)  ·  อันดับมูลค่าสั่งซื้อ #25/28 (1=สูงสุด)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0000" y="1350000"/>
            <a:ext cx="2682500" cy="100000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0000" rIns="120000" tIns="110000" bIns="80000"/>
          <a:lstStyle/>
          <a:p>
            <a:pPr algn="ctr"/>
            <a:r>
              <a:rPr sz="1100" b="0" i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ยอดขาย (ไม่รวม VAT)</a:t>
            </a:r>
          </a:p>
          <a:p>
            <a:pPr>
              <a:spcBef>
                <a:spcPts val="400"/>
              </a:spcBef>
            </a:pPr>
            <a:r>
              <a:rPr sz="2000" b="1" i="0">
                <a:solidFill>
                  <a:srgbClr val="1F2937"/>
                </a:solidFill>
                <a:latin typeface="Tahoma"/>
                <a:ea typeface="Tahoma"/>
                <a:cs typeface="Tahoma"/>
              </a:rPr>
              <a:t>฿2,099,431</a:t>
            </a:r>
          </a:p>
          <a:p>
            <a:pPr>
              <a:spcBef>
                <a:spcPts val="400"/>
              </a:spcBef>
            </a:pPr>
            <a:r>
              <a:rPr sz="1050" b="0" i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/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2500" y="1350000"/>
            <a:ext cx="2682500" cy="100000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0000" rIns="120000" tIns="110000" bIns="80000"/>
          <a:lstStyle/>
          <a:p>
            <a:pPr algn="ctr"/>
            <a:r>
              <a:rPr sz="1100" b="0" i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ต้นทุนวัตถุดิบตามสูตร</a:t>
            </a:r>
          </a:p>
          <a:p>
            <a:pPr>
              <a:spcBef>
                <a:spcPts val="400"/>
              </a:spcBef>
            </a:pPr>
            <a:r>
              <a:rPr sz="2000" b="1" i="0">
                <a:solidFill>
                  <a:srgbClr val="1F2937"/>
                </a:solidFill>
                <a:latin typeface="Tahoma"/>
                <a:ea typeface="Tahoma"/>
                <a:cs typeface="Tahoma"/>
              </a:rPr>
              <a:t>฿1,120,542</a:t>
            </a:r>
          </a:p>
          <a:p>
            <a:pPr>
              <a:spcBef>
                <a:spcPts val="400"/>
              </a:spcBef>
            </a:pPr>
            <a:r>
              <a:rPr sz="1050" b="0" i="0">
                <a:solidFill>
                  <a:srgbClr val="047757"/>
                </a:solidFill>
                <a:latin typeface="Tahoma"/>
                <a:ea typeface="Tahoma"/>
                <a:cs typeface="Tahoma"/>
              </a:rPr>
              <a:t>53.4% ของยอดขาย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5000" y="1350000"/>
            <a:ext cx="2682500" cy="100000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0000" rIns="120000" tIns="110000" bIns="80000"/>
          <a:lstStyle/>
          <a:p>
            <a:pPr algn="ctr"/>
            <a:r>
              <a:rPr sz="1100" b="0" i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เปลี่ยนจากเดือนก่อน</a:t>
            </a:r>
          </a:p>
          <a:p>
            <a:pPr>
              <a:spcBef>
                <a:spcPts val="400"/>
              </a:spcBef>
            </a:pPr>
            <a:r>
              <a:rPr sz="2000" b="1" i="0">
                <a:solidFill>
                  <a:srgbClr val="1F2937"/>
                </a:solidFill>
                <a:latin typeface="Tahoma"/>
                <a:ea typeface="Tahoma"/>
                <a:cs typeface="Tahoma"/>
              </a:rPr>
              <a:t>-0.3 จุด</a:t>
            </a:r>
          </a:p>
          <a:p>
            <a:pPr>
              <a:spcBef>
                <a:spcPts val="400"/>
              </a:spcBef>
            </a:pPr>
            <a:r>
              <a:rPr sz="1050" b="0" i="0">
                <a:solidFill>
                  <a:srgbClr val="047757"/>
                </a:solidFill>
                <a:latin typeface="Tahoma"/>
                <a:ea typeface="Tahoma"/>
                <a:cs typeface="Tahoma"/>
              </a:rPr>
              <a:t>53.6% เดือนก่อน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67500" y="1350000"/>
            <a:ext cx="2682500" cy="100000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0000" rIns="120000" tIns="110000" bIns="80000"/>
          <a:lstStyle/>
          <a:p>
            <a:pPr algn="ctr"/>
            <a:r>
              <a:rPr sz="1100" b="0" i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ควรสั่งซื้อ 48 รายการหลัก/เดือน</a:t>
            </a:r>
          </a:p>
          <a:p>
            <a:pPr>
              <a:spcBef>
                <a:spcPts val="400"/>
              </a:spcBef>
            </a:pPr>
            <a:r>
              <a:rPr sz="2000" b="1" i="0">
                <a:solidFill>
                  <a:srgbClr val="1F2937"/>
                </a:solidFill>
                <a:latin typeface="Tahoma"/>
                <a:ea typeface="Tahoma"/>
                <a:cs typeface="Tahoma"/>
              </a:rPr>
              <a:t>฿364,169</a:t>
            </a:r>
          </a:p>
          <a:p>
            <a:pPr>
              <a:spcBef>
                <a:spcPts val="400"/>
              </a:spcBef>
            </a:pPr>
            <a:r>
              <a:rPr sz="1050" b="0" i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51 รายการ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0000" y="2500000"/>
            <a:ext cx="5500000" cy="2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B91C1C"/>
                </a:solidFill>
                <a:latin typeface="Tahoma"/>
                <a:ea typeface="Tahoma"/>
                <a:cs typeface="Tahoma"/>
              </a:rPr>
              <a:t>เมนูต้นทุนเพิ่มขึ้นมากสุด (MoM)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00000" y="2780000"/>
          <a:ext cx="5300000" cy="120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00000"/>
                <a:gridCol w="1700000"/>
                <a:gridCol w="1500000"/>
              </a:tblGrid>
              <a:tr h="300000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เมนู</a:t>
                      </a:r>
                    </a:p>
                  </a:txBody>
                  <a:tcPr marL="70000" marR="70000" marT="35000" marB="35000" anchor="ctr">
                    <a:solidFill>
                      <a:srgbClr val="203C8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ต้นทุนเดือนนี้</a:t>
                      </a:r>
                    </a:p>
                  </a:txBody>
                  <a:tcPr marL="70000" marR="70000" marT="35000" marB="35000" anchor="ctr">
                    <a:solidFill>
                      <a:srgbClr val="203C8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เปลี่ยน</a:t>
                      </a:r>
                    </a:p>
                  </a:txBody>
                  <a:tcPr marL="70000" marR="70000" marT="35000" marB="35000" anchor="ctr">
                    <a:solidFill>
                      <a:srgbClr val="203C81"/>
                    </a:solidFill>
                  </a:tcPr>
                </a:tc>
              </a:tr>
              <a:tr h="30000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(B) แซลมอน ซาชิมิ (1 ชิ้น)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฿178,659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+฿9,745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(B) ปลาฮามาจิ ซาชิมิ (1ชิ…</a:t>
                      </a:r>
                    </a:p>
                  </a:txBody>
                  <a:tcPr marL="70000" marR="70000" marT="35000" marB="35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฿19,003</a:t>
                      </a:r>
                    </a:p>
                  </a:txBody>
                  <a:tcPr marL="70000" marR="70000" marT="35000" marB="35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+฿7,863</a:t>
                      </a:r>
                    </a:p>
                  </a:txBody>
                  <a:tcPr marL="70000" marR="70000" marT="35000" marB="35000" anchor="ctr">
                    <a:solidFill>
                      <a:srgbClr val="F8FAFC"/>
                    </a:solidFill>
                  </a:tcPr>
                </a:tc>
              </a:tr>
              <a:tr h="30000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(B) ซูพรีม อูนิ ซูชิ (1 ช…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฿18,602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+฿5,490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6200000" y="2500000"/>
            <a:ext cx="5500000" cy="2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047757"/>
                </a:solidFill>
                <a:latin typeface="Tahoma"/>
                <a:ea typeface="Tahoma"/>
                <a:cs typeface="Tahoma"/>
              </a:rPr>
              <a:t>เมนูต้นทุนลดลงมากสุด (MoM)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6200000" y="2780000"/>
          <a:ext cx="5300000" cy="120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00000"/>
                <a:gridCol w="1700000"/>
                <a:gridCol w="1500000"/>
              </a:tblGrid>
              <a:tr h="300000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เมนู</a:t>
                      </a:r>
                    </a:p>
                  </a:txBody>
                  <a:tcPr marL="70000" marR="70000" marT="35000" marB="35000" anchor="ctr">
                    <a:solidFill>
                      <a:srgbClr val="203C8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ต้นทุนเดือนนี้</a:t>
                      </a:r>
                    </a:p>
                  </a:txBody>
                  <a:tcPr marL="70000" marR="70000" marT="35000" marB="35000" anchor="ctr">
                    <a:solidFill>
                      <a:srgbClr val="203C8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เปลี่ยน</a:t>
                      </a:r>
                    </a:p>
                  </a:txBody>
                  <a:tcPr marL="70000" marR="70000" marT="35000" marB="35000" anchor="ctr">
                    <a:solidFill>
                      <a:srgbClr val="203C81"/>
                    </a:solidFill>
                  </a:tcPr>
                </a:tc>
              </a:tr>
              <a:tr h="30000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(B) ทุเรียน (1 เม็ด)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฿0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฿-26,384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(B) แมงกะพรุนหัวกระสุน ดอ…</a:t>
                      </a:r>
                    </a:p>
                  </a:txBody>
                  <a:tcPr marL="70000" marR="70000" marT="35000" marB="35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฿0</a:t>
                      </a:r>
                    </a:p>
                  </a:txBody>
                  <a:tcPr marL="70000" marR="70000" marT="35000" marB="35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฿-8,876</a:t>
                      </a:r>
                    </a:p>
                  </a:txBody>
                  <a:tcPr marL="70000" marR="70000" marT="35000" marB="35000" anchor="ctr">
                    <a:solidFill>
                      <a:srgbClr val="F8FAFC"/>
                    </a:solidFill>
                  </a:tcPr>
                </a:tc>
              </a:tr>
              <a:tr h="30000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(B) แมงกะพรุนหัวกระสุนน้ำ…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฿0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฿-7,414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600000" y="4100000"/>
            <a:ext cx="9000000" cy="2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203C81"/>
                </a:solidFill>
                <a:latin typeface="Tahoma"/>
                <a:ea typeface="Tahoma"/>
                <a:cs typeface="Tahoma"/>
              </a:rPr>
              <a:t>วัตถุดิบทั้งหมดที่ควรสั่งซื้อ (51 รายการ) — ดูสไลด์ถัดไป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0000" y="6600000"/>
            <a:ext cx="11150000" cy="2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Oshinei · ต้นทุนวัตถุดิบเทียบยอดขาย &amp; แผนสั่งซื้อวัตถุดิบหลัก 48 ชนิด  ·  58/92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0578" cy="6858000"/>
          </a:xfrm>
          <a:prstGeom prst="rect">
            <a:avLst/>
          </a:prstGeom>
          <a:solidFill>
            <a:srgbClr val="203C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0785" y="51759"/>
            <a:ext cx="1171755" cy="117175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00000" y="230000"/>
            <a:ext cx="1115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i="0" spc="15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ส่วนที่ 3 · รายละเอียดรายสาขา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00" y="420000"/>
            <a:ext cx="1115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 i="0">
                <a:solidFill>
                  <a:srgbClr val="203C81"/>
                </a:solidFill>
                <a:latin typeface="Tahoma"/>
                <a:ea typeface="Tahoma"/>
                <a:cs typeface="Tahoma"/>
              </a:rPr>
              <a:t>สกลนคร — วัตถุดิบทั้งหมดที่ควรสั่งซื้อ (51 รายการ) (หน้า 1/2)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00000" y="1300000"/>
          <a:ext cx="11150000" cy="515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00000"/>
                <a:gridCol w="6200000"/>
                <a:gridCol w="2700000"/>
                <a:gridCol w="1850000"/>
              </a:tblGrid>
              <a:tr h="200000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#</a:t>
                      </a:r>
                    </a:p>
                  </a:txBody>
                  <a:tcPr marL="70000" marR="70000" marT="12000" marB="12000" anchor="ctr">
                    <a:solidFill>
                      <a:srgbClr val="203C8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วัตถุดิบ</a:t>
                      </a:r>
                    </a:p>
                  </a:txBody>
                  <a:tcPr marL="70000" marR="70000" marT="12000" marB="12000" anchor="ctr">
                    <a:solidFill>
                      <a:srgbClr val="203C8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ควรสั่ง/เดือน</a:t>
                      </a:r>
                    </a:p>
                  </a:txBody>
                  <a:tcPr marL="70000" marR="70000" marT="12000" marB="12000" anchor="ctr">
                    <a:solidFill>
                      <a:srgbClr val="203C8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มูลค่า/เดือน (฿)</a:t>
                      </a:r>
                    </a:p>
                  </a:txBody>
                  <a:tcPr marL="70000" marR="70000" marT="12000" marB="12000" anchor="ctr">
                    <a:solidFill>
                      <a:srgbClr val="203C81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กุ้งแกะเปลือก  5 ตัวละ 15 กรัม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16 แพ็ค 10 กก. (160.00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49,568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เนื้อปลาทูน่า 1 ชิ้น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49 แพ็ค 1 กก. (49.00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28,420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เนื้อใบพายออสเตรเลียสไลด์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47 แพ็ค 1 กก. (47.00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22,090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เนื้อเสือร้องไห้สไลด์ ( 5 ชิ้นละ 10 กรัม 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6 แพ็ค 10 กก. (60.00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21,120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5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หอยเซลล์ต้ม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37 แพ็ค 1 กก. (37.00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19,240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6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ปลาหมึกกระดอง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5 แพ็ค 10 กก. (50.00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16,000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7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หอยนางรมญี่ปุ่น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1,172 ตัว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15,308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8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ปลาซาบะดอง 6 ชิ้น ชิ้นละ 10 กรัม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 แพ็ค 12.5 กก. (25.00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14,206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9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ไข่หอยเม่น แช่แข็ง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51 แพ็ค 100 กรัม (5.10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13,005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10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ปลาไหลอูนางิ 70 P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135 แพ็ค 120 กรัม (16.20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12,825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11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สาหร่ายโนริแผ่น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3,468 แผ่น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12,753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12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หนวดปลาหมึกยักษ์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 แพ็ค 12 กก. (24.00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12,470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13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ปลาเนื้อขาวหั่นเต๋า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 แพ็ค 10 กก. (40.00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11,252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14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ไข่กุ้ง Ebiko Grade A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 แพ็ค 10 กก. (20.00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8,864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15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ไข่หอยเม่น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13 แพ็ค 1 กก. (13.00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8,281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16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ปลาซาบะ ½ ตัว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 แพ็ค 20 กก. (40.00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7,956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17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ปลาฮามาจิ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7 แพ็ค 1.85 กก. (12.95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6,762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18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ปลาไหลสไลด์ 9 ชิ้น ชิ้นละ 6 กรัม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 แพ็ค 7.2 กก. (7.20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6,480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19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กุ้งอาเจนติน่า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8 แพ็ค 2 กก. (16.00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6,456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20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เนื้อออสเตรเลียแบบตัด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11 แพ็ค 1 กก. (11.00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6,204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21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ปลาไหลอนาโงะสไลด์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37 แพ็ค 200 กรัม (7.40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6,068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22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ไข่หวานหั่นเต๋า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 แพ็ค 10 กก. (30.00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5,457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23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เนื้อชาโรเล่ส์หมักเสียบไม้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605 ชิ้น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5,139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24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วาซาบิ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 แพ็ค 10 กก. (10.00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4,789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25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เบสซอฟต์ครีมรสมัตฉะ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17 แพ็ค 4.4 กก. (74.80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4,612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26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ปลาดอลลี่ ½ ตัว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5 แพ็ค 10 กก. (50.00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4,095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27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ตับปลาอังกิโมะ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477 แพ็ค 15 กรัม (7.16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3,816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28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กุ้งเทมปุระ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747 ชิ้น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3,603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29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ปลาเงินทอดกรอบ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11 แพ็ค 250 กรัม (2.75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3,475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30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ปีกไก่สำเร็จรูป 1 ชิ้น / 35 กรัม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 แพ็ค 10 กก. (10.00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3,446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00000" y="6600000"/>
            <a:ext cx="11150000" cy="2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Oshinei · ต้นทุนวัตถุดิบเทียบยอดขาย &amp; แผนสั่งซื้อวัตถุดิบหลัก 48 ชนิด  ·  59/92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0578" cy="6858000"/>
          </a:xfrm>
          <a:prstGeom prst="rect">
            <a:avLst/>
          </a:prstGeom>
          <a:solidFill>
            <a:srgbClr val="203C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0785" y="51759"/>
            <a:ext cx="1171755" cy="117175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00000" y="230000"/>
            <a:ext cx="1115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i="0" spc="15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ส่วนที่ 3 · รายละเอียดรายสาขา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00" y="420000"/>
            <a:ext cx="1115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 i="0">
                <a:solidFill>
                  <a:srgbClr val="203C81"/>
                </a:solidFill>
                <a:latin typeface="Tahoma"/>
                <a:ea typeface="Tahoma"/>
                <a:cs typeface="Tahoma"/>
              </a:rPr>
              <a:t>สกลนคร — วัตถุดิบทั้งหมดที่ควรสั่งซื้อ (51 รายการ) (หน้า 2/2)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00000" y="1300000"/>
          <a:ext cx="11150000" cy="3665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00000"/>
                <a:gridCol w="6200000"/>
                <a:gridCol w="2700000"/>
                <a:gridCol w="1850000"/>
              </a:tblGrid>
              <a:tr h="200000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#</a:t>
                      </a:r>
                    </a:p>
                  </a:txBody>
                  <a:tcPr marL="70000" marR="70000" marT="12000" marB="12000" anchor="ctr">
                    <a:solidFill>
                      <a:srgbClr val="203C8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วัตถุดิบ</a:t>
                      </a:r>
                    </a:p>
                  </a:txBody>
                  <a:tcPr marL="70000" marR="70000" marT="12000" marB="12000" anchor="ctr">
                    <a:solidFill>
                      <a:srgbClr val="203C8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ควรสั่ง/เดือน</a:t>
                      </a:r>
                    </a:p>
                  </a:txBody>
                  <a:tcPr marL="70000" marR="70000" marT="12000" marB="12000" anchor="ctr">
                    <a:solidFill>
                      <a:srgbClr val="203C8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มูลค่า/เดือน (฿)</a:t>
                      </a:r>
                    </a:p>
                  </a:txBody>
                  <a:tcPr marL="70000" marR="70000" marT="12000" marB="12000" anchor="ctr">
                    <a:solidFill>
                      <a:srgbClr val="203C81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31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เนื้อสไลด์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8 กก.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2,523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32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หอยสังข์ญี่ปุ่น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9 แพ็ค 120 กรัม (1.08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2,385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33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น้ำดองสไลต์เกาหลี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 แพ็ค 20 ลิตร (20.00 ลิตร)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2,120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34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สาเกสำหรับปรุงอาหาร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 แพ็ค 18 ลิตร (18.00 ลิตร)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2,046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35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เกี๊ยวซ่าอูนิ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161 ชิ้น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1,924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36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หอยเป๋าฮื้อ ตุ๋นปรุงรส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48 ตัว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1,872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37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เนื้อออสเตรเลียสไลด์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 แพ็ค 1 กก. (2.00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1,432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38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ข้าวญี่ปุ่นปรุงรส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 แพ็ค 25 กก. (25.00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1,080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39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หอยแครงยักษ์สไลด์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91 ชิ้น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1,007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40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แป้งเทมปุระผง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 แพ็ค 10 กก. (10.00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770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41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เนื้อชาโรเล่ส์หมักเสียบไม้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92 ไม้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766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42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เนื้อวากิวพับนอก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 แพ็ค 1 กก. (1.00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534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43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สาหร่ายวากาแมะ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 กก.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487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44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สาหร่ายโนรี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 กก.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352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45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เบสซอฟต์ครีมรสนม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 แพ็ค 4.4 กก. (4.40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272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46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เบสซอฟต์ครีมทูโทน (รสมัตฉะ และรสนม)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 แพ็ค 4.4 กก. (4.40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271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47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กุ้งยืด Ebi Tempura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44 ตัว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211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48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กุ้งลายเสือ (อิงราคากุ้งอาร์เจนติน่า/ตัว)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11 ตัว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175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49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ไข่ปลาแซลมอน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 กก.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99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50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หอยนางรมญี่ปุ่น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6 ชิ้น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77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51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สาหร่ายโนริหั่นฝอย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 ชิ้น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5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00000" y="6600000"/>
            <a:ext cx="11150000" cy="2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Oshinei · ต้นทุนวัตถุดิบเทียบยอดขาย &amp; แผนสั่งซื้อวัตถุดิบหลัก 48 ชนิด  ·  60/92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0578" cy="6858000"/>
          </a:xfrm>
          <a:prstGeom prst="rect">
            <a:avLst/>
          </a:prstGeom>
          <a:solidFill>
            <a:srgbClr val="203C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0785" y="51759"/>
            <a:ext cx="1171755" cy="117175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00000" y="230000"/>
            <a:ext cx="1115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i="0" spc="15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ส่วนที่ 3 · รายละเอียดรายสาขา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00" y="420000"/>
            <a:ext cx="1115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203C81"/>
                </a:solidFill>
                <a:latin typeface="Tahoma"/>
                <a:ea typeface="Tahoma"/>
                <a:cs typeface="Tahoma"/>
              </a:rPr>
              <a:t>สุพรรณบุรี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0000" y="950000"/>
            <a:ext cx="1115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อันดับต้นทุนอาหาร #2/28 (1=สูงสุด)  ·  อันดับมูลค่าสั่งซื้อ #21/28 (1=สูงสุด)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0000" y="1350000"/>
            <a:ext cx="2682500" cy="100000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0000" rIns="120000" tIns="110000" bIns="80000"/>
          <a:lstStyle/>
          <a:p>
            <a:pPr algn="ctr"/>
            <a:r>
              <a:rPr sz="1100" b="0" i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ยอดขาย (ไม่รวม VAT)</a:t>
            </a:r>
          </a:p>
          <a:p>
            <a:pPr>
              <a:spcBef>
                <a:spcPts val="400"/>
              </a:spcBef>
            </a:pPr>
            <a:r>
              <a:rPr sz="2000" b="1" i="0">
                <a:solidFill>
                  <a:srgbClr val="1F2937"/>
                </a:solidFill>
                <a:latin typeface="Tahoma"/>
                <a:ea typeface="Tahoma"/>
                <a:cs typeface="Tahoma"/>
              </a:rPr>
              <a:t>฿2,133,080</a:t>
            </a:r>
          </a:p>
          <a:p>
            <a:pPr>
              <a:spcBef>
                <a:spcPts val="400"/>
              </a:spcBef>
            </a:pPr>
            <a:r>
              <a:rPr sz="1050" b="0" i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/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2500" y="1350000"/>
            <a:ext cx="2682500" cy="100000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0000" rIns="120000" tIns="110000" bIns="80000"/>
          <a:lstStyle/>
          <a:p>
            <a:pPr algn="ctr"/>
            <a:r>
              <a:rPr sz="1100" b="0" i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ต้นทุนวัตถุดิบตามสูตร</a:t>
            </a:r>
          </a:p>
          <a:p>
            <a:pPr>
              <a:spcBef>
                <a:spcPts val="400"/>
              </a:spcBef>
            </a:pPr>
            <a:r>
              <a:rPr sz="2000" b="1" i="0">
                <a:solidFill>
                  <a:srgbClr val="1F2937"/>
                </a:solidFill>
                <a:latin typeface="Tahoma"/>
                <a:ea typeface="Tahoma"/>
                <a:cs typeface="Tahoma"/>
              </a:rPr>
              <a:t>฿1,596,837</a:t>
            </a:r>
          </a:p>
          <a:p>
            <a:pPr>
              <a:spcBef>
                <a:spcPts val="400"/>
              </a:spcBef>
            </a:pPr>
            <a:r>
              <a:rPr sz="1050" b="0" i="0">
                <a:solidFill>
                  <a:srgbClr val="B91C1C"/>
                </a:solidFill>
                <a:latin typeface="Tahoma"/>
                <a:ea typeface="Tahoma"/>
                <a:cs typeface="Tahoma"/>
              </a:rPr>
              <a:t>74.9% ของยอดขาย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5000" y="1350000"/>
            <a:ext cx="2682500" cy="100000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0000" rIns="120000" tIns="110000" bIns="80000"/>
          <a:lstStyle/>
          <a:p>
            <a:pPr algn="ctr"/>
            <a:r>
              <a:rPr sz="1100" b="0" i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เปลี่ยนจากเดือนก่อน</a:t>
            </a:r>
          </a:p>
          <a:p>
            <a:pPr>
              <a:spcBef>
                <a:spcPts val="400"/>
              </a:spcBef>
            </a:pPr>
            <a:r>
              <a:rPr sz="2000" b="1" i="0">
                <a:solidFill>
                  <a:srgbClr val="1F2937"/>
                </a:solidFill>
                <a:latin typeface="Tahoma"/>
                <a:ea typeface="Tahoma"/>
                <a:cs typeface="Tahoma"/>
              </a:rPr>
              <a:t>+4.0 จุด</a:t>
            </a:r>
          </a:p>
          <a:p>
            <a:pPr>
              <a:spcBef>
                <a:spcPts val="400"/>
              </a:spcBef>
            </a:pPr>
            <a:r>
              <a:rPr sz="1050" b="0" i="0">
                <a:solidFill>
                  <a:srgbClr val="B91C1C"/>
                </a:solidFill>
                <a:latin typeface="Tahoma"/>
                <a:ea typeface="Tahoma"/>
                <a:cs typeface="Tahoma"/>
              </a:rPr>
              <a:t>70.9% เดือนก่อน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67500" y="1350000"/>
            <a:ext cx="2682500" cy="100000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0000" rIns="120000" tIns="110000" bIns="80000"/>
          <a:lstStyle/>
          <a:p>
            <a:pPr algn="ctr"/>
            <a:r>
              <a:rPr sz="1100" b="0" i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ควรสั่งซื้อ 48 รายการหลัก/เดือน</a:t>
            </a:r>
          </a:p>
          <a:p>
            <a:pPr>
              <a:spcBef>
                <a:spcPts val="400"/>
              </a:spcBef>
            </a:pPr>
            <a:r>
              <a:rPr sz="2000" b="1" i="0">
                <a:solidFill>
                  <a:srgbClr val="1F2937"/>
                </a:solidFill>
                <a:latin typeface="Tahoma"/>
                <a:ea typeface="Tahoma"/>
                <a:cs typeface="Tahoma"/>
              </a:rPr>
              <a:t>฿454,486</a:t>
            </a:r>
          </a:p>
          <a:p>
            <a:pPr>
              <a:spcBef>
                <a:spcPts val="400"/>
              </a:spcBef>
            </a:pPr>
            <a:r>
              <a:rPr sz="1050" b="0" i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50 รายการ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0000" y="2500000"/>
            <a:ext cx="5500000" cy="2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B91C1C"/>
                </a:solidFill>
                <a:latin typeface="Tahoma"/>
                <a:ea typeface="Tahoma"/>
                <a:cs typeface="Tahoma"/>
              </a:rPr>
              <a:t>เมนูต้นทุนเพิ่มขึ้นมากสุด (MoM)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00000" y="2780000"/>
          <a:ext cx="5300000" cy="120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00000"/>
                <a:gridCol w="1700000"/>
                <a:gridCol w="1500000"/>
              </a:tblGrid>
              <a:tr h="300000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เมนู</a:t>
                      </a:r>
                    </a:p>
                  </a:txBody>
                  <a:tcPr marL="70000" marR="70000" marT="35000" marB="35000" anchor="ctr">
                    <a:solidFill>
                      <a:srgbClr val="203C8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ต้นทุนเดือนนี้</a:t>
                      </a:r>
                    </a:p>
                  </a:txBody>
                  <a:tcPr marL="70000" marR="70000" marT="35000" marB="35000" anchor="ctr">
                    <a:solidFill>
                      <a:srgbClr val="203C8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เปลี่ยน</a:t>
                      </a:r>
                    </a:p>
                  </a:txBody>
                  <a:tcPr marL="70000" marR="70000" marT="35000" marB="35000" anchor="ctr">
                    <a:solidFill>
                      <a:srgbClr val="203C81"/>
                    </a:solidFill>
                  </a:tcPr>
                </a:tc>
              </a:tr>
              <a:tr h="30000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(B) ทุเรียน (1 เม็ด)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฿219,096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+฿81,056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(B) แซลมอน ซาชิมิ (1 ชิ้น)</a:t>
                      </a:r>
                    </a:p>
                  </a:txBody>
                  <a:tcPr marL="70000" marR="70000" marT="35000" marB="35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฿234,997</a:t>
                      </a:r>
                    </a:p>
                  </a:txBody>
                  <a:tcPr marL="70000" marR="70000" marT="35000" marB="35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+฿28,862</a:t>
                      </a:r>
                    </a:p>
                  </a:txBody>
                  <a:tcPr marL="70000" marR="70000" marT="35000" marB="35000" anchor="ctr">
                    <a:solidFill>
                      <a:srgbClr val="F8FAFC"/>
                    </a:solidFill>
                  </a:tcPr>
                </a:tc>
              </a:tr>
              <a:tr h="30000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(B) ชุดปลาดิบรวม 4 อย่าง …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฿70,447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+฿13,922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6200000" y="2500000"/>
            <a:ext cx="5500000" cy="2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047757"/>
                </a:solidFill>
                <a:latin typeface="Tahoma"/>
                <a:ea typeface="Tahoma"/>
                <a:cs typeface="Tahoma"/>
              </a:rPr>
              <a:t>เมนูต้นทุนลดลงมากสุด (MoM)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6200000" y="2780000"/>
          <a:ext cx="5300000" cy="120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00000"/>
                <a:gridCol w="1700000"/>
                <a:gridCol w="1500000"/>
              </a:tblGrid>
              <a:tr h="300000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เมนู</a:t>
                      </a:r>
                    </a:p>
                  </a:txBody>
                  <a:tcPr marL="70000" marR="70000" marT="35000" marB="35000" anchor="ctr">
                    <a:solidFill>
                      <a:srgbClr val="203C8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ต้นทุนเดือนนี้</a:t>
                      </a:r>
                    </a:p>
                  </a:txBody>
                  <a:tcPr marL="70000" marR="70000" marT="35000" marB="35000" anchor="ctr">
                    <a:solidFill>
                      <a:srgbClr val="203C8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เปลี่ยน</a:t>
                      </a:r>
                    </a:p>
                  </a:txBody>
                  <a:tcPr marL="70000" marR="70000" marT="35000" marB="35000" anchor="ctr">
                    <a:solidFill>
                      <a:srgbClr val="203C81"/>
                    </a:solidFill>
                  </a:tcPr>
                </a:tc>
              </a:tr>
              <a:tr h="30000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(B) ข้าวหน้ามันปู(Buffet)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฿24,157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฿-8,413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(B) หอยนางรมเสิร์ฟพร้อมน้…</a:t>
                      </a:r>
                    </a:p>
                  </a:txBody>
                  <a:tcPr marL="70000" marR="70000" marT="35000" marB="35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฿18,727</a:t>
                      </a:r>
                    </a:p>
                  </a:txBody>
                  <a:tcPr marL="70000" marR="70000" marT="35000" marB="35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฿-7,640</a:t>
                      </a:r>
                    </a:p>
                  </a:txBody>
                  <a:tcPr marL="70000" marR="70000" marT="35000" marB="35000" anchor="ctr">
                    <a:solidFill>
                      <a:srgbClr val="F8FAFC"/>
                    </a:solidFill>
                  </a:tcPr>
                </a:tc>
              </a:tr>
              <a:tr h="30000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(B) ซูพรีม อูนิ ซูชิ (1 ช…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฿14,764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฿-7,569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600000" y="4100000"/>
            <a:ext cx="9000000" cy="2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203C81"/>
                </a:solidFill>
                <a:latin typeface="Tahoma"/>
                <a:ea typeface="Tahoma"/>
                <a:cs typeface="Tahoma"/>
              </a:rPr>
              <a:t>วัตถุดิบทั้งหมดที่ควรสั่งซื้อ (50 รายการ) — ดูสไลด์ถัดไป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0000" y="6600000"/>
            <a:ext cx="11150000" cy="2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Oshinei · ต้นทุนวัตถุดิบเทียบยอดขาย &amp; แผนสั่งซื้อวัตถุดิบหลัก 48 ชนิด  ·  61/92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0578" cy="6858000"/>
          </a:xfrm>
          <a:prstGeom prst="rect">
            <a:avLst/>
          </a:prstGeom>
          <a:solidFill>
            <a:srgbClr val="203C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0785" y="51759"/>
            <a:ext cx="1171755" cy="117175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00000" y="230000"/>
            <a:ext cx="1115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i="0" spc="15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ส่วนที่ 3 · รายละเอียดรายสาขา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00" y="420000"/>
            <a:ext cx="1115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 i="0">
                <a:solidFill>
                  <a:srgbClr val="203C81"/>
                </a:solidFill>
                <a:latin typeface="Tahoma"/>
                <a:ea typeface="Tahoma"/>
                <a:cs typeface="Tahoma"/>
              </a:rPr>
              <a:t>สุพรรณบุรี — วัตถุดิบทั้งหมดที่ควรสั่งซื้อ (50 รายการ) (หน้า 1/2)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00000" y="1300000"/>
          <a:ext cx="11150000" cy="515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00000"/>
                <a:gridCol w="6200000"/>
                <a:gridCol w="2700000"/>
                <a:gridCol w="1850000"/>
              </a:tblGrid>
              <a:tr h="200000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#</a:t>
                      </a:r>
                    </a:p>
                  </a:txBody>
                  <a:tcPr marL="70000" marR="70000" marT="12000" marB="12000" anchor="ctr">
                    <a:solidFill>
                      <a:srgbClr val="203C8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วัตถุดิบ</a:t>
                      </a:r>
                    </a:p>
                  </a:txBody>
                  <a:tcPr marL="70000" marR="70000" marT="12000" marB="12000" anchor="ctr">
                    <a:solidFill>
                      <a:srgbClr val="203C8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ควรสั่ง/เดือน</a:t>
                      </a:r>
                    </a:p>
                  </a:txBody>
                  <a:tcPr marL="70000" marR="70000" marT="12000" marB="12000" anchor="ctr">
                    <a:solidFill>
                      <a:srgbClr val="203C8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มูลค่า/เดือน (฿)</a:t>
                      </a:r>
                    </a:p>
                  </a:txBody>
                  <a:tcPr marL="70000" marR="70000" marT="12000" marB="12000" anchor="ctr">
                    <a:solidFill>
                      <a:srgbClr val="203C81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กุ้งแกะเปลือก  5 ตัวละ 15 กรัม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22 แพ็ค 10 กก. (220.00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68,156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เนื้อปลาทูน่า 1 ชิ้น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86 แพ็ค 1 กก. (86.00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49,880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เนื้อใบพายออสเตรเลียสไลด์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61 แพ็ค 1 กก. (61.00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28,670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หอยเซลล์ต้ม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50 แพ็ค 1 กก. (50.00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26,000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5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ปลาซาบะดอง 6 ชิ้น ชิ้นละ 10 กรัม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 แพ็ค 12.5 กก. (37.50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21,309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6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หนวดปลาหมึกยักษ์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 แพ็ค 12 กก. (36.00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18,705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7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ปลาไหลอูนางิ 70 P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195 แพ็ค 120 กรัม (23.40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18,525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8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เนื้อเสือร้องไห้สไลด์ ( 5 ชิ้นละ 10 กรัม 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5 แพ็ค 10 กก. (50.00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17,600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9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ปลาเนื้อขาวหั่นเต๋า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6 แพ็ค 10 กก. (60.00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16,878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10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หอยนางรมญี่ปุ่น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1,015 ตัว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13,258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11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สาหร่ายโนริแผ่น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3,613 แผ่น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13,158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12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ปลาซาบะ1 ชิ้น ½ ตัว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 แพ็ค 20 กก. (60.00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11,934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13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ไข่หอยเม่น แช่แข็ง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46 แพ็ค 100 กรัม (4.60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11,730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14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ปลาหมึกกระดอง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 แพ็ค 10 กก. (30.00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9,600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15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เนื้อชาโรเล่ส์หมักเสียบไม้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1,059 ชิ้น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8,996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16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ไข่กุ้ง Ebiko Grade A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 แพ็ค 10 กก. (20.00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8,864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17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ปลาไหลอนาโงะสไลด์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54 แพ็ค 200 กรัม (10.80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8,856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18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มันปูปรงรส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13 แพ็ค 1 กก. (13.00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8,281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19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ปลาฮามาจิ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8 แพ็ค 1.85 กก. (14.80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7,728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20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ปีกไก่สำเร็จรูป 1 ชิ้น / 35 กรัม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 แพ็ค 10 กก. (20.00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6,893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21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ปลาไหลสไลด์ 9 ชิ้น ชิ้นละ 6 กรัม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 แพ็ค 7.2 กก. (7.20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6,480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22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กุ้งอาเจนติน่า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8 แพ็ค 2 กก. (16.00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6,456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23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เนื้อออสเตรเลียแบบตัด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10 แพ็ค 1 กก. (10.00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5,640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24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เนื้อสไลด์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17 กก.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5,581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25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ไข่หวานหั่นเต๋า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 แพ็ค 10 กก. (30.00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5,457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26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ปลาดอลลี่ ½ ตัว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6 แพ็ค 10 กก. (60.00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4,914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27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วาซาบิ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 แพ็ค 10 กก. (10.00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4,789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28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ตับปลาอังกิโมะ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597 แพ็ค 15 กรัม (8.96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4,776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29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น้ำดองสไลต์เกาหลี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 แพ็ค 20 ลิตร (40.00 ลิตร)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4,240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30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สาเกสำหรับปรุงอาหาร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 แพ็ค 18 ลิตร (36.00 ลิตร)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4,092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00000" y="6600000"/>
            <a:ext cx="11150000" cy="2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Oshinei · ต้นทุนวัตถุดิบเทียบยอดขาย &amp; แผนสั่งซื้อวัตถุดิบหลัก 48 ชนิด  ·  62/92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0578" cy="6858000"/>
          </a:xfrm>
          <a:prstGeom prst="rect">
            <a:avLst/>
          </a:prstGeom>
          <a:solidFill>
            <a:srgbClr val="203C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0785" y="51759"/>
            <a:ext cx="1171755" cy="117175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00000" y="230000"/>
            <a:ext cx="1115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i="0" spc="15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ส่วนที่ 3 · รายละเอียดรายสาขา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00" y="420000"/>
            <a:ext cx="1115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 i="0">
                <a:solidFill>
                  <a:srgbClr val="203C81"/>
                </a:solidFill>
                <a:latin typeface="Tahoma"/>
                <a:ea typeface="Tahoma"/>
                <a:cs typeface="Tahoma"/>
              </a:rPr>
              <a:t>สุพรรณบุรี — วัตถุดิบทั้งหมดที่ควรสั่งซื้อ (50 รายการ) (หน้า 2/2)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00000" y="1300000"/>
          <a:ext cx="11150000" cy="350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00000"/>
                <a:gridCol w="6200000"/>
                <a:gridCol w="2700000"/>
                <a:gridCol w="1850000"/>
              </a:tblGrid>
              <a:tr h="200000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#</a:t>
                      </a:r>
                    </a:p>
                  </a:txBody>
                  <a:tcPr marL="70000" marR="70000" marT="12000" marB="12000" anchor="ctr">
                    <a:solidFill>
                      <a:srgbClr val="203C8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วัตถุดิบ</a:t>
                      </a:r>
                    </a:p>
                  </a:txBody>
                  <a:tcPr marL="70000" marR="70000" marT="12000" marB="12000" anchor="ctr">
                    <a:solidFill>
                      <a:srgbClr val="203C8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ควรสั่ง/เดือน</a:t>
                      </a:r>
                    </a:p>
                  </a:txBody>
                  <a:tcPr marL="70000" marR="70000" marT="12000" marB="12000" anchor="ctr">
                    <a:solidFill>
                      <a:srgbClr val="203C8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มูลค่า/เดือน (฿)</a:t>
                      </a:r>
                    </a:p>
                  </a:txBody>
                  <a:tcPr marL="70000" marR="70000" marT="12000" marB="12000" anchor="ctr">
                    <a:solidFill>
                      <a:srgbClr val="203C81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31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เบสซอฟต์ครีมทูโทน (รสมัตฉะ และรสนม)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15 แพ็ค 4.4 กก. (66.00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4,071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32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กุ้งเทมปุระ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830 ชิ้น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4,008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33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ปลาเงินทอดกรอบ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9 แพ็ค 250 กรัม (2.25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2,844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34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เบสซอฟต์ครีมรสนม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10 แพ็ค 4.4 กก. (44.00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2,715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35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เบสซอฟต์ครีมรสมัตฉะ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7 แพ็ค 4.4 กก. (30.80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1,899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36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มิริน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 แพ็ค 20 ลิตร (20.00 ลิตร)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1,648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37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เกี๊ยวซ่าอูนิ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129 ชิ้น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1,542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38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เนื้อออสเตรเลียสไลด์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 แพ็ค 1 กก. (2.00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1,432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39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เนื้อชาโรเล่ส์หมักเสียบไม้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173 ไม้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1,432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40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ข้าวญี่ปุ่นปรุงรส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 แพ็ค 25 กก. (25.00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1,080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41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เนื้อวากิวพับนอก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 แพ็ค 1 กก. (2.00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1,067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42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แป้งเทมปุระผง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 แพ็ค 10 กก. (10.00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770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43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สาหร่ายโนริหั่นฝอย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 กก.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636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44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หอยสังข์ญี่ปุ่น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 แพ็ค 120 กรัม (240 กรัม)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530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45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สาหร่ายวากาแมะ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 กก.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388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46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หอยเป๋าฮื้อ ตุ๋นปรุงรส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10 ตัว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374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47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กุ้งลายเสือ (อิงราคากุ้งอาร์เจนติน่า/ตัว)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21 ตัว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330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48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กุ้งยืด Ebi Tempura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35 ตัว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165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49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ไข่ปลาแซลมอน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 กก.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97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50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สาหร่ายโนริหั่นฝอย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 ชิ้น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11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00000" y="6600000"/>
            <a:ext cx="11150000" cy="2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Oshinei · ต้นทุนวัตถุดิบเทียบยอดขาย &amp; แผนสั่งซื้อวัตถุดิบหลัก 48 ชนิด  ·  63/92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0578" cy="6858000"/>
          </a:xfrm>
          <a:prstGeom prst="rect">
            <a:avLst/>
          </a:prstGeom>
          <a:solidFill>
            <a:srgbClr val="203C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0785" y="51759"/>
            <a:ext cx="1171755" cy="117175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00000" y="230000"/>
            <a:ext cx="1115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i="0" spc="15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ส่วนที่ 3 · รายละเอียดรายสาขา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00" y="420000"/>
            <a:ext cx="1115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203C81"/>
                </a:solidFill>
                <a:latin typeface="Tahoma"/>
                <a:ea typeface="Tahoma"/>
                <a:cs typeface="Tahoma"/>
              </a:rPr>
              <a:t>สุรินทร์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0000" y="950000"/>
            <a:ext cx="1115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อันดับต้นทุนอาหาร #25/28 (1=สูงสุด)  ·  อันดับมูลค่าสั่งซื้อ #26/28 (1=สูงสุด)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0000" y="1350000"/>
            <a:ext cx="2682500" cy="100000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0000" rIns="120000" tIns="110000" bIns="80000"/>
          <a:lstStyle/>
          <a:p>
            <a:pPr algn="ctr"/>
            <a:r>
              <a:rPr sz="1100" b="0" i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ยอดขาย (ไม่รวม VAT)</a:t>
            </a:r>
          </a:p>
          <a:p>
            <a:pPr>
              <a:spcBef>
                <a:spcPts val="400"/>
              </a:spcBef>
            </a:pPr>
            <a:r>
              <a:rPr sz="2000" b="1" i="0">
                <a:solidFill>
                  <a:srgbClr val="1F2937"/>
                </a:solidFill>
                <a:latin typeface="Tahoma"/>
                <a:ea typeface="Tahoma"/>
                <a:cs typeface="Tahoma"/>
              </a:rPr>
              <a:t>฿2,022,602</a:t>
            </a:r>
          </a:p>
          <a:p>
            <a:pPr>
              <a:spcBef>
                <a:spcPts val="400"/>
              </a:spcBef>
            </a:pPr>
            <a:r>
              <a:rPr sz="1050" b="0" i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/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2500" y="1350000"/>
            <a:ext cx="2682500" cy="100000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0000" rIns="120000" tIns="110000" bIns="80000"/>
          <a:lstStyle/>
          <a:p>
            <a:pPr algn="ctr"/>
            <a:r>
              <a:rPr sz="1100" b="0" i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ต้นทุนวัตถุดิบตามสูตร</a:t>
            </a:r>
          </a:p>
          <a:p>
            <a:pPr>
              <a:spcBef>
                <a:spcPts val="400"/>
              </a:spcBef>
            </a:pPr>
            <a:r>
              <a:rPr sz="2000" b="1" i="0">
                <a:solidFill>
                  <a:srgbClr val="1F2937"/>
                </a:solidFill>
                <a:latin typeface="Tahoma"/>
                <a:ea typeface="Tahoma"/>
                <a:cs typeface="Tahoma"/>
              </a:rPr>
              <a:t>฿1,034,377</a:t>
            </a:r>
          </a:p>
          <a:p>
            <a:pPr>
              <a:spcBef>
                <a:spcPts val="400"/>
              </a:spcBef>
            </a:pPr>
            <a:r>
              <a:rPr sz="1050" b="0" i="0">
                <a:solidFill>
                  <a:srgbClr val="047757"/>
                </a:solidFill>
                <a:latin typeface="Tahoma"/>
                <a:ea typeface="Tahoma"/>
                <a:cs typeface="Tahoma"/>
              </a:rPr>
              <a:t>51.1% ของยอดขาย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5000" y="1350000"/>
            <a:ext cx="2682500" cy="100000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0000" rIns="120000" tIns="110000" bIns="80000"/>
          <a:lstStyle/>
          <a:p>
            <a:pPr algn="ctr"/>
            <a:r>
              <a:rPr sz="1100" b="0" i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เปลี่ยนจากเดือนก่อน</a:t>
            </a:r>
          </a:p>
          <a:p>
            <a:pPr>
              <a:spcBef>
                <a:spcPts val="400"/>
              </a:spcBef>
            </a:pPr>
            <a:r>
              <a:rPr sz="2000" b="1" i="0">
                <a:solidFill>
                  <a:srgbClr val="1F2937"/>
                </a:solidFill>
                <a:latin typeface="Tahoma"/>
                <a:ea typeface="Tahoma"/>
                <a:cs typeface="Tahoma"/>
              </a:rPr>
              <a:t>+0.9 จุด</a:t>
            </a:r>
          </a:p>
          <a:p>
            <a:pPr>
              <a:spcBef>
                <a:spcPts val="400"/>
              </a:spcBef>
            </a:pPr>
            <a:r>
              <a:rPr sz="1050" b="0" i="0">
                <a:solidFill>
                  <a:srgbClr val="B91C1C"/>
                </a:solidFill>
                <a:latin typeface="Tahoma"/>
                <a:ea typeface="Tahoma"/>
                <a:cs typeface="Tahoma"/>
              </a:rPr>
              <a:t>50.2% เดือนก่อน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67500" y="1350000"/>
            <a:ext cx="2682500" cy="100000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0000" rIns="120000" tIns="110000" bIns="80000"/>
          <a:lstStyle/>
          <a:p>
            <a:pPr algn="ctr"/>
            <a:r>
              <a:rPr sz="1100" b="0" i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ควรสั่งซื้อ 48 รายการหลัก/เดือน</a:t>
            </a:r>
          </a:p>
          <a:p>
            <a:pPr>
              <a:spcBef>
                <a:spcPts val="400"/>
              </a:spcBef>
            </a:pPr>
            <a:r>
              <a:rPr sz="2000" b="1" i="0">
                <a:solidFill>
                  <a:srgbClr val="1F2937"/>
                </a:solidFill>
                <a:latin typeface="Tahoma"/>
                <a:ea typeface="Tahoma"/>
                <a:cs typeface="Tahoma"/>
              </a:rPr>
              <a:t>฿341,225</a:t>
            </a:r>
          </a:p>
          <a:p>
            <a:pPr>
              <a:spcBef>
                <a:spcPts val="400"/>
              </a:spcBef>
            </a:pPr>
            <a:r>
              <a:rPr sz="1050" b="0" i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50 รายการ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0000" y="2500000"/>
            <a:ext cx="5500000" cy="2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B91C1C"/>
                </a:solidFill>
                <a:latin typeface="Tahoma"/>
                <a:ea typeface="Tahoma"/>
                <a:cs typeface="Tahoma"/>
              </a:rPr>
              <a:t>เมนูต้นทุนเพิ่มขึ้นมากสุด (MoM)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00000" y="2780000"/>
          <a:ext cx="5300000" cy="120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00000"/>
                <a:gridCol w="1700000"/>
                <a:gridCol w="1500000"/>
              </a:tblGrid>
              <a:tr h="300000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เมนู</a:t>
                      </a:r>
                    </a:p>
                  </a:txBody>
                  <a:tcPr marL="70000" marR="70000" marT="35000" marB="35000" anchor="ctr">
                    <a:solidFill>
                      <a:srgbClr val="203C8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ต้นทุนเดือนนี้</a:t>
                      </a:r>
                    </a:p>
                  </a:txBody>
                  <a:tcPr marL="70000" marR="70000" marT="35000" marB="35000" anchor="ctr">
                    <a:solidFill>
                      <a:srgbClr val="203C8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เปลี่ยน</a:t>
                      </a:r>
                    </a:p>
                  </a:txBody>
                  <a:tcPr marL="70000" marR="70000" marT="35000" marB="35000" anchor="ctr">
                    <a:solidFill>
                      <a:srgbClr val="203C81"/>
                    </a:solidFill>
                  </a:tcPr>
                </a:tc>
              </a:tr>
              <a:tr h="30000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ค็อกเทลแซลมอน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฿19,457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+฿1,619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(B) ลิ้นวัวสไลด์ย่างเกลือ…</a:t>
                      </a:r>
                    </a:p>
                  </a:txBody>
                  <a:tcPr marL="70000" marR="70000" marT="35000" marB="35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฿10,898</a:t>
                      </a:r>
                    </a:p>
                  </a:txBody>
                  <a:tcPr marL="70000" marR="70000" marT="35000" marB="35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+฿1,551</a:t>
                      </a:r>
                    </a:p>
                  </a:txBody>
                  <a:tcPr marL="70000" marR="70000" marT="35000" marB="35000" anchor="ctr">
                    <a:solidFill>
                      <a:srgbClr val="F8FAFC"/>
                    </a:solidFill>
                  </a:tcPr>
                </a:tc>
              </a:tr>
              <a:tr h="30000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(B) กุ้งสด (5 ชิ้น )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฿32,737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+฿1,520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6200000" y="2500000"/>
            <a:ext cx="5500000" cy="2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047757"/>
                </a:solidFill>
                <a:latin typeface="Tahoma"/>
                <a:ea typeface="Tahoma"/>
                <a:cs typeface="Tahoma"/>
              </a:rPr>
              <a:t>เมนูต้นทุนลดลงมากสุด (MoM)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6200000" y="2780000"/>
          <a:ext cx="5300000" cy="120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00000"/>
                <a:gridCol w="1700000"/>
                <a:gridCol w="1500000"/>
              </a:tblGrid>
              <a:tr h="300000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เมนู</a:t>
                      </a:r>
                    </a:p>
                  </a:txBody>
                  <a:tcPr marL="70000" marR="70000" marT="35000" marB="35000" anchor="ctr">
                    <a:solidFill>
                      <a:srgbClr val="203C8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ต้นทุนเดือนนี้</a:t>
                      </a:r>
                    </a:p>
                  </a:txBody>
                  <a:tcPr marL="70000" marR="70000" marT="35000" marB="35000" anchor="ctr">
                    <a:solidFill>
                      <a:srgbClr val="203C8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เปลี่ยน</a:t>
                      </a:r>
                    </a:p>
                  </a:txBody>
                  <a:tcPr marL="70000" marR="70000" marT="35000" marB="35000" anchor="ctr">
                    <a:solidFill>
                      <a:srgbClr val="203C81"/>
                    </a:solidFill>
                  </a:tcPr>
                </a:tc>
              </a:tr>
              <a:tr h="30000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(B) แซลมอน ซาชิมิ (1 ชิ้น)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฿199,366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฿-15,578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(B) แซลมอนดอง (3 ชิ้น)</a:t>
                      </a:r>
                    </a:p>
                  </a:txBody>
                  <a:tcPr marL="70000" marR="70000" marT="35000" marB="35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฿62,051</a:t>
                      </a:r>
                    </a:p>
                  </a:txBody>
                  <a:tcPr marL="70000" marR="70000" marT="35000" marB="35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฿-5,594</a:t>
                      </a:r>
                    </a:p>
                  </a:txBody>
                  <a:tcPr marL="70000" marR="70000" marT="35000" marB="35000" anchor="ctr">
                    <a:solidFill>
                      <a:srgbClr val="F8FAFC"/>
                    </a:solidFill>
                  </a:tcPr>
                </a:tc>
              </a:tr>
              <a:tr h="30000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(B) กุ้งสดดอง (5 ชิ้น)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฿33,772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฿-5,554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600000" y="4100000"/>
            <a:ext cx="9000000" cy="2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203C81"/>
                </a:solidFill>
                <a:latin typeface="Tahoma"/>
                <a:ea typeface="Tahoma"/>
                <a:cs typeface="Tahoma"/>
              </a:rPr>
              <a:t>วัตถุดิบทั้งหมดที่ควรสั่งซื้อ (50 รายการ) — ดูสไลด์ถัดไป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0000" y="6600000"/>
            <a:ext cx="11150000" cy="2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Oshinei · ต้นทุนวัตถุดิบเทียบยอดขาย &amp; แผนสั่งซื้อวัตถุดิบหลัก 48 ชนิด  ·  64/92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0578" cy="6858000"/>
          </a:xfrm>
          <a:prstGeom prst="rect">
            <a:avLst/>
          </a:prstGeom>
          <a:solidFill>
            <a:srgbClr val="203C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0785" y="51759"/>
            <a:ext cx="1171755" cy="117175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00000" y="230000"/>
            <a:ext cx="1115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i="0" spc="15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ส่วนที่ 3 · รายละเอียดรายสาขา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00" y="420000"/>
            <a:ext cx="1115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 i="0">
                <a:solidFill>
                  <a:srgbClr val="203C81"/>
                </a:solidFill>
                <a:latin typeface="Tahoma"/>
                <a:ea typeface="Tahoma"/>
                <a:cs typeface="Tahoma"/>
              </a:rPr>
              <a:t>สุรินทร์ — วัตถุดิบทั้งหมดที่ควรสั่งซื้อ (50 รายการ) (หน้า 1/2)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00000" y="1300000"/>
          <a:ext cx="11150000" cy="515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00000"/>
                <a:gridCol w="6200000"/>
                <a:gridCol w="2700000"/>
                <a:gridCol w="1850000"/>
              </a:tblGrid>
              <a:tr h="200000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#</a:t>
                      </a:r>
                    </a:p>
                  </a:txBody>
                  <a:tcPr marL="70000" marR="70000" marT="12000" marB="12000" anchor="ctr">
                    <a:solidFill>
                      <a:srgbClr val="203C8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วัตถุดิบ</a:t>
                      </a:r>
                    </a:p>
                  </a:txBody>
                  <a:tcPr marL="70000" marR="70000" marT="12000" marB="12000" anchor="ctr">
                    <a:solidFill>
                      <a:srgbClr val="203C8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ควรสั่ง/เดือน</a:t>
                      </a:r>
                    </a:p>
                  </a:txBody>
                  <a:tcPr marL="70000" marR="70000" marT="12000" marB="12000" anchor="ctr">
                    <a:solidFill>
                      <a:srgbClr val="203C8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มูลค่า/เดือน (฿)</a:t>
                      </a:r>
                    </a:p>
                  </a:txBody>
                  <a:tcPr marL="70000" marR="70000" marT="12000" marB="12000" anchor="ctr">
                    <a:solidFill>
                      <a:srgbClr val="203C81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เนื้อปลาทูน่า 1 ชิ้น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69 แพ็ค 1 กก. (69.00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40,020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กุ้งแกะเปลือก  5 ตัวละ 15 กรัม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11 แพ็ค 10 กก. (110.00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34,078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หนวดปลาหมึกยักษ์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 แพ็ค 12 กก. (36.00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18,705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หอยเซลล์ต้ม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35 แพ็ค 1 กก. (35.00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18,200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5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เนื้อใบพายออสเตรเลียสไลด์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34 แพ็ค 1 กก. (34.00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15,980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6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ปลาซาบะดอง 6 ชิ้น ชิ้นละ 10 กรัม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 แพ็ค 12.5 กก. (25.00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14,206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7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เนื้อเสือร้องไห้สไลด์ ( 5 ชิ้นละ 10 กรัม 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 แพ็ค 10 กก. (40.00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14,080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8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ปลาเนื้อขาวหั่นเต๋า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5 แพ็ค 10 กก. (50.00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14,065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9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ปลาไหลอูนางิ 70 P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131 แพ็ค 120 กรัม (15.72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12,445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10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หอยนางรมญี่ปุ่น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887 ตัว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11,583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11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สาหร่ายโนริแผ่น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3,180 แผ่น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11,384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12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เนื้อชาโรเล่ส์หมักเสียบไม้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1,238 ชิ้น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10,519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13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ปลาหมึกกระดอง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 แพ็ค 10 กก. (30.00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9,600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14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ไข่กุ้ง Ebiko Grade A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 แพ็ค 10 กก. (20.00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8,864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15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ปลาซาบะ ½ ตัว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 แพ็ค 20 กก. (40.00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7,956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16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ปลาไหลอนาโงะสไลด์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44 แพ็ค 200 กรัม (8.80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7,216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17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ไข่หอยเม่น แช่แข็ง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28 แพ็ค 100 กรัม (2.80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7,140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18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ปีกไก่สำเร็จรูป 1 ชิ้น / 35 กรัม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 แพ็ค 10 กก. (20.00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6,893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19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ปลาฮามาจิ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7 แพ็ค 1.85 กก. (12.95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6,762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20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ปลาไหลสไลด์ 9 ชิ้น ชิ้นละ 6 กรัม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 แพ็ค 7.2 กก. (7.20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6,480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21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เบสซอฟต์ครีมรสนม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21 แพ็ค 4.4 กก. (92.40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5,702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22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ไข่หวานหั่นเต๋า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 แพ็ค 10 กก. (30.00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5,457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23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มันปูปรงรส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8 แพ็ค 1 กก. (8.00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5,096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24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วาซาบิ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 แพ็ค 10 กก. (10.00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4,789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25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ตับปลาอังกิโมะ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547 แพ็ค 15 กรัม (8.21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4,376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26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ปลาดอลลี่ ½ ตัว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5 แพ็ค 10 กก. (50.00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4,095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27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กุ้งอาเจนติน่า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5 แพ็ค 2 กก. (10.00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4,035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28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ปลาเงินทอดกรอบ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12 แพ็ค 250 กรัม (3.00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3,791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29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เนื้อออสเตรเลียแบบตัด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6 แพ็ค 1 กก. (6.00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3,384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30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เนื้อสไลด์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11 กก.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3,383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00000" y="6600000"/>
            <a:ext cx="11150000" cy="2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Oshinei · ต้นทุนวัตถุดิบเทียบยอดขาย &amp; แผนสั่งซื้อวัตถุดิบหลัก 48 ชนิด  ·  65/92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0578" cy="6858000"/>
          </a:xfrm>
          <a:prstGeom prst="rect">
            <a:avLst/>
          </a:prstGeom>
          <a:solidFill>
            <a:srgbClr val="203C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0785" y="51759"/>
            <a:ext cx="1171755" cy="117175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00000" y="230000"/>
            <a:ext cx="1115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i="0" spc="15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ส่วนที่ 3 · รายละเอียดรายสาขา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00" y="420000"/>
            <a:ext cx="1115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 i="0">
                <a:solidFill>
                  <a:srgbClr val="203C81"/>
                </a:solidFill>
                <a:latin typeface="Tahoma"/>
                <a:ea typeface="Tahoma"/>
                <a:cs typeface="Tahoma"/>
              </a:rPr>
              <a:t>สุรินทร์ — วัตถุดิบทั้งหมดที่ควรสั่งซื้อ (50 รายการ) (หน้า 2/2)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00000" y="1300000"/>
          <a:ext cx="11150000" cy="350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00000"/>
                <a:gridCol w="6200000"/>
                <a:gridCol w="2700000"/>
                <a:gridCol w="1850000"/>
              </a:tblGrid>
              <a:tr h="200000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#</a:t>
                      </a:r>
                    </a:p>
                  </a:txBody>
                  <a:tcPr marL="70000" marR="70000" marT="12000" marB="12000" anchor="ctr">
                    <a:solidFill>
                      <a:srgbClr val="203C8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วัตถุดิบ</a:t>
                      </a:r>
                    </a:p>
                  </a:txBody>
                  <a:tcPr marL="70000" marR="70000" marT="12000" marB="12000" anchor="ctr">
                    <a:solidFill>
                      <a:srgbClr val="203C8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ควรสั่ง/เดือน</a:t>
                      </a:r>
                    </a:p>
                  </a:txBody>
                  <a:tcPr marL="70000" marR="70000" marT="12000" marB="12000" anchor="ctr">
                    <a:solidFill>
                      <a:srgbClr val="203C8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มูลค่า/เดือน (฿)</a:t>
                      </a:r>
                    </a:p>
                  </a:txBody>
                  <a:tcPr marL="70000" marR="70000" marT="12000" marB="12000" anchor="ctr">
                    <a:solidFill>
                      <a:srgbClr val="203C81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31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กุ้งเทมปุระ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619 ชิ้น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2,989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32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เบสซอฟต์ครีมทูโทน (รสมัตฉะ และรสนม)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9 แพ็ค 4.4 กก. (39.60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2,443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33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น้ำดองสไลต์เกาหลี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 แพ็ค 20 ลิตร (20.00 ลิตร)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2,120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34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สาเกสำหรับปรุงอาหาร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 แพ็ค 18 ลิตร (18.00 ลิตร)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2,046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35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เนื้อชาโรเล่ส์หมักเสียบไม้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208 ไม้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1,729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36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เกี๊ยวซ่าอูนิ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142 ชิ้น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1,697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37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มิริน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 แพ็ค 20 ลิตร (20.00 ลิตร)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1,648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38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เนื้อออสเตรเลี่ยนวากิว สไลด์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 แพ็ค 1 กก. (2.00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1,432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39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ข้าวญี่ปุ่นปรุงรส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 แพ็ค 25 กก. (25.00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1,080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40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แป้งเทมปุระผง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 แพ็ค 10 กก. (10.00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770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41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สาหร่ายโนรี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 กก.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633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42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เนื้อวากิวพับนอก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 แพ็ค 1 กก. (1.00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534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43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กุ้งลายเสือ (อิงราคากุ้งอาร์เจนติน่า/ตัว)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31 ตัว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505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44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สาหร่ายวากาแมะ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 กก.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313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45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หอยนางรมญี่ปุ่น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24 ชิ้น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308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46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เบสซอฟต์ครีมรสมัตฉะ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 แพ็ค 4.4 กก. (4.40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271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47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กุ้งยืด Ebi Tempura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39 ตัว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188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48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ไข่ปลาแซลมอน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 กก.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135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49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ปลาฮามาจิ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 กก.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98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50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สาหร่ายโนริหั่นฝอย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 ชิ้น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00000" y="6600000"/>
            <a:ext cx="11150000" cy="2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Oshinei · ต้นทุนวัตถุดิบเทียบยอดขาย &amp; แผนสั่งซื้อวัตถุดิบหลัก 48 ชนิด  ·  66/92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0578" cy="6858000"/>
          </a:xfrm>
          <a:prstGeom prst="rect">
            <a:avLst/>
          </a:prstGeom>
          <a:solidFill>
            <a:srgbClr val="203C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0785" y="51759"/>
            <a:ext cx="1171755" cy="117175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00000" y="230000"/>
            <a:ext cx="1115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i="0" spc="15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ส่วนที่ 3 · รายละเอียดรายสาขา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00" y="420000"/>
            <a:ext cx="1115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203C81"/>
                </a:solidFill>
                <a:latin typeface="Tahoma"/>
                <a:ea typeface="Tahoma"/>
                <a:cs typeface="Tahoma"/>
              </a:rPr>
              <a:t>หาดใหญ่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0000" y="950000"/>
            <a:ext cx="1115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อันดับต้นทุนอาหาร #28/28 (1=สูงสุด)  ·  อันดับมูลค่าสั่งซื้อ #24/28 (1=สูงสุด)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0000" y="1350000"/>
            <a:ext cx="2682500" cy="100000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0000" rIns="120000" tIns="110000" bIns="80000"/>
          <a:lstStyle/>
          <a:p>
            <a:pPr algn="ctr"/>
            <a:r>
              <a:rPr sz="1100" b="0" i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ยอดขาย (ไม่รวม VAT)</a:t>
            </a:r>
          </a:p>
          <a:p>
            <a:pPr>
              <a:spcBef>
                <a:spcPts val="400"/>
              </a:spcBef>
            </a:pPr>
            <a:r>
              <a:rPr sz="2000" b="1" i="0">
                <a:solidFill>
                  <a:srgbClr val="1F2937"/>
                </a:solidFill>
                <a:latin typeface="Tahoma"/>
                <a:ea typeface="Tahoma"/>
                <a:cs typeface="Tahoma"/>
              </a:rPr>
              <a:t>฿2,060,027</a:t>
            </a:r>
          </a:p>
          <a:p>
            <a:pPr>
              <a:spcBef>
                <a:spcPts val="400"/>
              </a:spcBef>
            </a:pPr>
            <a:r>
              <a:rPr sz="1050" b="0" i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/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2500" y="1350000"/>
            <a:ext cx="2682500" cy="100000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0000" rIns="120000" tIns="110000" bIns="80000"/>
          <a:lstStyle/>
          <a:p>
            <a:pPr algn="ctr"/>
            <a:r>
              <a:rPr sz="1100" b="0" i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ต้นทุนวัตถุดิบตามสูตร</a:t>
            </a:r>
          </a:p>
          <a:p>
            <a:pPr>
              <a:spcBef>
                <a:spcPts val="400"/>
              </a:spcBef>
            </a:pPr>
            <a:r>
              <a:rPr sz="2000" b="1" i="0">
                <a:solidFill>
                  <a:srgbClr val="1F2937"/>
                </a:solidFill>
                <a:latin typeface="Tahoma"/>
                <a:ea typeface="Tahoma"/>
                <a:cs typeface="Tahoma"/>
              </a:rPr>
              <a:t>฿944,063</a:t>
            </a:r>
          </a:p>
          <a:p>
            <a:pPr>
              <a:spcBef>
                <a:spcPts val="400"/>
              </a:spcBef>
            </a:pPr>
            <a:r>
              <a:rPr sz="1050" b="0" i="0">
                <a:solidFill>
                  <a:srgbClr val="047757"/>
                </a:solidFill>
                <a:latin typeface="Tahoma"/>
                <a:ea typeface="Tahoma"/>
                <a:cs typeface="Tahoma"/>
              </a:rPr>
              <a:t>45.8% ของยอดขาย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5000" y="1350000"/>
            <a:ext cx="2682500" cy="100000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0000" rIns="120000" tIns="110000" bIns="80000"/>
          <a:lstStyle/>
          <a:p>
            <a:pPr algn="ctr"/>
            <a:r>
              <a:rPr sz="1100" b="0" i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เปลี่ยนจากเดือนก่อน</a:t>
            </a:r>
          </a:p>
          <a:p>
            <a:pPr>
              <a:spcBef>
                <a:spcPts val="400"/>
              </a:spcBef>
            </a:pPr>
            <a:r>
              <a:rPr sz="2000" b="1" i="0">
                <a:solidFill>
                  <a:srgbClr val="1F2937"/>
                </a:solidFill>
                <a:latin typeface="Tahoma"/>
                <a:ea typeface="Tahoma"/>
                <a:cs typeface="Tahoma"/>
              </a:rPr>
              <a:t>-1.9 จุด</a:t>
            </a:r>
          </a:p>
          <a:p>
            <a:pPr>
              <a:spcBef>
                <a:spcPts val="400"/>
              </a:spcBef>
            </a:pPr>
            <a:r>
              <a:rPr sz="1050" b="0" i="0">
                <a:solidFill>
                  <a:srgbClr val="047757"/>
                </a:solidFill>
                <a:latin typeface="Tahoma"/>
                <a:ea typeface="Tahoma"/>
                <a:cs typeface="Tahoma"/>
              </a:rPr>
              <a:t>47.7% เดือนก่อน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67500" y="1350000"/>
            <a:ext cx="2682500" cy="100000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0000" rIns="120000" tIns="110000" bIns="80000"/>
          <a:lstStyle/>
          <a:p>
            <a:pPr algn="ctr"/>
            <a:r>
              <a:rPr sz="1100" b="0" i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ควรสั่งซื้อ 48 รายการหลัก/เดือน</a:t>
            </a:r>
          </a:p>
          <a:p>
            <a:pPr>
              <a:spcBef>
                <a:spcPts val="400"/>
              </a:spcBef>
            </a:pPr>
            <a:r>
              <a:rPr sz="2000" b="1" i="0">
                <a:solidFill>
                  <a:srgbClr val="1F2937"/>
                </a:solidFill>
                <a:latin typeface="Tahoma"/>
                <a:ea typeface="Tahoma"/>
                <a:cs typeface="Tahoma"/>
              </a:rPr>
              <a:t>฿399,206</a:t>
            </a:r>
          </a:p>
          <a:p>
            <a:pPr>
              <a:spcBef>
                <a:spcPts val="400"/>
              </a:spcBef>
            </a:pPr>
            <a:r>
              <a:rPr sz="1050" b="0" i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49 รายการ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0000" y="2500000"/>
            <a:ext cx="5500000" cy="2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B91C1C"/>
                </a:solidFill>
                <a:latin typeface="Tahoma"/>
                <a:ea typeface="Tahoma"/>
                <a:cs typeface="Tahoma"/>
              </a:rPr>
              <a:t>เมนูต้นทุนเพิ่มขึ้นมากสุด (MoM)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00000" y="2780000"/>
          <a:ext cx="5300000" cy="120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00000"/>
                <a:gridCol w="1700000"/>
                <a:gridCol w="1500000"/>
              </a:tblGrid>
              <a:tr h="300000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เมนู</a:t>
                      </a:r>
                    </a:p>
                  </a:txBody>
                  <a:tcPr marL="70000" marR="70000" marT="35000" marB="35000" anchor="ctr">
                    <a:solidFill>
                      <a:srgbClr val="203C8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ต้นทุนเดือนนี้</a:t>
                      </a:r>
                    </a:p>
                  </a:txBody>
                  <a:tcPr marL="70000" marR="70000" marT="35000" marB="35000" anchor="ctr">
                    <a:solidFill>
                      <a:srgbClr val="203C8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เปลี่ยน</a:t>
                      </a:r>
                    </a:p>
                  </a:txBody>
                  <a:tcPr marL="70000" marR="70000" marT="35000" marB="35000" anchor="ctr">
                    <a:solidFill>
                      <a:srgbClr val="203C81"/>
                    </a:solidFill>
                  </a:tcPr>
                </a:tc>
              </a:tr>
              <a:tr h="30000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(B) กุ้งเทมปุระ(5 ตัว)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฿5,626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+฿4,403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(B) ยำสาหร่ายสด</a:t>
                      </a:r>
                    </a:p>
                  </a:txBody>
                  <a:tcPr marL="70000" marR="70000" marT="35000" marB="35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฿1,372</a:t>
                      </a:r>
                    </a:p>
                  </a:txBody>
                  <a:tcPr marL="70000" marR="70000" marT="35000" marB="35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+฿1,115</a:t>
                      </a:r>
                    </a:p>
                  </a:txBody>
                  <a:tcPr marL="70000" marR="70000" marT="35000" marB="35000" anchor="ctr">
                    <a:solidFill>
                      <a:srgbClr val="F8FAFC"/>
                    </a:solidFill>
                  </a:tcPr>
                </a:tc>
              </a:tr>
              <a:tr h="30000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(A) ข้าวหน้าปลาดิบรวม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฿1,300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+฿1,000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6200000" y="2500000"/>
            <a:ext cx="5500000" cy="2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047757"/>
                </a:solidFill>
                <a:latin typeface="Tahoma"/>
                <a:ea typeface="Tahoma"/>
                <a:cs typeface="Tahoma"/>
              </a:rPr>
              <a:t>เมนูต้นทุนลดลงมากสุด (MoM)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6200000" y="2780000"/>
          <a:ext cx="5300000" cy="120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00000"/>
                <a:gridCol w="1700000"/>
                <a:gridCol w="1500000"/>
              </a:tblGrid>
              <a:tr h="300000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เมนู</a:t>
                      </a:r>
                    </a:p>
                  </a:txBody>
                  <a:tcPr marL="70000" marR="70000" marT="35000" marB="35000" anchor="ctr">
                    <a:solidFill>
                      <a:srgbClr val="203C8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ต้นทุนเดือนนี้</a:t>
                      </a:r>
                    </a:p>
                  </a:txBody>
                  <a:tcPr marL="70000" marR="70000" marT="35000" marB="35000" anchor="ctr">
                    <a:solidFill>
                      <a:srgbClr val="203C8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เปลี่ยน</a:t>
                      </a:r>
                    </a:p>
                  </a:txBody>
                  <a:tcPr marL="70000" marR="70000" marT="35000" marB="35000" anchor="ctr">
                    <a:solidFill>
                      <a:srgbClr val="203C81"/>
                    </a:solidFill>
                  </a:tcPr>
                </a:tc>
              </a:tr>
              <a:tr h="30000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(B) ซาชิมิแซลมอน(1 ชิ้น)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฿168,158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฿-20,861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(B) หัวปลาแซลมอนต้มซีอิ๊ว</a:t>
                      </a:r>
                    </a:p>
                  </a:txBody>
                  <a:tcPr marL="70000" marR="70000" marT="35000" marB="35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฿33,024</a:t>
                      </a:r>
                    </a:p>
                  </a:txBody>
                  <a:tcPr marL="70000" marR="70000" marT="35000" marB="35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฿-10,643</a:t>
                      </a:r>
                    </a:p>
                  </a:txBody>
                  <a:tcPr marL="70000" marR="70000" marT="35000" marB="35000" anchor="ctr">
                    <a:solidFill>
                      <a:srgbClr val="F8FAFC"/>
                    </a:solidFill>
                  </a:tcPr>
                </a:tc>
              </a:tr>
              <a:tr h="30000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(B) ซาซิมิหอยเชลล์ฮอกไกโด…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฿0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฿-10,211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600000" y="4100000"/>
            <a:ext cx="9000000" cy="2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203C81"/>
                </a:solidFill>
                <a:latin typeface="Tahoma"/>
                <a:ea typeface="Tahoma"/>
                <a:cs typeface="Tahoma"/>
              </a:rPr>
              <a:t>วัตถุดิบทั้งหมดที่ควรสั่งซื้อ (49 รายการ) — ดูสไลด์ถัดไป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0000" y="6600000"/>
            <a:ext cx="11150000" cy="2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Oshinei · ต้นทุนวัตถุดิบเทียบยอดขาย &amp; แผนสั่งซื้อวัตถุดิบหลัก 48 ชนิด  ·  67/92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0578" cy="6858000"/>
          </a:xfrm>
          <a:prstGeom prst="rect">
            <a:avLst/>
          </a:prstGeom>
          <a:solidFill>
            <a:srgbClr val="203C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0785" y="51759"/>
            <a:ext cx="1171755" cy="117175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00000" y="230000"/>
            <a:ext cx="1115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i="0" spc="15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ส่วนที่ 3 · รายละเอียดรายสาขา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00" y="420000"/>
            <a:ext cx="1115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 i="0">
                <a:solidFill>
                  <a:srgbClr val="203C81"/>
                </a:solidFill>
                <a:latin typeface="Tahoma"/>
                <a:ea typeface="Tahoma"/>
                <a:cs typeface="Tahoma"/>
              </a:rPr>
              <a:t>หาดใหญ่ — วัตถุดิบทั้งหมดที่ควรสั่งซื้อ (49 รายการ) (หน้า 1/2)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00000" y="1300000"/>
          <a:ext cx="11150000" cy="515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00000"/>
                <a:gridCol w="6200000"/>
                <a:gridCol w="2700000"/>
                <a:gridCol w="1850000"/>
              </a:tblGrid>
              <a:tr h="200000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#</a:t>
                      </a:r>
                    </a:p>
                  </a:txBody>
                  <a:tcPr marL="70000" marR="70000" marT="12000" marB="12000" anchor="ctr">
                    <a:solidFill>
                      <a:srgbClr val="203C8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วัตถุดิบ</a:t>
                      </a:r>
                    </a:p>
                  </a:txBody>
                  <a:tcPr marL="70000" marR="70000" marT="12000" marB="12000" anchor="ctr">
                    <a:solidFill>
                      <a:srgbClr val="203C8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ควรสั่ง/เดือน</a:t>
                      </a:r>
                    </a:p>
                  </a:txBody>
                  <a:tcPr marL="70000" marR="70000" marT="12000" marB="12000" anchor="ctr">
                    <a:solidFill>
                      <a:srgbClr val="203C8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มูลค่า/เดือน (฿)</a:t>
                      </a:r>
                    </a:p>
                  </a:txBody>
                  <a:tcPr marL="70000" marR="70000" marT="12000" marB="12000" anchor="ctr">
                    <a:solidFill>
                      <a:srgbClr val="203C81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เนื้อปลาทูน่า 1 ชิ้น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85 แพ็ค 1 กก. (85.00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49,300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ปลาไหลอูนางิ 70 P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361 แพ็ค 120 กรัม (43.32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34,295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กุ้งแกะเปลือก  5 ตัวละ 15 กรัม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10 แพ็ค 10 กก. (100.00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30,980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เนื้อใบพายออสเตรเลียสไลด์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46 แพ็ค 1 กก. (46.00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21,620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5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ไข่หอยเม่น แช่แข็ง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84 แพ็ค 100 กรัม (8.40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21,420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6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หอยเชลล์ฮอกไกโด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33 แพ็ค 1 กก. (33.00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17,160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7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ปลาฮามาจิ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17 แพ็ค 1.85 กก. (31.45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16,422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8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ปลาซาบะดอง  1 ชิ้น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 แพ็ค 12.5 กก. (25.00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14,206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9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เนื้อเสือร้องไห้สไลด์ ( 5 ชิ้นละ 10 กรัม 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 แพ็ค 10 กก. (40.00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14,080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10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ปลาเนื้อขาวหั่นเต๋า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5 แพ็ค 10 กก. (50.00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14,065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11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หนวดปลาหมึกยักษ์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 แพ็ค 12 กก. (24.00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12,470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12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ปลาหมึกกระดอง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 แพ็ค 10 กก. (30.00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9,600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13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หอยนางรมญี่ปุ่น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722 ตัว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9,425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14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สาหร่ายโนริแผ่น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2,513 แผ่น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9,185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15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ไข่กุ้ง Ebiko Grade A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 แพ็ค 10 กก. (20.00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8,864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16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เนื้อออสเตรเลียแบบตัด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15 แพ็ค 1 กก. (15.00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8,460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17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ปลาซาบะ1 ชิ้น ½ ตัว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 แพ็ค 20 กก. (40.00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7,956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18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มันปูปรงรส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12 แพ็ค 1 กก. (12.00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7,644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19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ไข่หวานหั่นเต๋า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 แพ็ค 10 กก. (40.00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7,276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20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กุ้งอาเจนติน่า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9 แพ็ค 2 กก. (18.00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7,263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21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ปลาไหลอนาโงะสไลด์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40 แพ็ค 200 กรัม (8.00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6,560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22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ปลาไหลสไลด์ 9 ชิ้น ชิ้นละ 6 กรัม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 แพ็ค 7.2 กก. (7.20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6,480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23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เนื้อสันในสไลด์ 5 ชิ้น / ชิ้นละ 10 กรัม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19 กก.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6,283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24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ตับปลาอังกิโมะ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612 แพ็ค 15 กรัม (9.18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4,896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25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วาซาบิ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 แพ็ค 10 กก. (10.00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4,789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26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เนื้อชาโรเล่ส์หมักเสียบไม้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542 ชิ้น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4,602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27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ปลาฮามาจิ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5 กก.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4,226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28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สาเกสำหรับปรุงอาหาร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 แพ็ค 18 ลิตร (36.00 ลิตร)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4,092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29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เกี๊ยวซ่าอูนิ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340 ชิ้น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4,072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30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ปีกไก่สำเร็จรูป 1 ชิ้น / 35 กรัม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 แพ็ค 10 กก. (10.00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3,446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00000" y="6600000"/>
            <a:ext cx="11150000" cy="2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Oshinei · ต้นทุนวัตถุดิบเทียบยอดขาย &amp; แผนสั่งซื้อวัตถุดิบหลัก 48 ชนิด  ·  68/92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0578" cy="6858000"/>
          </a:xfrm>
          <a:prstGeom prst="rect">
            <a:avLst/>
          </a:prstGeom>
          <a:solidFill>
            <a:srgbClr val="203C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0785" y="51759"/>
            <a:ext cx="1171755" cy="117175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00000" y="230000"/>
            <a:ext cx="1115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i="0" spc="15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ส่วนที่ 3 · รายละเอียดรายสาขา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00" y="420000"/>
            <a:ext cx="1115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 i="0">
                <a:solidFill>
                  <a:srgbClr val="203C81"/>
                </a:solidFill>
                <a:latin typeface="Tahoma"/>
                <a:ea typeface="Tahoma"/>
                <a:cs typeface="Tahoma"/>
              </a:rPr>
              <a:t>หาดใหญ่ — วัตถุดิบทั้งหมดที่ควรสั่งซื้อ (49 รายการ) (หน้า 2/2)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00000" y="1300000"/>
          <a:ext cx="11150000" cy="3335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00000"/>
                <a:gridCol w="6200000"/>
                <a:gridCol w="2700000"/>
                <a:gridCol w="1850000"/>
              </a:tblGrid>
              <a:tr h="200000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#</a:t>
                      </a:r>
                    </a:p>
                  </a:txBody>
                  <a:tcPr marL="70000" marR="70000" marT="12000" marB="12000" anchor="ctr">
                    <a:solidFill>
                      <a:srgbClr val="203C8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วัตถุดิบ</a:t>
                      </a:r>
                    </a:p>
                  </a:txBody>
                  <a:tcPr marL="70000" marR="70000" marT="12000" marB="12000" anchor="ctr">
                    <a:solidFill>
                      <a:srgbClr val="203C8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ควรสั่ง/เดือน</a:t>
                      </a:r>
                    </a:p>
                  </a:txBody>
                  <a:tcPr marL="70000" marR="70000" marT="12000" marB="12000" anchor="ctr">
                    <a:solidFill>
                      <a:srgbClr val="203C8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มูลค่า/เดือน (฿)</a:t>
                      </a:r>
                    </a:p>
                  </a:txBody>
                  <a:tcPr marL="70000" marR="70000" marT="12000" marB="12000" anchor="ctr">
                    <a:solidFill>
                      <a:srgbClr val="203C81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31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ปลาดอลลี่แช่แข็ง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 แพ็ค 10 กก. (40.00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3,276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32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หอยเป๋าฮื้อ ตุ๋นปรุงรส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76 ตัว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3,010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33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หอยสังข์ญี่ปุ่น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11 แพ็ค 120 กรัม (1.32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2,915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34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หอยนางรมญี่ปุ่น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205 ชิ้น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2,668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35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กุ้งเทมปุระ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550 ชิ้น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2,656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36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เนื้อออสเตรเลี่ยนวากิว สไลด์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 แพ็ค 1 กก. (3.00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2,148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37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น้ำดองสไลต์เกาหลี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 แพ็ค 20 ลิตร (20.00 ลิตร)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2,120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38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มิริน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 แพ็ค 20 ลิตร (20.00 ลิตร)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1,648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39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ปลาเงินทอดกรอบ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5 แพ็ค 250 กรัม (1.25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1,580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40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เนื้อชาโรเล่ส์หมักเสียบไม้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159 ไม้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1,192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41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ข้าวญี่ปุ่นปรุงรส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 แพ็ค 25 กก. (25.00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1,080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42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เนื้อวากิวพับนอก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 แพ็ค 1 กก. (2.00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1,067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43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แป้งเทมปุระผง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 แพ็ค 10 กก. (10.00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770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44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กุ้งลายเสือ (อิงราคากุ้งอาร์เจนติน่า/ตัว)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38 ตัว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625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45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สาหร่ายโนริหั่นฝอย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 กก.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582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46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เบสซอฟต์ครีมทูโทน (รสมัตฉะ และรสนม)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 แพ็ค 4.4 กก. (4.40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271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47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เบสซอฟต์ครีมรสมัตฉะ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 แพ็ค 4.4 กก. (4.40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271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48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สาหร่ายวากาแมะ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 กก.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105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49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ไข่ปลาแซลมอน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 กก.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83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00000" y="6600000"/>
            <a:ext cx="11150000" cy="2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Oshinei · ต้นทุนวัตถุดิบเทียบยอดขาย &amp; แผนสั่งซื้อวัตถุดิบหลัก 48 ชนิด  ·  69/92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0578" cy="6858000"/>
          </a:xfrm>
          <a:prstGeom prst="rect">
            <a:avLst/>
          </a:prstGeom>
          <a:solidFill>
            <a:srgbClr val="203C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0785" y="51759"/>
            <a:ext cx="1171755" cy="117175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00000" y="230000"/>
            <a:ext cx="1115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i="0" spc="15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ส่วนที่ 3 · รายละเอียดรายสาขา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00" y="420000"/>
            <a:ext cx="1115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203C81"/>
                </a:solidFill>
                <a:latin typeface="Tahoma"/>
                <a:ea typeface="Tahoma"/>
                <a:cs typeface="Tahoma"/>
              </a:rPr>
              <a:t>อยุธยา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0000" y="950000"/>
            <a:ext cx="1115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อันดับต้นทุนอาหาร #18/28 (1=สูงสุด)  ·  อันดับมูลค่าสั่งซื้อ #3/28 (1=สูงสุด)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0000" y="1350000"/>
            <a:ext cx="2682500" cy="100000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0000" rIns="120000" tIns="110000" bIns="80000"/>
          <a:lstStyle/>
          <a:p>
            <a:pPr algn="ctr"/>
            <a:r>
              <a:rPr sz="1100" b="0" i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ยอดขาย (ไม่รวม VAT)</a:t>
            </a:r>
          </a:p>
          <a:p>
            <a:pPr>
              <a:spcBef>
                <a:spcPts val="400"/>
              </a:spcBef>
            </a:pPr>
            <a:r>
              <a:rPr sz="2000" b="1" i="0">
                <a:solidFill>
                  <a:srgbClr val="1F2937"/>
                </a:solidFill>
                <a:latin typeface="Tahoma"/>
                <a:ea typeface="Tahoma"/>
                <a:cs typeface="Tahoma"/>
              </a:rPr>
              <a:t>฿4,966,932</a:t>
            </a:r>
          </a:p>
          <a:p>
            <a:pPr>
              <a:spcBef>
                <a:spcPts val="400"/>
              </a:spcBef>
            </a:pPr>
            <a:r>
              <a:rPr sz="1050" b="0" i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/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2500" y="1350000"/>
            <a:ext cx="2682500" cy="100000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0000" rIns="120000" tIns="110000" bIns="80000"/>
          <a:lstStyle/>
          <a:p>
            <a:pPr algn="ctr"/>
            <a:r>
              <a:rPr sz="1100" b="0" i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ต้นทุนวัตถุดิบตามสูตร</a:t>
            </a:r>
          </a:p>
          <a:p>
            <a:pPr>
              <a:spcBef>
                <a:spcPts val="400"/>
              </a:spcBef>
            </a:pPr>
            <a:r>
              <a:rPr sz="2000" b="1" i="0">
                <a:solidFill>
                  <a:srgbClr val="1F2937"/>
                </a:solidFill>
                <a:latin typeface="Tahoma"/>
                <a:ea typeface="Tahoma"/>
                <a:cs typeface="Tahoma"/>
              </a:rPr>
              <a:t>฿2,815,376</a:t>
            </a:r>
          </a:p>
          <a:p>
            <a:pPr>
              <a:spcBef>
                <a:spcPts val="400"/>
              </a:spcBef>
            </a:pPr>
            <a:r>
              <a:rPr sz="1050" b="0" i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56.7% ของยอดขาย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5000" y="1350000"/>
            <a:ext cx="2682500" cy="100000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0000" rIns="120000" tIns="110000" bIns="80000"/>
          <a:lstStyle/>
          <a:p>
            <a:pPr algn="ctr"/>
            <a:r>
              <a:rPr sz="1100" b="0" i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เปลี่ยนจากเดือนก่อน</a:t>
            </a:r>
          </a:p>
          <a:p>
            <a:pPr>
              <a:spcBef>
                <a:spcPts val="400"/>
              </a:spcBef>
            </a:pPr>
            <a:r>
              <a:rPr sz="2000" b="1" i="0">
                <a:solidFill>
                  <a:srgbClr val="1F2937"/>
                </a:solidFill>
                <a:latin typeface="Tahoma"/>
                <a:ea typeface="Tahoma"/>
                <a:cs typeface="Tahoma"/>
              </a:rPr>
              <a:t>+2.1 จุด</a:t>
            </a:r>
          </a:p>
          <a:p>
            <a:pPr>
              <a:spcBef>
                <a:spcPts val="400"/>
              </a:spcBef>
            </a:pPr>
            <a:r>
              <a:rPr sz="1050" b="0" i="0">
                <a:solidFill>
                  <a:srgbClr val="B91C1C"/>
                </a:solidFill>
                <a:latin typeface="Tahoma"/>
                <a:ea typeface="Tahoma"/>
                <a:cs typeface="Tahoma"/>
              </a:rPr>
              <a:t>54.6% เดือนก่อน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67500" y="1350000"/>
            <a:ext cx="2682500" cy="100000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0000" rIns="120000" tIns="110000" bIns="80000"/>
          <a:lstStyle/>
          <a:p>
            <a:pPr algn="ctr"/>
            <a:r>
              <a:rPr sz="1100" b="0" i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ควรสั่งซื้อ 48 รายการหลัก/เดือน</a:t>
            </a:r>
          </a:p>
          <a:p>
            <a:pPr>
              <a:spcBef>
                <a:spcPts val="400"/>
              </a:spcBef>
            </a:pPr>
            <a:r>
              <a:rPr sz="2000" b="1" i="0">
                <a:solidFill>
                  <a:srgbClr val="1F2937"/>
                </a:solidFill>
                <a:latin typeface="Tahoma"/>
                <a:ea typeface="Tahoma"/>
                <a:cs typeface="Tahoma"/>
              </a:rPr>
              <a:t>฿946,950</a:t>
            </a:r>
          </a:p>
          <a:p>
            <a:pPr>
              <a:spcBef>
                <a:spcPts val="400"/>
              </a:spcBef>
            </a:pPr>
            <a:r>
              <a:rPr sz="1050" b="0" i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50 รายการ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0000" y="2500000"/>
            <a:ext cx="5500000" cy="2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B91C1C"/>
                </a:solidFill>
                <a:latin typeface="Tahoma"/>
                <a:ea typeface="Tahoma"/>
                <a:cs typeface="Tahoma"/>
              </a:rPr>
              <a:t>เมนูต้นทุนเพิ่มขึ้นมากสุด (MoM)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00000" y="2780000"/>
          <a:ext cx="5300000" cy="120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00000"/>
                <a:gridCol w="1700000"/>
                <a:gridCol w="1500000"/>
              </a:tblGrid>
              <a:tr h="300000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เมนู</a:t>
                      </a:r>
                    </a:p>
                  </a:txBody>
                  <a:tcPr marL="70000" marR="70000" marT="35000" marB="35000" anchor="ctr">
                    <a:solidFill>
                      <a:srgbClr val="203C8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ต้นทุนเดือนนี้</a:t>
                      </a:r>
                    </a:p>
                  </a:txBody>
                  <a:tcPr marL="70000" marR="70000" marT="35000" marB="35000" anchor="ctr">
                    <a:solidFill>
                      <a:srgbClr val="203C8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เปลี่ยน</a:t>
                      </a:r>
                    </a:p>
                  </a:txBody>
                  <a:tcPr marL="70000" marR="70000" marT="35000" marB="35000" anchor="ctr">
                    <a:solidFill>
                      <a:srgbClr val="203C81"/>
                    </a:solidFill>
                  </a:tcPr>
                </a:tc>
              </a:tr>
              <a:tr h="30000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(B) แซลมอน ซาชิมิ (1 ชิ้น)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฿550,631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+฿122,948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(B) แซลมอนดอง (3 ชิ้น)</a:t>
                      </a:r>
                    </a:p>
                  </a:txBody>
                  <a:tcPr marL="70000" marR="70000" marT="35000" marB="35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฿161,922</a:t>
                      </a:r>
                    </a:p>
                  </a:txBody>
                  <a:tcPr marL="70000" marR="70000" marT="35000" marB="35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+฿27,216</a:t>
                      </a:r>
                    </a:p>
                  </a:txBody>
                  <a:tcPr marL="70000" marR="70000" marT="35000" marB="35000" anchor="ctr">
                    <a:solidFill>
                      <a:srgbClr val="F8FAFC"/>
                    </a:solidFill>
                  </a:tcPr>
                </a:tc>
              </a:tr>
              <a:tr h="30000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(B) กุ้งสด (5 ชิ้น )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฿104,354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+฿23,955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6200000" y="2500000"/>
            <a:ext cx="5500000" cy="2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047757"/>
                </a:solidFill>
                <a:latin typeface="Tahoma"/>
                <a:ea typeface="Tahoma"/>
                <a:cs typeface="Tahoma"/>
              </a:rPr>
              <a:t>เมนูต้นทุนลดลงมากสุด (MoM)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6200000" y="2780000"/>
          <a:ext cx="5300000" cy="120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00000"/>
                <a:gridCol w="1700000"/>
                <a:gridCol w="1500000"/>
              </a:tblGrid>
              <a:tr h="300000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เมนู</a:t>
                      </a:r>
                    </a:p>
                  </a:txBody>
                  <a:tcPr marL="70000" marR="70000" marT="35000" marB="35000" anchor="ctr">
                    <a:solidFill>
                      <a:srgbClr val="203C8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ต้นทุนเดือนนี้</a:t>
                      </a:r>
                    </a:p>
                  </a:txBody>
                  <a:tcPr marL="70000" marR="70000" marT="35000" marB="35000" anchor="ctr">
                    <a:solidFill>
                      <a:srgbClr val="203C8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เปลี่ยน</a:t>
                      </a:r>
                    </a:p>
                  </a:txBody>
                  <a:tcPr marL="70000" marR="70000" marT="35000" marB="35000" anchor="ctr">
                    <a:solidFill>
                      <a:srgbClr val="203C81"/>
                    </a:solidFill>
                  </a:tcPr>
                </a:tc>
              </a:tr>
              <a:tr h="30000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(B) ซูพรีม อูนิ ซูชิ (1 ช…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฿55,485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฿-14,684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(B) กุ้งอาเจนติน่าซาชิมิ …</a:t>
                      </a:r>
                    </a:p>
                  </a:txBody>
                  <a:tcPr marL="70000" marR="70000" marT="35000" marB="35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฿76,202</a:t>
                      </a:r>
                    </a:p>
                  </a:txBody>
                  <a:tcPr marL="70000" marR="70000" marT="35000" marB="35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฿-11,440</a:t>
                      </a:r>
                    </a:p>
                  </a:txBody>
                  <a:tcPr marL="70000" marR="70000" marT="35000" marB="35000" anchor="ctr">
                    <a:solidFill>
                      <a:srgbClr val="F8FAFC"/>
                    </a:solidFill>
                  </a:tcPr>
                </a:tc>
              </a:tr>
              <a:tr h="30000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(B) หอยนางรมเสิร์ฟพร้อมน้…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฿44,057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฿-8,296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600000" y="4100000"/>
            <a:ext cx="9000000" cy="2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203C81"/>
                </a:solidFill>
                <a:latin typeface="Tahoma"/>
                <a:ea typeface="Tahoma"/>
                <a:cs typeface="Tahoma"/>
              </a:rPr>
              <a:t>วัตถุดิบทั้งหมดที่ควรสั่งซื้อ (50 รายการ) — ดูสไลด์ถัดไป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0000" y="6600000"/>
            <a:ext cx="11150000" cy="2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Oshinei · ต้นทุนวัตถุดิบเทียบยอดขาย &amp; แผนสั่งซื้อวัตถุดิบหลัก 48 ชนิด  ·  70/92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0578" cy="6858000"/>
          </a:xfrm>
          <a:prstGeom prst="rect">
            <a:avLst/>
          </a:prstGeom>
          <a:solidFill>
            <a:srgbClr val="203C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0785" y="51759"/>
            <a:ext cx="1171755" cy="117175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00000" y="230000"/>
            <a:ext cx="1115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i="0" spc="15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ส่วนที่ 3 · รายละเอียดรายสาขา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00" y="420000"/>
            <a:ext cx="1115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 i="0">
                <a:solidFill>
                  <a:srgbClr val="203C81"/>
                </a:solidFill>
                <a:latin typeface="Tahoma"/>
                <a:ea typeface="Tahoma"/>
                <a:cs typeface="Tahoma"/>
              </a:rPr>
              <a:t>อยุธยา — วัตถุดิบทั้งหมดที่ควรสั่งซื้อ (50 รายการ) (หน้า 1/2)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00000" y="1300000"/>
          <a:ext cx="11150000" cy="515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00000"/>
                <a:gridCol w="6200000"/>
                <a:gridCol w="2700000"/>
                <a:gridCol w="1850000"/>
              </a:tblGrid>
              <a:tr h="200000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#</a:t>
                      </a:r>
                    </a:p>
                  </a:txBody>
                  <a:tcPr marL="70000" marR="70000" marT="12000" marB="12000" anchor="ctr">
                    <a:solidFill>
                      <a:srgbClr val="203C8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วัตถุดิบ</a:t>
                      </a:r>
                    </a:p>
                  </a:txBody>
                  <a:tcPr marL="70000" marR="70000" marT="12000" marB="12000" anchor="ctr">
                    <a:solidFill>
                      <a:srgbClr val="203C8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ควรสั่ง/เดือน</a:t>
                      </a:r>
                    </a:p>
                  </a:txBody>
                  <a:tcPr marL="70000" marR="70000" marT="12000" marB="12000" anchor="ctr">
                    <a:solidFill>
                      <a:srgbClr val="203C8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มูลค่า/เดือน (฿)</a:t>
                      </a:r>
                    </a:p>
                  </a:txBody>
                  <a:tcPr marL="70000" marR="70000" marT="12000" marB="12000" anchor="ctr">
                    <a:solidFill>
                      <a:srgbClr val="203C81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เนื้อปลาทูน่า 1 ชิ้น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205 แพ็ค 1 กก. (205.00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118,900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กุ้งแกะเปลือก  5 ตัวละ 15 กรัม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36 แพ็ค 10 กก. (360.00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111,528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หอยเซลล์ต้ม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104 แพ็ค 1 กก. (104.00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54,080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ปลาไหลอูนางิ 70 P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517 แพ็ค 120 กรัม (62.04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49,115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5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เนื้อเสือร้องไห้สไลด์ ( 5 ชิ้นละ 10 กรัม 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13 แพ็ค 10 กก. (130.00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45,760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6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ไข่หอยเม่น แช่แข็ง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156 แพ็ค 100 กรัม (15.60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39,780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7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หนวดปลาหมึกยักษ์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6 แพ็ค 12 กก. (72.00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37,410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8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ปลาซาบะดอง 6 ชิ้น ชิ้นละ 10 กรัม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5 แพ็ค 12.5 กก. (62.50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35,515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9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ปลาเนื้อขาวหั่นเต๋า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12 แพ็ค 10 กก. (120.00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33,756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10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หอยนางรมญี่ปุ่น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2,432 ตัว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31,777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11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เนื้อออสเตรเลียแบบตัด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54 แพ็ค 1 กก. (54.00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30,456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12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ส่าหร่ายแผ่น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8,203 แผ่น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30,090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13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ปลาซาบะ1 ชิ้น ½ ตัว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7 แพ็ค 20 กก. (140.00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27,846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14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ปลาฮามาจิ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25 แพ็ค 1.85 กก. (46.25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24,150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15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กุ้งอาเจนติน่า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28 แพ็ค 2 กก. (56.00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22,596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16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ปลาหมึกกระดอง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7 แพ็ค 10 กก. (70.00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22,400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17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มันปูปรงรส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32 แพ็ค 1 กก. (32.00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20,384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18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ปลาไหลอนาโงะสไลด์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111 แพ็ค 200 กรัม (22.20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18,204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19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ไข่กุ้ง Ebiko Grade A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 แพ็ค 10 กก. (40.00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17,728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20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เนื้อชาโรเล่ส์หมักเสียบไม้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2,084 ชิ้น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17,712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21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ไข่หวานหั่นเต๋า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8 แพ็ค 10 กก. (80.00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14,552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22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ปีกไก่สำเร็จรูป 1 ชิ้น / 35 กรัม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 แพ็ค 10 กก. (40.00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13,785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23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ปลาไหลสไลด์ 9 ชิ้น ชิ้นละ 6 กรัม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 แพ็ค 7.2 กก. (14.40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12,960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24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เนื้อสไลด์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38 กก.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12,707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25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ตับปลาอังกิโมะ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1,243 แพ็ค 15 กรัม (18.64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9,944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26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ปลาดอลลี่ ½ ตัว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12 แพ็ค 10 กก. (120.00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9,828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27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กุ้งเทมปุระ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1,931 ชิ้น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9,324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28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เบสซอฟต์ครีมทูโทน (รสมัตฉะ และรสนม)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30 แพ็ค 4.4 กก. (132.00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8,142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29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หอยเป๋าฮื้อ ตุ๋นปรุงรส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203 ตัว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8,051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30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หอยสังข์ญี่ปุ่น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24 แพ็ค 120 กรัม (2.88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6,360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00000" y="6600000"/>
            <a:ext cx="11150000" cy="2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Oshinei · ต้นทุนวัตถุดิบเทียบยอดขาย &amp; แผนสั่งซื้อวัตถุดิบหลัก 48 ชนิด  ·  71/92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0578" cy="6858000"/>
          </a:xfrm>
          <a:prstGeom prst="rect">
            <a:avLst/>
          </a:prstGeom>
          <a:solidFill>
            <a:srgbClr val="203C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0785" y="51759"/>
            <a:ext cx="1171755" cy="117175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00000" y="230000"/>
            <a:ext cx="1115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i="0" spc="15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ส่วนที่ 3 · รายละเอียดรายสาขา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00" y="420000"/>
            <a:ext cx="1115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 i="0">
                <a:solidFill>
                  <a:srgbClr val="203C81"/>
                </a:solidFill>
                <a:latin typeface="Tahoma"/>
                <a:ea typeface="Tahoma"/>
                <a:cs typeface="Tahoma"/>
              </a:rPr>
              <a:t>อยุธยา — วัตถุดิบทั้งหมดที่ควรสั่งซื้อ (50 รายการ) (หน้า 2/2)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00000" y="1300000"/>
          <a:ext cx="11150000" cy="350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00000"/>
                <a:gridCol w="6200000"/>
                <a:gridCol w="2700000"/>
                <a:gridCol w="1850000"/>
              </a:tblGrid>
              <a:tr h="200000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#</a:t>
                      </a:r>
                    </a:p>
                  </a:txBody>
                  <a:tcPr marL="70000" marR="70000" marT="12000" marB="12000" anchor="ctr">
                    <a:solidFill>
                      <a:srgbClr val="203C8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วัตถุดิบ</a:t>
                      </a:r>
                    </a:p>
                  </a:txBody>
                  <a:tcPr marL="70000" marR="70000" marT="12000" marB="12000" anchor="ctr">
                    <a:solidFill>
                      <a:srgbClr val="203C8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ควรสั่ง/เดือน</a:t>
                      </a:r>
                    </a:p>
                  </a:txBody>
                  <a:tcPr marL="70000" marR="70000" marT="12000" marB="12000" anchor="ctr">
                    <a:solidFill>
                      <a:srgbClr val="203C8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มูลค่า/เดือน (฿)</a:t>
                      </a:r>
                    </a:p>
                  </a:txBody>
                  <a:tcPr marL="70000" marR="70000" marT="12000" marB="12000" anchor="ctr">
                    <a:solidFill>
                      <a:srgbClr val="203C81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31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สาเกสำหรับปรุงอาหาร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 แพ็ค 18 ลิตร (54.00 ลิตร)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6,138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32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เบสซอฟต์ครีมรสนม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20 แพ็ค 4.4 กก. (88.00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5,431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33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ปลาเงินทอดกรอบ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17 แพ็ค 250 กรัม (4.25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5,371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34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วาซาบิ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 แพ็ค 10 กก. (10.00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4,789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35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เนื้อชาโรเล่ส์หมักเสียบไม้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564 ไม้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4,689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36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เกี๊ยวซ่าอูนิ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389 ชิ้น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4,658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37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น้ำดองสไลต์เกาหลี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 แพ็ค 20 ลิตร (40.00 ลิตร)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4,240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38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เบสซอฟต์ครีมรสมัตฉะ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15 แพ็ค 4.4 กก. (66.00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4,069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39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เนื้อออสเตรเลียสไลด์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5 แพ็ค 1 กก. (5.00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3,580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40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มิริน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 แพ็ค 20 ลิตร (20.00 ลิตร)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1,648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41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เนื้อวากิวพับนอก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 แพ็ค 1 กก. (3.00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1,601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42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แป้งเทมปุระผง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 แพ็ค 10 กก. (20.00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1,541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43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สาหร่ายวากาแมะ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 กก.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1,199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44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ข้าวญี่ปุ่นปรุงรส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 แพ็ค 25 กก. (25.00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1,080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45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สาหร่ายโนรี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 กก.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1,015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46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กุ้งยืด Ebi Tempura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98 ตัว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472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47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ไข่ปลาแซลมอน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 กก.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358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48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หอยนางรมญี่ปุ่น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10 ชิ้น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123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49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ปลาฮามาจิ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 กก.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95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50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สาหร่ายโนริหั่นฝอย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 ชิ้น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11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00000" y="6600000"/>
            <a:ext cx="11150000" cy="2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Oshinei · ต้นทุนวัตถุดิบเทียบยอดขาย &amp; แผนสั่งซื้อวัตถุดิบหลัก 48 ชนิด  ·  72/92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0578" cy="6858000"/>
          </a:xfrm>
          <a:prstGeom prst="rect">
            <a:avLst/>
          </a:prstGeom>
          <a:solidFill>
            <a:srgbClr val="203C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0785" y="51759"/>
            <a:ext cx="1171755" cy="117175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00000" y="230000"/>
            <a:ext cx="1115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i="0" spc="15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ส่วนที่ 3 · รายละเอียดรายสาขา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00" y="420000"/>
            <a:ext cx="1115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203C81"/>
                </a:solidFill>
                <a:latin typeface="Tahoma"/>
                <a:ea typeface="Tahoma"/>
                <a:cs typeface="Tahoma"/>
              </a:rPr>
              <a:t>อุดรธานี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0000" y="950000"/>
            <a:ext cx="1115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อันดับต้นทุนอาหาร #21/28 (1=สูงสุด)  ·  อันดับมูลค่าสั่งซื้อ #7/28 (1=สูงสุด)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0000" y="1350000"/>
            <a:ext cx="2682500" cy="100000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0000" rIns="120000" tIns="110000" bIns="80000"/>
          <a:lstStyle/>
          <a:p>
            <a:pPr algn="ctr"/>
            <a:r>
              <a:rPr sz="1100" b="0" i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ยอดขาย (ไม่รวม VAT)</a:t>
            </a:r>
          </a:p>
          <a:p>
            <a:pPr>
              <a:spcBef>
                <a:spcPts val="400"/>
              </a:spcBef>
            </a:pPr>
            <a:r>
              <a:rPr sz="2000" b="1" i="0">
                <a:solidFill>
                  <a:srgbClr val="1F2937"/>
                </a:solidFill>
                <a:latin typeface="Tahoma"/>
                <a:ea typeface="Tahoma"/>
                <a:cs typeface="Tahoma"/>
              </a:rPr>
              <a:t>฿4,403,132</a:t>
            </a:r>
          </a:p>
          <a:p>
            <a:pPr>
              <a:spcBef>
                <a:spcPts val="400"/>
              </a:spcBef>
            </a:pPr>
            <a:r>
              <a:rPr sz="1050" b="0" i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/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2500" y="1350000"/>
            <a:ext cx="2682500" cy="100000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0000" rIns="120000" tIns="110000" bIns="80000"/>
          <a:lstStyle/>
          <a:p>
            <a:pPr algn="ctr"/>
            <a:r>
              <a:rPr sz="1100" b="0" i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ต้นทุนวัตถุดิบตามสูตร</a:t>
            </a:r>
          </a:p>
          <a:p>
            <a:pPr>
              <a:spcBef>
                <a:spcPts val="400"/>
              </a:spcBef>
            </a:pPr>
            <a:r>
              <a:rPr sz="2000" b="1" i="0">
                <a:solidFill>
                  <a:srgbClr val="1F2937"/>
                </a:solidFill>
                <a:latin typeface="Tahoma"/>
                <a:ea typeface="Tahoma"/>
                <a:cs typeface="Tahoma"/>
              </a:rPr>
              <a:t>฿2,439,325</a:t>
            </a:r>
          </a:p>
          <a:p>
            <a:pPr>
              <a:spcBef>
                <a:spcPts val="400"/>
              </a:spcBef>
            </a:pPr>
            <a:r>
              <a:rPr sz="1050" b="0" i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55.4% ของยอดขาย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5000" y="1350000"/>
            <a:ext cx="2682500" cy="100000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0000" rIns="120000" tIns="110000" bIns="80000"/>
          <a:lstStyle/>
          <a:p>
            <a:pPr algn="ctr"/>
            <a:r>
              <a:rPr sz="1100" b="0" i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เปลี่ยนจากเดือนก่อน</a:t>
            </a:r>
          </a:p>
          <a:p>
            <a:pPr>
              <a:spcBef>
                <a:spcPts val="400"/>
              </a:spcBef>
            </a:pPr>
            <a:r>
              <a:rPr sz="2000" b="1" i="0">
                <a:solidFill>
                  <a:srgbClr val="1F2937"/>
                </a:solidFill>
                <a:latin typeface="Tahoma"/>
                <a:ea typeface="Tahoma"/>
                <a:cs typeface="Tahoma"/>
              </a:rPr>
              <a:t>+1.6 จุด</a:t>
            </a:r>
          </a:p>
          <a:p>
            <a:pPr>
              <a:spcBef>
                <a:spcPts val="400"/>
              </a:spcBef>
            </a:pPr>
            <a:r>
              <a:rPr sz="1050" b="0" i="0">
                <a:solidFill>
                  <a:srgbClr val="B91C1C"/>
                </a:solidFill>
                <a:latin typeface="Tahoma"/>
                <a:ea typeface="Tahoma"/>
                <a:cs typeface="Tahoma"/>
              </a:rPr>
              <a:t>53.8% เดือนก่อน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67500" y="1350000"/>
            <a:ext cx="2682500" cy="100000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0000" rIns="120000" tIns="110000" bIns="80000"/>
          <a:lstStyle/>
          <a:p>
            <a:pPr algn="ctr"/>
            <a:r>
              <a:rPr sz="1100" b="0" i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ควรสั่งซื้อ 48 รายการหลัก/เดือน</a:t>
            </a:r>
          </a:p>
          <a:p>
            <a:pPr>
              <a:spcBef>
                <a:spcPts val="400"/>
              </a:spcBef>
            </a:pPr>
            <a:r>
              <a:rPr sz="2000" b="1" i="0">
                <a:solidFill>
                  <a:srgbClr val="1F2937"/>
                </a:solidFill>
                <a:latin typeface="Tahoma"/>
                <a:ea typeface="Tahoma"/>
                <a:cs typeface="Tahoma"/>
              </a:rPr>
              <a:t>฿801,413</a:t>
            </a:r>
          </a:p>
          <a:p>
            <a:pPr>
              <a:spcBef>
                <a:spcPts val="400"/>
              </a:spcBef>
            </a:pPr>
            <a:r>
              <a:rPr sz="1050" b="0" i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52 รายการ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0000" y="2500000"/>
            <a:ext cx="5500000" cy="2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B91C1C"/>
                </a:solidFill>
                <a:latin typeface="Tahoma"/>
                <a:ea typeface="Tahoma"/>
                <a:cs typeface="Tahoma"/>
              </a:rPr>
              <a:t>เมนูต้นทุนเพิ่มขึ้นมากสุด (MoM)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00000" y="2780000"/>
          <a:ext cx="5300000" cy="120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00000"/>
                <a:gridCol w="1700000"/>
                <a:gridCol w="1500000"/>
              </a:tblGrid>
              <a:tr h="300000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เมนู</a:t>
                      </a:r>
                    </a:p>
                  </a:txBody>
                  <a:tcPr marL="70000" marR="70000" marT="35000" marB="35000" anchor="ctr">
                    <a:solidFill>
                      <a:srgbClr val="203C8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ต้นทุนเดือนนี้</a:t>
                      </a:r>
                    </a:p>
                  </a:txBody>
                  <a:tcPr marL="70000" marR="70000" marT="35000" marB="35000" anchor="ctr">
                    <a:solidFill>
                      <a:srgbClr val="203C8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เปลี่ยน</a:t>
                      </a:r>
                    </a:p>
                  </a:txBody>
                  <a:tcPr marL="70000" marR="70000" marT="35000" marB="35000" anchor="ctr">
                    <a:solidFill>
                      <a:srgbClr val="203C81"/>
                    </a:solidFill>
                  </a:tcPr>
                </a:tc>
              </a:tr>
              <a:tr h="30000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(B) แซลมอน ซาชิมิ (1 ชิ้น)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฿408,707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+฿36,234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(B) แซลมอนดอง (3 ชิ้น)</a:t>
                      </a:r>
                    </a:p>
                  </a:txBody>
                  <a:tcPr marL="70000" marR="70000" marT="35000" marB="35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฿136,422</a:t>
                      </a:r>
                    </a:p>
                  </a:txBody>
                  <a:tcPr marL="70000" marR="70000" marT="35000" marB="35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+฿17,778</a:t>
                      </a:r>
                    </a:p>
                  </a:txBody>
                  <a:tcPr marL="70000" marR="70000" marT="35000" marB="35000" anchor="ctr">
                    <a:solidFill>
                      <a:srgbClr val="F8FAFC"/>
                    </a:solidFill>
                  </a:tcPr>
                </a:tc>
              </a:tr>
              <a:tr h="30000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(B) กุ้งสด (5 ชิ้น )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฿108,729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+฿14,398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6200000" y="2500000"/>
            <a:ext cx="5500000" cy="2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047757"/>
                </a:solidFill>
                <a:latin typeface="Tahoma"/>
                <a:ea typeface="Tahoma"/>
                <a:cs typeface="Tahoma"/>
              </a:rPr>
              <a:t>เมนูต้นทุนลดลงมากสุด (MoM)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6200000" y="2780000"/>
          <a:ext cx="5300000" cy="120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00000"/>
                <a:gridCol w="1700000"/>
                <a:gridCol w="1500000"/>
              </a:tblGrid>
              <a:tr h="300000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เมนู</a:t>
                      </a:r>
                    </a:p>
                  </a:txBody>
                  <a:tcPr marL="70000" marR="70000" marT="35000" marB="35000" anchor="ctr">
                    <a:solidFill>
                      <a:srgbClr val="203C8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ต้นทุนเดือนนี้</a:t>
                      </a:r>
                    </a:p>
                  </a:txBody>
                  <a:tcPr marL="70000" marR="70000" marT="35000" marB="35000" anchor="ctr">
                    <a:solidFill>
                      <a:srgbClr val="203C8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เปลี่ยน</a:t>
                      </a:r>
                    </a:p>
                  </a:txBody>
                  <a:tcPr marL="70000" marR="70000" marT="35000" marB="35000" anchor="ctr">
                    <a:solidFill>
                      <a:srgbClr val="203C81"/>
                    </a:solidFill>
                  </a:tcPr>
                </a:tc>
              </a:tr>
              <a:tr h="30000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(B) เนื้อเสือร้องไห้ ออสเ…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฿39,290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฿-3,824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(B) เนื้อใบพายออสเตรเลียส…</a:t>
                      </a:r>
                    </a:p>
                  </a:txBody>
                  <a:tcPr marL="70000" marR="70000" marT="35000" marB="35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฿31,412</a:t>
                      </a:r>
                    </a:p>
                  </a:txBody>
                  <a:tcPr marL="70000" marR="70000" marT="35000" marB="35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฿-2,722</a:t>
                      </a:r>
                    </a:p>
                  </a:txBody>
                  <a:tcPr marL="70000" marR="70000" marT="35000" marB="35000" anchor="ctr">
                    <a:solidFill>
                      <a:srgbClr val="F8FAFC"/>
                    </a:solidFill>
                  </a:tcPr>
                </a:tc>
              </a:tr>
              <a:tr h="30000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(B) ปลาทูน่าพริกไทย ซาชิม…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฿12,616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฿-2,346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600000" y="4100000"/>
            <a:ext cx="9000000" cy="2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203C81"/>
                </a:solidFill>
                <a:latin typeface="Tahoma"/>
                <a:ea typeface="Tahoma"/>
                <a:cs typeface="Tahoma"/>
              </a:rPr>
              <a:t>วัตถุดิบทั้งหมดที่ควรสั่งซื้อ (52 รายการ) — ดูสไลด์ถัดไป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0000" y="6600000"/>
            <a:ext cx="11150000" cy="2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Oshinei · ต้นทุนวัตถุดิบเทียบยอดขาย &amp; แผนสั่งซื้อวัตถุดิบหลัก 48 ชนิด  ·  73/92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0578" cy="6858000"/>
          </a:xfrm>
          <a:prstGeom prst="rect">
            <a:avLst/>
          </a:prstGeom>
          <a:solidFill>
            <a:srgbClr val="203C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0785" y="51759"/>
            <a:ext cx="1171755" cy="117175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00000" y="230000"/>
            <a:ext cx="1115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i="0" spc="15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ส่วนที่ 3 · รายละเอียดรายสาขา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00" y="420000"/>
            <a:ext cx="1115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 i="0">
                <a:solidFill>
                  <a:srgbClr val="203C81"/>
                </a:solidFill>
                <a:latin typeface="Tahoma"/>
                <a:ea typeface="Tahoma"/>
                <a:cs typeface="Tahoma"/>
              </a:rPr>
              <a:t>อุดรธานี — วัตถุดิบทั้งหมดที่ควรสั่งซื้อ (52 รายการ) (หน้า 1/2)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00000" y="1300000"/>
          <a:ext cx="11150000" cy="515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00000"/>
                <a:gridCol w="6200000"/>
                <a:gridCol w="2700000"/>
                <a:gridCol w="1850000"/>
              </a:tblGrid>
              <a:tr h="200000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#</a:t>
                      </a:r>
                    </a:p>
                  </a:txBody>
                  <a:tcPr marL="70000" marR="70000" marT="12000" marB="12000" anchor="ctr">
                    <a:solidFill>
                      <a:srgbClr val="203C8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วัตถุดิบ</a:t>
                      </a:r>
                    </a:p>
                  </a:txBody>
                  <a:tcPr marL="70000" marR="70000" marT="12000" marB="12000" anchor="ctr">
                    <a:solidFill>
                      <a:srgbClr val="203C8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ควรสั่ง/เดือน</a:t>
                      </a:r>
                    </a:p>
                  </a:txBody>
                  <a:tcPr marL="70000" marR="70000" marT="12000" marB="12000" anchor="ctr">
                    <a:solidFill>
                      <a:srgbClr val="203C8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มูลค่า/เดือน (฿)</a:t>
                      </a:r>
                    </a:p>
                  </a:txBody>
                  <a:tcPr marL="70000" marR="70000" marT="12000" marB="12000" anchor="ctr">
                    <a:solidFill>
                      <a:srgbClr val="203C81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กุ้งแกะเปลือก  5 ตัวละ 15 กรัม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37 แพ็ค 10 กก. (370.00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114,626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เนื้อปลาทูน่า 1 ชิ้น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122 แพ็ค 1 กก. (122.00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70,760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หอยเซลล์ต้ม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97 แพ็ค 1 กก. (97.00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50,440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เนื้อใบพายออสเตรเลียสไลด์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95 แพ็ค 1 กก. (95.00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44,650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5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ไข่หอยเม่น แช่แข็ง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142 แพ็ค 100 กรัม (14.20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36,210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6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หอยนางรมญี่ปุ่น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2,698 ตัว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35,260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7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เนื้อเสือร้องไห้สไลด์ ( 5 ชิ้นละ 10 กรัม 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10 แพ็ค 10 กก. (100.00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35,200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8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ปลาไหลอูนางิ 70 P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358 แพ็ค 120 กรัม (42.96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34,010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9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หนวดปลาหมึกยักษ์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5 แพ็ค 12 กก. (60.00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31,175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10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ปลาซาบะดอง 6 ชิ้น ชิ้นละ 10 กรัม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 แพ็ค 12.5 กก. (50.00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28,412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11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สาหร่ายโนริแผ่น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7,132 แผ่น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25,963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12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ปลาเนื้อขาวหั่นเต๋า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9 แพ็ค 10 กก. (90.00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25,317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13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ปลาหมึกกระดอง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6 แพ็ค 10 กก. (60.00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19,200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14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ปลาฮามาจิ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19 แพ็ค 1.85 กก. (35.15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18,354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15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ไข่กุ้ง Ebiko Grade A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 แพ็ค 10 กก. (40.00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17,728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16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ปลาไหลอนาโงะสไลด์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105 แพ็ค 200 กรัม (21.00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17,220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17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กุ้งอาเจนติน่า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20 แพ็ค 2 กก. (40.00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16,140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18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เนื้อชาโรเล่ส์หมักเสียบไม้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1,785 ชิ้น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15,168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19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มันปูปรงรส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21 แพ็ค 1 กก. (21.00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13,377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20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ปลาไหลสไลด์ 9 ชิ้น ชิ้นละ 6 กรัม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 แพ็ค 7.2 กก. (14.40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12,960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21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เนื้อออสเตรเลียแบบตัด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22 แพ็ค 1 กก. (22.00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12,408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22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ปลาซาบะ1 ชิ้น ½ ตัว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 แพ็ค 20 กก. (60.00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11,934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23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ไข่หวานหั่นเต๋า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6 แพ็ค 10 กก. (60.00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10,914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24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สาเกสำหรับปรุงอาหาร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5 แพ็ค 18 ลิตร (90.00 ลิตร)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10,230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25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ตับปลาอังกิโมะ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1,026 แพ็ค 15 กรัม (15.39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8,208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26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เบสซอฟต์ครีมรสนม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28 แพ็ค 4.4 กก. (123.20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7,603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27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ปลาดอลลี่แช่แข็ง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9 แพ็ค 10 กก. (90.00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7,371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28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กุ้งเทมปุระ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1,496 ชิ้น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7,226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29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เนื้อสไลด์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20 กก.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6,558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30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ปลาเงินทอดกรอบ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19 แพ็ค 250 กรัม (4.75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6,003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00000" y="6600000"/>
            <a:ext cx="11150000" cy="2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Oshinei · ต้นทุนวัตถุดิบเทียบยอดขาย &amp; แผนสั่งซื้อวัตถุดิบหลัก 48 ชนิด  ·  74/92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0578" cy="6858000"/>
          </a:xfrm>
          <a:prstGeom prst="rect">
            <a:avLst/>
          </a:prstGeom>
          <a:solidFill>
            <a:srgbClr val="203C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0785" y="51759"/>
            <a:ext cx="1171755" cy="117175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00000" y="230000"/>
            <a:ext cx="1115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i="0" spc="15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ส่วนที่ 3 · รายละเอียดรายสาขา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00" y="420000"/>
            <a:ext cx="1115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 i="0">
                <a:solidFill>
                  <a:srgbClr val="203C81"/>
                </a:solidFill>
                <a:latin typeface="Tahoma"/>
                <a:ea typeface="Tahoma"/>
                <a:cs typeface="Tahoma"/>
              </a:rPr>
              <a:t>อุดรธานี — วัตถุดิบทั้งหมดที่ควรสั่งซื้อ (52 รายการ) (หน้า 2/2)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00000" y="1300000"/>
          <a:ext cx="11150000" cy="383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00000"/>
                <a:gridCol w="6200000"/>
                <a:gridCol w="2700000"/>
                <a:gridCol w="1850000"/>
              </a:tblGrid>
              <a:tr h="200000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#</a:t>
                      </a:r>
                    </a:p>
                  </a:txBody>
                  <a:tcPr marL="70000" marR="70000" marT="12000" marB="12000" anchor="ctr">
                    <a:solidFill>
                      <a:srgbClr val="203C8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วัตถุดิบ</a:t>
                      </a:r>
                    </a:p>
                  </a:txBody>
                  <a:tcPr marL="70000" marR="70000" marT="12000" marB="12000" anchor="ctr">
                    <a:solidFill>
                      <a:srgbClr val="203C8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ควรสั่ง/เดือน</a:t>
                      </a:r>
                    </a:p>
                  </a:txBody>
                  <a:tcPr marL="70000" marR="70000" marT="12000" marB="12000" anchor="ctr">
                    <a:solidFill>
                      <a:srgbClr val="203C8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มูลค่า/เดือน (฿)</a:t>
                      </a:r>
                    </a:p>
                  </a:txBody>
                  <a:tcPr marL="70000" marR="70000" marT="12000" marB="12000" anchor="ctr">
                    <a:solidFill>
                      <a:srgbClr val="203C81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31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เบสซอฟต์ครีมทูโทน (รสมัตฉะ และรสนม)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20 แพ็ค 4.4 กก. (88.00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5,428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32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มิริน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 แพ็ค 20 ลิตร (60.00 ลิตร)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4,944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33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วาซาบิ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 แพ็ค 10 กก. (10.00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4,789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34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เนื้อออสเตรเลี่ยนวากิว สไลด์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6 แพ็ค 1 กก. (6.00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4,296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35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น้ำดองสไลต์เกาหลี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 แพ็ค 20 ลิตร (40.00 ลิตร)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4,240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36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เนื้อชาโรเล่ส์หมักเสียบไม้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467 ไม้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3,889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37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เกี๊ยวซ่าอูนิ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299 ชิ้น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3,579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38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ปีกไก่สำเร็จรูป 1 ชิ้น / 35 กรัม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 แพ็ค 10 กก. (10.00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3,446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39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หอยสังข์ญี่ปุ่น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10 แพ็ค 120 กรัม (1.20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2,650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40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หอยเป๋าฮื้อ ตุ๋นปรุงรส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65 ตัว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2,573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41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เบสซอฟต์ครีมรสมัตฉะ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9 แพ็ค 4.4 กก. (39.60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2,442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42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ข้าวญี่ปุ่นปรุงรส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 แพ็ค 25 กก. (50.00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2,160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43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เนื้อวากิวพับนอก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 แพ็ค 1 กก. (3.00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1,601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44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สาหร่ายโนรี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 กก.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1,391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45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สาหร่ายวากาแมะ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 กก.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1,050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46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แป้งเทมปุระผง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 แพ็ค 10 กก. (10.00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770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47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กุ้งยืด Ebi Tempura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132 ตัว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638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48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กุ้งลายเสือ (อิงราคากุ้งอาร์เจนติน่า/ตัว)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25 ตัว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403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49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ไข่ปลาแซลมอน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 กก.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376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50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ปลาฮามาจิ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 กก.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89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51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หอยแครงยักษ์สไลด์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 ชิ้น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27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52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สาหร่ายโนริหั่นฝอย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 ชิ้น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7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00000" y="6600000"/>
            <a:ext cx="11150000" cy="2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Oshinei · ต้นทุนวัตถุดิบเทียบยอดขาย &amp; แผนสั่งซื้อวัตถุดิบหลัก 48 ชนิด  ·  75/92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0578" cy="6858000"/>
          </a:xfrm>
          <a:prstGeom prst="rect">
            <a:avLst/>
          </a:prstGeom>
          <a:solidFill>
            <a:srgbClr val="203C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0785" y="51759"/>
            <a:ext cx="1171755" cy="117175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00000" y="230000"/>
            <a:ext cx="1115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i="0" spc="15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ส่วนที่ 3 · รายละเอียดรายสาขา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00" y="420000"/>
            <a:ext cx="1115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203C81"/>
                </a:solidFill>
                <a:latin typeface="Tahoma"/>
                <a:ea typeface="Tahoma"/>
                <a:cs typeface="Tahoma"/>
              </a:rPr>
              <a:t>อุบลราชธานี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0000" y="950000"/>
            <a:ext cx="1115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อันดับต้นทุนอาหาร #22/28 (1=สูงสุด)  ·  อันดับมูลค่าสั่งซื้อ #8/28 (1=สูงสุด)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0000" y="1350000"/>
            <a:ext cx="2682500" cy="100000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0000" rIns="120000" tIns="110000" bIns="80000"/>
          <a:lstStyle/>
          <a:p>
            <a:pPr algn="ctr"/>
            <a:r>
              <a:rPr sz="1100" b="0" i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ยอดขาย (ไม่รวม VAT)</a:t>
            </a:r>
          </a:p>
          <a:p>
            <a:pPr>
              <a:spcBef>
                <a:spcPts val="400"/>
              </a:spcBef>
            </a:pPr>
            <a:r>
              <a:rPr sz="2000" b="1" i="0">
                <a:solidFill>
                  <a:srgbClr val="1F2937"/>
                </a:solidFill>
                <a:latin typeface="Tahoma"/>
                <a:ea typeface="Tahoma"/>
                <a:cs typeface="Tahoma"/>
              </a:rPr>
              <a:t>฿4,532,824</a:t>
            </a:r>
          </a:p>
          <a:p>
            <a:pPr>
              <a:spcBef>
                <a:spcPts val="400"/>
              </a:spcBef>
            </a:pPr>
            <a:r>
              <a:rPr sz="1050" b="0" i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/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2500" y="1350000"/>
            <a:ext cx="2682500" cy="100000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0000" rIns="120000" tIns="110000" bIns="80000"/>
          <a:lstStyle/>
          <a:p>
            <a:pPr algn="ctr"/>
            <a:r>
              <a:rPr sz="1100" b="0" i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ต้นทุนวัตถุดิบตามสูตร</a:t>
            </a:r>
          </a:p>
          <a:p>
            <a:pPr>
              <a:spcBef>
                <a:spcPts val="400"/>
              </a:spcBef>
            </a:pPr>
            <a:r>
              <a:rPr sz="2000" b="1" i="0">
                <a:solidFill>
                  <a:srgbClr val="1F2937"/>
                </a:solidFill>
                <a:latin typeface="Tahoma"/>
                <a:ea typeface="Tahoma"/>
                <a:cs typeface="Tahoma"/>
              </a:rPr>
              <a:t>฿2,475,623</a:t>
            </a:r>
          </a:p>
          <a:p>
            <a:pPr>
              <a:spcBef>
                <a:spcPts val="400"/>
              </a:spcBef>
            </a:pPr>
            <a:r>
              <a:rPr sz="1050" b="0" i="0">
                <a:solidFill>
                  <a:srgbClr val="047757"/>
                </a:solidFill>
                <a:latin typeface="Tahoma"/>
                <a:ea typeface="Tahoma"/>
                <a:cs typeface="Tahoma"/>
              </a:rPr>
              <a:t>54.6% ของยอดขาย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5000" y="1350000"/>
            <a:ext cx="2682500" cy="100000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0000" rIns="120000" tIns="110000" bIns="80000"/>
          <a:lstStyle/>
          <a:p>
            <a:pPr algn="ctr"/>
            <a:r>
              <a:rPr sz="1100" b="0" i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เปลี่ยนจากเดือนก่อน</a:t>
            </a:r>
          </a:p>
          <a:p>
            <a:pPr>
              <a:spcBef>
                <a:spcPts val="400"/>
              </a:spcBef>
            </a:pPr>
            <a:r>
              <a:rPr sz="2000" b="1" i="0">
                <a:solidFill>
                  <a:srgbClr val="1F2937"/>
                </a:solidFill>
                <a:latin typeface="Tahoma"/>
                <a:ea typeface="Tahoma"/>
                <a:cs typeface="Tahoma"/>
              </a:rPr>
              <a:t>+3.6 จุด</a:t>
            </a:r>
          </a:p>
          <a:p>
            <a:pPr>
              <a:spcBef>
                <a:spcPts val="400"/>
              </a:spcBef>
            </a:pPr>
            <a:r>
              <a:rPr sz="1050" b="0" i="0">
                <a:solidFill>
                  <a:srgbClr val="B91C1C"/>
                </a:solidFill>
                <a:latin typeface="Tahoma"/>
                <a:ea typeface="Tahoma"/>
                <a:cs typeface="Tahoma"/>
              </a:rPr>
              <a:t>51.0% เดือนก่อน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67500" y="1350000"/>
            <a:ext cx="2682500" cy="100000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0000" rIns="120000" tIns="110000" bIns="80000"/>
          <a:lstStyle/>
          <a:p>
            <a:pPr algn="ctr"/>
            <a:r>
              <a:rPr sz="1100" b="0" i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ควรสั่งซื้อ 48 รายการหลัก/เดือน</a:t>
            </a:r>
          </a:p>
          <a:p>
            <a:pPr>
              <a:spcBef>
                <a:spcPts val="400"/>
              </a:spcBef>
            </a:pPr>
            <a:r>
              <a:rPr sz="2000" b="1" i="0">
                <a:solidFill>
                  <a:srgbClr val="1F2937"/>
                </a:solidFill>
                <a:latin typeface="Tahoma"/>
                <a:ea typeface="Tahoma"/>
                <a:cs typeface="Tahoma"/>
              </a:rPr>
              <a:t>฿804,225</a:t>
            </a:r>
          </a:p>
          <a:p>
            <a:pPr>
              <a:spcBef>
                <a:spcPts val="400"/>
              </a:spcBef>
            </a:pPr>
            <a:r>
              <a:rPr sz="1050" b="0" i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51 รายการ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0000" y="2500000"/>
            <a:ext cx="5500000" cy="2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B91C1C"/>
                </a:solidFill>
                <a:latin typeface="Tahoma"/>
                <a:ea typeface="Tahoma"/>
                <a:cs typeface="Tahoma"/>
              </a:rPr>
              <a:t>เมนูต้นทุนเพิ่มขึ้นมากสุด (MoM)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00000" y="2780000"/>
          <a:ext cx="5300000" cy="120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00000"/>
                <a:gridCol w="1700000"/>
                <a:gridCol w="1500000"/>
              </a:tblGrid>
              <a:tr h="300000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เมนู</a:t>
                      </a:r>
                    </a:p>
                  </a:txBody>
                  <a:tcPr marL="70000" marR="70000" marT="35000" marB="35000" anchor="ctr">
                    <a:solidFill>
                      <a:srgbClr val="203C8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ต้นทุนเดือนนี้</a:t>
                      </a:r>
                    </a:p>
                  </a:txBody>
                  <a:tcPr marL="70000" marR="70000" marT="35000" marB="35000" anchor="ctr">
                    <a:solidFill>
                      <a:srgbClr val="203C8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เปลี่ยน</a:t>
                      </a:r>
                    </a:p>
                  </a:txBody>
                  <a:tcPr marL="70000" marR="70000" marT="35000" marB="35000" anchor="ctr">
                    <a:solidFill>
                      <a:srgbClr val="203C81"/>
                    </a:solidFill>
                  </a:tcPr>
                </a:tc>
              </a:tr>
              <a:tr h="30000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(B) แซลมอน ซาชิมิ (1 ชิ้น)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฿491,215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+฿14,719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(B) สเต็กปลาแซลมอน</a:t>
                      </a:r>
                    </a:p>
                  </a:txBody>
                  <a:tcPr marL="70000" marR="70000" marT="35000" marB="35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฿39,777</a:t>
                      </a:r>
                    </a:p>
                  </a:txBody>
                  <a:tcPr marL="70000" marR="70000" marT="35000" marB="35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+฿8,664</a:t>
                      </a:r>
                    </a:p>
                  </a:txBody>
                  <a:tcPr marL="70000" marR="70000" marT="35000" marB="35000" anchor="ctr">
                    <a:solidFill>
                      <a:srgbClr val="F8FAFC"/>
                    </a:solidFill>
                  </a:tcPr>
                </a:tc>
              </a:tr>
              <a:tr h="30000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(B) หัวปลาแซลมอนต้มซีอิ๊ว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฿44,499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+฿7,329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6200000" y="2500000"/>
            <a:ext cx="5500000" cy="2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047757"/>
                </a:solidFill>
                <a:latin typeface="Tahoma"/>
                <a:ea typeface="Tahoma"/>
                <a:cs typeface="Tahoma"/>
              </a:rPr>
              <a:t>เมนูต้นทุนลดลงมากสุด (MoM)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6200000" y="2780000"/>
          <a:ext cx="5300000" cy="120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00000"/>
                <a:gridCol w="1700000"/>
                <a:gridCol w="1500000"/>
              </a:tblGrid>
              <a:tr h="300000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เมนู</a:t>
                      </a:r>
                    </a:p>
                  </a:txBody>
                  <a:tcPr marL="70000" marR="70000" marT="35000" marB="35000" anchor="ctr">
                    <a:solidFill>
                      <a:srgbClr val="203C8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ต้นทุนเดือนนี้</a:t>
                      </a:r>
                    </a:p>
                  </a:txBody>
                  <a:tcPr marL="70000" marR="70000" marT="35000" marB="35000" anchor="ctr">
                    <a:solidFill>
                      <a:srgbClr val="203C8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เปลี่ยน</a:t>
                      </a:r>
                    </a:p>
                  </a:txBody>
                  <a:tcPr marL="70000" marR="70000" marT="35000" marB="35000" anchor="ctr">
                    <a:solidFill>
                      <a:srgbClr val="203C81"/>
                    </a:solidFill>
                  </a:tcPr>
                </a:tc>
              </a:tr>
              <a:tr h="30000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(B) ซูพรีม อูนิ ซูชิ (1 ช…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฿34,245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฿-8,075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(B) ข้าวหน้ามันปู(Buffet)</a:t>
                      </a:r>
                    </a:p>
                  </a:txBody>
                  <a:tcPr marL="70000" marR="70000" marT="35000" marB="35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฿33,419</a:t>
                      </a:r>
                    </a:p>
                  </a:txBody>
                  <a:tcPr marL="70000" marR="70000" marT="35000" marB="35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฿-7,795</a:t>
                      </a:r>
                    </a:p>
                  </a:txBody>
                  <a:tcPr marL="70000" marR="70000" marT="35000" marB="35000" anchor="ctr">
                    <a:solidFill>
                      <a:srgbClr val="F8FAFC"/>
                    </a:solidFill>
                  </a:tcPr>
                </a:tc>
              </a:tr>
              <a:tr h="30000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(B) กุ้งสด (5 ชิ้น )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฿94,890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฿-6,454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600000" y="4100000"/>
            <a:ext cx="9000000" cy="2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203C81"/>
                </a:solidFill>
                <a:latin typeface="Tahoma"/>
                <a:ea typeface="Tahoma"/>
                <a:cs typeface="Tahoma"/>
              </a:rPr>
              <a:t>วัตถุดิบทั้งหมดที่ควรสั่งซื้อ (51 รายการ) — ดูสไลด์ถัดไป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0000" y="6600000"/>
            <a:ext cx="11150000" cy="2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Oshinei · ต้นทุนวัตถุดิบเทียบยอดขาย &amp; แผนสั่งซื้อวัตถุดิบหลัก 48 ชนิด  ·  76/92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0578" cy="6858000"/>
          </a:xfrm>
          <a:prstGeom prst="rect">
            <a:avLst/>
          </a:prstGeom>
          <a:solidFill>
            <a:srgbClr val="203C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0785" y="51759"/>
            <a:ext cx="1171755" cy="117175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00000" y="230000"/>
            <a:ext cx="1115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i="0" spc="15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ส่วนที่ 3 · รายละเอียดรายสาขา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00" y="420000"/>
            <a:ext cx="1115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 i="0">
                <a:solidFill>
                  <a:srgbClr val="203C81"/>
                </a:solidFill>
                <a:latin typeface="Tahoma"/>
                <a:ea typeface="Tahoma"/>
                <a:cs typeface="Tahoma"/>
              </a:rPr>
              <a:t>อุบลราชธานี — วัตถุดิบทั้งหมดที่ควรสั่งซื้อ (51 รายการ) (หน้า 1/2)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00000" y="1300000"/>
          <a:ext cx="11150000" cy="515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00000"/>
                <a:gridCol w="6200000"/>
                <a:gridCol w="2700000"/>
                <a:gridCol w="1850000"/>
              </a:tblGrid>
              <a:tr h="200000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#</a:t>
                      </a:r>
                    </a:p>
                  </a:txBody>
                  <a:tcPr marL="70000" marR="70000" marT="12000" marB="12000" anchor="ctr">
                    <a:solidFill>
                      <a:srgbClr val="203C8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วัตถุดิบ</a:t>
                      </a:r>
                    </a:p>
                  </a:txBody>
                  <a:tcPr marL="70000" marR="70000" marT="12000" marB="12000" anchor="ctr">
                    <a:solidFill>
                      <a:srgbClr val="203C8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ควรสั่ง/เดือน</a:t>
                      </a:r>
                    </a:p>
                  </a:txBody>
                  <a:tcPr marL="70000" marR="70000" marT="12000" marB="12000" anchor="ctr">
                    <a:solidFill>
                      <a:srgbClr val="203C8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มูลค่า/เดือน (฿)</a:t>
                      </a:r>
                    </a:p>
                  </a:txBody>
                  <a:tcPr marL="70000" marR="70000" marT="12000" marB="12000" anchor="ctr">
                    <a:solidFill>
                      <a:srgbClr val="203C81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กุ้งแกะเปลือก  5 ตัวละ 15 กรัม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36 แพ็ค 10 กก. (360.00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111,528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เนื้อปลาทูน่า 1 ชิ้น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141 แพ็ค 1 กก. (141.00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81,780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หอยเซลล์ต้ม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94 แพ็ค 1 กก. (94.00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48,880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หนวดปลาหมึกยักษ์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7 แพ็ค 12 กก. (84.00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43,645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5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เนื้อใบพายออสเตรเลียสไลด์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79 แพ็ค 1 กก. (79.00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37,130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6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ปลาไหลอูนางิ 70 P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349 แพ็ค 120 กรัม (41.88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33,155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7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เนื้อเสือร้องไห้สไลด์ ( 5 ชิ้นละ 10 กรัม 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9 แพ็ค 10 กก. (90.00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31,680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8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ปลาซาบะดอง 6 ชิ้น ชิ้นละ 10 กรัม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 แพ็ค 12.5 กก. (50.00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28,412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9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ปลาเนื้อขาวหั่นเต๋า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10 แพ็ค 10 กก. (100.00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28,130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10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สาหร่ายโนริแผ่น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7,508 แผ่น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27,468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11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ไข่หอยเม่น แช่แข็ง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103 แพ็ค 100 กรัม (10.30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26,265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12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หอยนางรมญี่ปุ่น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1,807 ตัว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23,613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13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ไข่กุ้ง Ebiko Grade A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5 แพ็ค 10 กก. (50.00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22,160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14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ปลาหมึกกระดอง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6 แพ็ค 10 กก. (60.00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19,200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15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เนื้อชาโรเล่ส์หมักเสียบไม้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2,105 ชิ้น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17,892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16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ปลาไหลอนาโงะสไลด์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106 แพ็ค 200 กรัม (21.20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17,384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17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ปลาฮามาจิ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17 แพ็ค 1.85 กก. (31.45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16,422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18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ปลาซาบะ ½ ตัว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 แพ็ค 20 กก. (80.00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15,912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19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มันปูปรงรส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24 แพ็ค 1 กก. (24.00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15,288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20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ปลาไหลสไลด์ 9 ชิ้น ชิ้นละ 6 กรัม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 แพ็ค 7.2 กก. (14.40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12,960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21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เบสซอฟต์ครีมรสนม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47 แพ็ค 4.4 กก. (206.80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12,762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22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ไข่หวานหั่นเต๋า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7 แพ็ค 10 กก. (70.00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12,733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23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กุ้งอาเจนติน่า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14 แพ็ค 2 กก. (28.00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11,298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24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เนื้อออสเตรเลียแบบตัด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20 แพ็ค 1 กก. (20.00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11,280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25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ตับปลาอังกิโมะ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1,165 แพ็ค 15 กรัม (17.48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9,320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26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ปลาเงินทอดกรอบ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28 แพ็ค 250 กรัม (7.00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8,847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27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กุ้งเทมปุระ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1,701 ชิ้น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8,214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28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ปลาดอลลี่ ½ ตัว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10 แพ็ค 10 กก. (100.00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8,190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29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เนื้อสไลด์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23 กก.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7,597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30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ปีกไก่สำเร็จรูป 1 ชิ้น / 35 กรัม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 แพ็ค 10 กก. (20.00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6,893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00000" y="6600000"/>
            <a:ext cx="11150000" cy="2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Oshinei · ต้นทุนวัตถุดิบเทียบยอดขาย &amp; แผนสั่งซื้อวัตถุดิบหลัก 48 ชนิด  ·  77/92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0578" cy="6858000"/>
          </a:xfrm>
          <a:prstGeom prst="rect">
            <a:avLst/>
          </a:prstGeom>
          <a:solidFill>
            <a:srgbClr val="203C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0785" y="51759"/>
            <a:ext cx="1171755" cy="117175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00000" y="230000"/>
            <a:ext cx="1115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i="0" spc="15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ส่วนที่ 3 · รายละเอียดรายสาขา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00" y="420000"/>
            <a:ext cx="1115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 i="0">
                <a:solidFill>
                  <a:srgbClr val="203C81"/>
                </a:solidFill>
                <a:latin typeface="Tahoma"/>
                <a:ea typeface="Tahoma"/>
                <a:cs typeface="Tahoma"/>
              </a:rPr>
              <a:t>อุบลราชธานี — วัตถุดิบทั้งหมดที่ควรสั่งซื้อ (51 รายการ) (หน้า 2/2)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00000" y="1300000"/>
          <a:ext cx="11150000" cy="3665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00000"/>
                <a:gridCol w="6200000"/>
                <a:gridCol w="2700000"/>
                <a:gridCol w="1850000"/>
              </a:tblGrid>
              <a:tr h="200000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#</a:t>
                      </a:r>
                    </a:p>
                  </a:txBody>
                  <a:tcPr marL="70000" marR="70000" marT="12000" marB="12000" anchor="ctr">
                    <a:solidFill>
                      <a:srgbClr val="203C8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วัตถุดิบ</a:t>
                      </a:r>
                    </a:p>
                  </a:txBody>
                  <a:tcPr marL="70000" marR="70000" marT="12000" marB="12000" anchor="ctr">
                    <a:solidFill>
                      <a:srgbClr val="203C8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ควรสั่ง/เดือน</a:t>
                      </a:r>
                    </a:p>
                  </a:txBody>
                  <a:tcPr marL="70000" marR="70000" marT="12000" marB="12000" anchor="ctr">
                    <a:solidFill>
                      <a:srgbClr val="203C8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มูลค่า/เดือน (฿)</a:t>
                      </a:r>
                    </a:p>
                  </a:txBody>
                  <a:tcPr marL="70000" marR="70000" marT="12000" marB="12000" anchor="ctr">
                    <a:solidFill>
                      <a:srgbClr val="203C81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31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สาเกสำหรับปรุงอาหาร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 แพ็ค 18 ลิตร (54.00 ลิตร)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6,138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32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หอยเป๋าฮื้อ ตุ๋นปรุงรส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127 ตัว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5,009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33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วาซาบิ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 แพ็ค 10 กก. (10.00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4,789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34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หอยสังข์ญี่ปุ่น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18 แพ็ค 120 กรัม (2.16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4,770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35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น้ำดองสไลต์เกาหลี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 แพ็ค 20 ลิตร (40.00 ลิตร)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4,240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36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เบสซอฟต์ครีมทูโทน (รสมัตฉะ และรสนม)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14 แพ็ค 4.4 กก. (61.60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3,800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37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เกี๊ยวซ่าอูนิ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301 ชิ้น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3,606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38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เนื้อชาโรเล่ส์หมักเสียบไม้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418 ไม้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3,477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39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เนื้อออสเตรเลี่ยนวากิว สไลด์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 แพ็ค 1 กก. (4.00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2,864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40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มิริน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 แพ็ค 20 ลิตร (20.00 ลิตร)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1,648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41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เนื้อวากิวพับนอก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 แพ็ค 1 กก. (3.00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1,601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42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แป้งเทมปุระผง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 แพ็ค 10 กก. (20.00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1,541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43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สาหร่ายโนรี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 กก.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1,229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44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ข้าวญี่ปุ่นปรุงรส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 แพ็ค 25 กก. (25.00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1,080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45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สาหร่ายวากาแมะ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 กก.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669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46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กุ้งยืด Ebi Tempura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129 ตัว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620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47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กุ้งลายเสือ (อิงราคากุ้งอาร์เจนติน่า/ตัว)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21 ตัว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330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48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เบสซอฟต์ครีมรสมัตฉะ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 แพ็ค 4.4 กก. (4.40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271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49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หอยแครงยักษ์สไลด์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23 ชิ้น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249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50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ไข่ปลาแซลมอน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 กก.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247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51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สาหร่ายโนริหั่นฝอย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 ชิ้น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10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00000" y="6600000"/>
            <a:ext cx="11150000" cy="2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Oshinei · ต้นทุนวัตถุดิบเทียบยอดขาย &amp; แผนสั่งซื้อวัตถุดิบหลัก 48 ชนิด  ·  78/92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0578" cy="6858000"/>
          </a:xfrm>
          <a:prstGeom prst="rect">
            <a:avLst/>
          </a:prstGeom>
          <a:solidFill>
            <a:srgbClr val="203C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0785" y="51759"/>
            <a:ext cx="1171755" cy="117175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00000" y="230000"/>
            <a:ext cx="1115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i="0" spc="15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ส่วนที่ 3 · รายละเอียดรายสาขา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00" y="420000"/>
            <a:ext cx="1115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203C81"/>
                </a:solidFill>
                <a:latin typeface="Tahoma"/>
                <a:ea typeface="Tahoma"/>
                <a:cs typeface="Tahoma"/>
              </a:rPr>
              <a:t>เชียงราย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0000" y="950000"/>
            <a:ext cx="1115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อันดับต้นทุนอาหาร #9/28 (1=สูงสุด)  ·  อันดับมูลค่าสั่งซื้อ #5/28 (1=สูงสุด)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0000" y="1350000"/>
            <a:ext cx="2682500" cy="100000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0000" rIns="120000" tIns="110000" bIns="80000"/>
          <a:lstStyle/>
          <a:p>
            <a:pPr algn="ctr"/>
            <a:r>
              <a:rPr sz="1100" b="0" i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ยอดขาย (ไม่รวม VAT)</a:t>
            </a:r>
          </a:p>
          <a:p>
            <a:pPr>
              <a:spcBef>
                <a:spcPts val="400"/>
              </a:spcBef>
            </a:pPr>
            <a:r>
              <a:rPr sz="2000" b="1" i="0">
                <a:solidFill>
                  <a:srgbClr val="1F2937"/>
                </a:solidFill>
                <a:latin typeface="Tahoma"/>
                <a:ea typeface="Tahoma"/>
                <a:cs typeface="Tahoma"/>
              </a:rPr>
              <a:t>฿4,191,784</a:t>
            </a:r>
          </a:p>
          <a:p>
            <a:pPr>
              <a:spcBef>
                <a:spcPts val="400"/>
              </a:spcBef>
            </a:pPr>
            <a:r>
              <a:rPr sz="1050" b="0" i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/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2500" y="1350000"/>
            <a:ext cx="2682500" cy="100000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0000" rIns="120000" tIns="110000" bIns="80000"/>
          <a:lstStyle/>
          <a:p>
            <a:pPr algn="ctr"/>
            <a:r>
              <a:rPr sz="1100" b="0" i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ต้นทุนวัตถุดิบตามสูตร</a:t>
            </a:r>
          </a:p>
          <a:p>
            <a:pPr>
              <a:spcBef>
                <a:spcPts val="400"/>
              </a:spcBef>
            </a:pPr>
            <a:r>
              <a:rPr sz="2000" b="1" i="0">
                <a:solidFill>
                  <a:srgbClr val="1F2937"/>
                </a:solidFill>
                <a:latin typeface="Tahoma"/>
                <a:ea typeface="Tahoma"/>
                <a:cs typeface="Tahoma"/>
              </a:rPr>
              <a:t>฿2,714,357</a:t>
            </a:r>
          </a:p>
          <a:p>
            <a:pPr>
              <a:spcBef>
                <a:spcPts val="400"/>
              </a:spcBef>
            </a:pPr>
            <a:r>
              <a:rPr sz="1050" b="0" i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64.8% ของยอดขาย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5000" y="1350000"/>
            <a:ext cx="2682500" cy="100000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0000" rIns="120000" tIns="110000" bIns="80000"/>
          <a:lstStyle/>
          <a:p>
            <a:pPr algn="ctr"/>
            <a:r>
              <a:rPr sz="1100" b="0" i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เปลี่ยนจากเดือนก่อน</a:t>
            </a:r>
          </a:p>
          <a:p>
            <a:pPr>
              <a:spcBef>
                <a:spcPts val="400"/>
              </a:spcBef>
            </a:pPr>
            <a:r>
              <a:rPr sz="2000" b="1" i="0">
                <a:solidFill>
                  <a:srgbClr val="1F2937"/>
                </a:solidFill>
                <a:latin typeface="Tahoma"/>
                <a:ea typeface="Tahoma"/>
                <a:cs typeface="Tahoma"/>
              </a:rPr>
              <a:t>+2.6 จุด</a:t>
            </a:r>
          </a:p>
          <a:p>
            <a:pPr>
              <a:spcBef>
                <a:spcPts val="400"/>
              </a:spcBef>
            </a:pPr>
            <a:r>
              <a:rPr sz="1050" b="0" i="0">
                <a:solidFill>
                  <a:srgbClr val="B91C1C"/>
                </a:solidFill>
                <a:latin typeface="Tahoma"/>
                <a:ea typeface="Tahoma"/>
                <a:cs typeface="Tahoma"/>
              </a:rPr>
              <a:t>62.1% เดือนก่อน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67500" y="1350000"/>
            <a:ext cx="2682500" cy="100000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0000" rIns="120000" tIns="110000" bIns="80000"/>
          <a:lstStyle/>
          <a:p>
            <a:pPr algn="ctr"/>
            <a:r>
              <a:rPr sz="1100" b="0" i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ควรสั่งซื้อ 48 รายการหลัก/เดือน</a:t>
            </a:r>
          </a:p>
          <a:p>
            <a:pPr>
              <a:spcBef>
                <a:spcPts val="400"/>
              </a:spcBef>
            </a:pPr>
            <a:r>
              <a:rPr sz="2000" b="1" i="0">
                <a:solidFill>
                  <a:srgbClr val="1F2937"/>
                </a:solidFill>
                <a:latin typeface="Tahoma"/>
                <a:ea typeface="Tahoma"/>
                <a:cs typeface="Tahoma"/>
              </a:rPr>
              <a:t>฿918,399</a:t>
            </a:r>
          </a:p>
          <a:p>
            <a:pPr>
              <a:spcBef>
                <a:spcPts val="400"/>
              </a:spcBef>
            </a:pPr>
            <a:r>
              <a:rPr sz="1050" b="0" i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52 รายการ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0000" y="2500000"/>
            <a:ext cx="5500000" cy="2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B91C1C"/>
                </a:solidFill>
                <a:latin typeface="Tahoma"/>
                <a:ea typeface="Tahoma"/>
                <a:cs typeface="Tahoma"/>
              </a:rPr>
              <a:t>เมนูต้นทุนเพิ่มขึ้นมากสุด (MoM)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00000" y="2780000"/>
          <a:ext cx="5300000" cy="120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00000"/>
                <a:gridCol w="1700000"/>
                <a:gridCol w="1500000"/>
              </a:tblGrid>
              <a:tr h="300000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เมนู</a:t>
                      </a:r>
                    </a:p>
                  </a:txBody>
                  <a:tcPr marL="70000" marR="70000" marT="35000" marB="35000" anchor="ctr">
                    <a:solidFill>
                      <a:srgbClr val="203C8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ต้นทุนเดือนนี้</a:t>
                      </a:r>
                    </a:p>
                  </a:txBody>
                  <a:tcPr marL="70000" marR="70000" marT="35000" marB="35000" anchor="ctr">
                    <a:solidFill>
                      <a:srgbClr val="203C8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เปลี่ยน</a:t>
                      </a:r>
                    </a:p>
                  </a:txBody>
                  <a:tcPr marL="70000" marR="70000" marT="35000" marB="35000" anchor="ctr">
                    <a:solidFill>
                      <a:srgbClr val="203C81"/>
                    </a:solidFill>
                  </a:tcPr>
                </a:tc>
              </a:tr>
              <a:tr h="30000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(B) แซลมอน ซาชิมิ (1 ชิ้น)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฿460,379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+฿48,889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(B) กุ้งอาเจนติน่าซาชิมิ …</a:t>
                      </a:r>
                    </a:p>
                  </a:txBody>
                  <a:tcPr marL="70000" marR="70000" marT="35000" marB="35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฿109,130</a:t>
                      </a:r>
                    </a:p>
                  </a:txBody>
                  <a:tcPr marL="70000" marR="70000" marT="35000" marB="35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+฿22,681</a:t>
                      </a:r>
                    </a:p>
                  </a:txBody>
                  <a:tcPr marL="70000" marR="70000" marT="35000" marB="35000" anchor="ctr">
                    <a:solidFill>
                      <a:srgbClr val="F8FAFC"/>
                    </a:solidFill>
                  </a:tcPr>
                </a:tc>
              </a:tr>
              <a:tr h="30000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(B) ซูพรีม อูนิ ซูชิ (1 ช…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฿81,389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+฿16,043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6200000" y="2500000"/>
            <a:ext cx="5500000" cy="2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047757"/>
                </a:solidFill>
                <a:latin typeface="Tahoma"/>
                <a:ea typeface="Tahoma"/>
                <a:cs typeface="Tahoma"/>
              </a:rPr>
              <a:t>เมนูต้นทุนลดลงมากสุด (MoM)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6200000" y="2780000"/>
          <a:ext cx="5300000" cy="120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00000"/>
                <a:gridCol w="1700000"/>
                <a:gridCol w="1500000"/>
              </a:tblGrid>
              <a:tr h="300000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เมนู</a:t>
                      </a:r>
                    </a:p>
                  </a:txBody>
                  <a:tcPr marL="70000" marR="70000" marT="35000" marB="35000" anchor="ctr">
                    <a:solidFill>
                      <a:srgbClr val="203C8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ต้นทุนเดือนนี้</a:t>
                      </a:r>
                    </a:p>
                  </a:txBody>
                  <a:tcPr marL="70000" marR="70000" marT="35000" marB="35000" anchor="ctr">
                    <a:solidFill>
                      <a:srgbClr val="203C8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เปลี่ยน</a:t>
                      </a:r>
                    </a:p>
                  </a:txBody>
                  <a:tcPr marL="70000" marR="70000" marT="35000" marB="35000" anchor="ctr">
                    <a:solidFill>
                      <a:srgbClr val="203C81"/>
                    </a:solidFill>
                  </a:tcPr>
                </a:tc>
              </a:tr>
              <a:tr h="30000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(B) ชุดปลาดิบรวม 4 อย่าง …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฿100,973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฿-4,529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(B) ลิ้นวัวสไลด์ย่างเกลือ…</a:t>
                      </a:r>
                    </a:p>
                  </a:txBody>
                  <a:tcPr marL="70000" marR="70000" marT="35000" marB="35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฿17,685</a:t>
                      </a:r>
                    </a:p>
                  </a:txBody>
                  <a:tcPr marL="70000" marR="70000" marT="35000" marB="35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฿-3,297</a:t>
                      </a:r>
                    </a:p>
                  </a:txBody>
                  <a:tcPr marL="70000" marR="70000" marT="35000" marB="35000" anchor="ctr">
                    <a:solidFill>
                      <a:srgbClr val="F8FAFC"/>
                    </a:solidFill>
                  </a:tcPr>
                </a:tc>
              </a:tr>
              <a:tr h="30000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(A) ข้าวปั้นหน้าปลาแซลมอน…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฿749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฿-1,966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600000" y="4100000"/>
            <a:ext cx="9000000" cy="2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203C81"/>
                </a:solidFill>
                <a:latin typeface="Tahoma"/>
                <a:ea typeface="Tahoma"/>
                <a:cs typeface="Tahoma"/>
              </a:rPr>
              <a:t>วัตถุดิบทั้งหมดที่ควรสั่งซื้อ (52 รายการ) — ดูสไลด์ถัดไป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0000" y="6600000"/>
            <a:ext cx="11150000" cy="2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Oshinei · ต้นทุนวัตถุดิบเทียบยอดขาย &amp; แผนสั่งซื้อวัตถุดิบหลัก 48 ชนิด  ·  79/92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0578" cy="6858000"/>
          </a:xfrm>
          <a:prstGeom prst="rect">
            <a:avLst/>
          </a:prstGeom>
          <a:solidFill>
            <a:srgbClr val="203C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0785" y="51759"/>
            <a:ext cx="1171755" cy="117175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00000" y="230000"/>
            <a:ext cx="1115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i="0" spc="15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ส่วนที่ 3 · รายละเอียดรายสาขา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00" y="420000"/>
            <a:ext cx="1115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 i="0">
                <a:solidFill>
                  <a:srgbClr val="203C81"/>
                </a:solidFill>
                <a:latin typeface="Tahoma"/>
                <a:ea typeface="Tahoma"/>
                <a:cs typeface="Tahoma"/>
              </a:rPr>
              <a:t>เชียงราย — วัตถุดิบทั้งหมดที่ควรสั่งซื้อ (52 รายการ) (หน้า 1/2)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00000" y="1300000"/>
          <a:ext cx="11150000" cy="515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00000"/>
                <a:gridCol w="6200000"/>
                <a:gridCol w="2700000"/>
                <a:gridCol w="1850000"/>
              </a:tblGrid>
              <a:tr h="200000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#</a:t>
                      </a:r>
                    </a:p>
                  </a:txBody>
                  <a:tcPr marL="70000" marR="70000" marT="12000" marB="12000" anchor="ctr">
                    <a:solidFill>
                      <a:srgbClr val="203C8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วัตถุดิบ</a:t>
                      </a:r>
                    </a:p>
                  </a:txBody>
                  <a:tcPr marL="70000" marR="70000" marT="12000" marB="12000" anchor="ctr">
                    <a:solidFill>
                      <a:srgbClr val="203C8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ควรสั่ง/เดือน</a:t>
                      </a:r>
                    </a:p>
                  </a:txBody>
                  <a:tcPr marL="70000" marR="70000" marT="12000" marB="12000" anchor="ctr">
                    <a:solidFill>
                      <a:srgbClr val="203C8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มูลค่า/เดือน (฿)</a:t>
                      </a:r>
                    </a:p>
                  </a:txBody>
                  <a:tcPr marL="70000" marR="70000" marT="12000" marB="12000" anchor="ctr">
                    <a:solidFill>
                      <a:srgbClr val="203C81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กุ้งแกะเปลือก  5 ตัวละ 15 กรัม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30 แพ็ค 10 กก. (300.00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92,940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เนื้อปลาทูน่า 1 ชิ้น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147 แพ็ค 1 กก. (147.00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85,260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หอยเซลล์ต้ม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97 แพ็ค 1 กก. (97.00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50,440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เนื้อใบพายออสเตรเลียสไลด์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106 แพ็ค 1 กก. (106.00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49,820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5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เนื้อเสือร้องไห้สไลด์ ( 5 ชิ้นละ 10 กรัม 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14 แพ็ค 10 กก. (140.00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49,280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6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ไข่หอยเม่น แช่แข็ง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179 แพ็ค 100 กรัม (17.90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45,645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7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ปลาไหลอูนางิ 70 P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462 แพ็ค 120 กรัม (55.44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43,890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8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หอยนางรมญี่ปุ่น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2,900 ตัว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37,892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9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หนวดปลาหมึกยักษ์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6 แพ็ค 12 กก. (72.00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37,410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10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ปลาซาบะดอง 6 ชิ้น ชิ้นละ 10 กรัม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5 แพ็ค 12.5 กก. (62.50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35,515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11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สาหร่ายโนริแผ่น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7,684 แผ่น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28,388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12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กุ้งอาเจนติน่า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35 แพ็ค 2 กก. (70.00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28,245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13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ปลาเนื้อขาวหั่นเต๋า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10 แพ็ค 10 กก. (100.00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28,130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14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ปลาฮามาจิ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28 แพ็ค 1.85 กก. (51.80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27,048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15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ปลาหมึกกระดอง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8 แพ็ค 10 กก. (80.00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25,600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16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เนื้อออสเตรเลียแบบตัด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42 แพ็ค 1 กก. (42.00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23,688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17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มันปูปรงรส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32 แพ็ค 1 กก. (32.00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20,384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18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ไข่กุ้ง Ebiko Grade A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 แพ็ค 10 กก. (40.00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17,728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19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ปลาไหลอนาโงะสไลด์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99 แพ็ค 200 กรัม (19.80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16,236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20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ปลาซาบะ ½ ตัว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 แพ็ค 20 กก. (80.00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15,912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21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ไข่หวานหั่นเต๋า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8 แพ็ค 10 กก. (80.00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14,552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22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ปลาไหลสไลด์ 9 ชิ้น ชิ้นละ 6 กรัม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 แพ็ค 7.2 กก. (14.40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12,960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23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เนื้อชาโรเล่ส์หมักเสียบไม้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1,462 ชิ้น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12,422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24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ตับปลาอังกิโมะ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1,396 แพ็ค 15 กรัม (20.94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11,168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25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ปีกไก่สำเร็จรูป 1 ชิ้น / 35 กรัม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 แพ็ค 10 กก. (30.00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10,339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26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เบสซอฟต์ครีมทูโทน (รสมัตฉะ และรสนม)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34 แพ็ค 4.4 กก. (149.60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9,228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27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เนื้อสไลด์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24 กก.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8,003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28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ปลาดอลลี่ ½ ตัว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9 แพ็ค 10 กก. (90.00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7,371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29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กุ้งเทมปุระ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1,416 ชิ้น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6,837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30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เบสซอฟต์ครีมรสนม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23 แพ็ค 4.4 กก. (101.20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6,245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00000" y="6600000"/>
            <a:ext cx="11150000" cy="2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Oshinei · ต้นทุนวัตถุดิบเทียบยอดขาย &amp; แผนสั่งซื้อวัตถุดิบหลัก 48 ชนิด  ·  80/92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0578" cy="6858000"/>
          </a:xfrm>
          <a:prstGeom prst="rect">
            <a:avLst/>
          </a:prstGeom>
          <a:solidFill>
            <a:srgbClr val="203C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0785" y="51759"/>
            <a:ext cx="1171755" cy="117175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00000" y="230000"/>
            <a:ext cx="1115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i="0" spc="15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ส่วนที่ 3 · รายละเอียดรายสาขา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00" y="420000"/>
            <a:ext cx="1115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 i="0">
                <a:solidFill>
                  <a:srgbClr val="203C81"/>
                </a:solidFill>
                <a:latin typeface="Tahoma"/>
                <a:ea typeface="Tahoma"/>
                <a:cs typeface="Tahoma"/>
              </a:rPr>
              <a:t>เชียงราย — วัตถุดิบทั้งหมดที่ควรสั่งซื้อ (52 รายการ) (หน้า 2/2)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00000" y="1300000"/>
          <a:ext cx="11150000" cy="383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00000"/>
                <a:gridCol w="6200000"/>
                <a:gridCol w="2700000"/>
                <a:gridCol w="1850000"/>
              </a:tblGrid>
              <a:tr h="200000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#</a:t>
                      </a:r>
                    </a:p>
                  </a:txBody>
                  <a:tcPr marL="70000" marR="70000" marT="12000" marB="12000" anchor="ctr">
                    <a:solidFill>
                      <a:srgbClr val="203C8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วัตถุดิบ</a:t>
                      </a:r>
                    </a:p>
                  </a:txBody>
                  <a:tcPr marL="70000" marR="70000" marT="12000" marB="12000" anchor="ctr">
                    <a:solidFill>
                      <a:srgbClr val="203C8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ควรสั่ง/เดือน</a:t>
                      </a:r>
                    </a:p>
                  </a:txBody>
                  <a:tcPr marL="70000" marR="70000" marT="12000" marB="12000" anchor="ctr">
                    <a:solidFill>
                      <a:srgbClr val="203C8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มูลค่า/เดือน (฿)</a:t>
                      </a:r>
                    </a:p>
                  </a:txBody>
                  <a:tcPr marL="70000" marR="70000" marT="12000" marB="12000" anchor="ctr">
                    <a:solidFill>
                      <a:srgbClr val="203C81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31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สาเกสำหรับปรุงอาหาร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 แพ็ค 18 ลิตร (54.00 ลิตร)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6,138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32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หอยแครงยักษ์สไลด์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470 ชิ้น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5,207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33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หอยเป๋าฮื้อ ตุ๋นปรุงรส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125 ตัว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4,962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34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เบสซอฟต์ครีมรสมัตฉะ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18 แพ็ค 4.4 กก. (79.20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4,883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35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เกี๊ยวซ่าอูนิ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401 ชิ้น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4,804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36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วาซาบิ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 แพ็ค 10 กก. (10.00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4,789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37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หอยสังข์ญี่ปุ่น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17 แพ็ค 120 กรัม (2.04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4,505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38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น้ำดองสไลต์เกาหลี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 แพ็ค 20 ลิตร (40.00 ลิตร)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4,240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39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ปลาเงินทอดกรอบ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12 แพ็ค 250 กรัม (3.00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3,791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40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เนื้อออสเตรเลียสไลด์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5 แพ็ค 1 กก. (5.00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3,580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41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เนื้อชาโรเล่ส์หมักเสียบไม้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274 ไม้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2,271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42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ข้าวญี่ปุ่นปรุงรส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 แพ็ค 25 กก. (50.00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2,160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43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มิริน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 แพ็ค 20 ลิตร (20.00 ลิตร)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1,648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44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เนื้อวากิวพับนอก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 แพ็ค 1 กก. (3.00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1,601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45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แป้งเทมปุระผง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 แพ็ค 10 กก. (20.00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1,541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46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สาหร่ายโนริหั่นฝอย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 กก.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1,349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47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สาหร่ายวากาแมะ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 กก.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1,270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48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กุ้งยืด Ebi Tempura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132 ตัว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638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49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ไข่ปลาแซลมอน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 กก.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292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50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ปลาฮามาจิ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 กก.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98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51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หอยนางรมญี่ปุ่น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 ชิ้น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31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52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สาหร่ายโนริหั่นฝอย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7 ชิ้น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25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00000" y="6600000"/>
            <a:ext cx="11150000" cy="2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Oshinei · ต้นทุนวัตถุดิบเทียบยอดขาย &amp; แผนสั่งซื้อวัตถุดิบหลัก 48 ชนิด  ·  81/92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0578" cy="6858000"/>
          </a:xfrm>
          <a:prstGeom prst="rect">
            <a:avLst/>
          </a:prstGeom>
          <a:solidFill>
            <a:srgbClr val="203C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0785" y="51759"/>
            <a:ext cx="1171755" cy="117175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00000" y="230000"/>
            <a:ext cx="1115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i="0" spc="15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ส่วนที่ 3 · รายละเอียดรายสาขา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00" y="420000"/>
            <a:ext cx="1115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203C81"/>
                </a:solidFill>
                <a:latin typeface="Tahoma"/>
                <a:ea typeface="Tahoma"/>
                <a:cs typeface="Tahoma"/>
              </a:rPr>
              <a:t>เชียงใหม่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0000" y="950000"/>
            <a:ext cx="1115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อันดับต้นทุนอาหาร #12/28 (1=สูงสุด)  ·  อันดับมูลค่าสั่งซื้อ #20/28 (1=สูงสุด)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0000" y="1350000"/>
            <a:ext cx="2682500" cy="100000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0000" rIns="120000" tIns="110000" bIns="80000"/>
          <a:lstStyle/>
          <a:p>
            <a:pPr algn="ctr"/>
            <a:r>
              <a:rPr sz="1100" b="0" i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ยอดขาย (ไม่รวม VAT)</a:t>
            </a:r>
          </a:p>
          <a:p>
            <a:pPr>
              <a:spcBef>
                <a:spcPts val="400"/>
              </a:spcBef>
            </a:pPr>
            <a:r>
              <a:rPr sz="2000" b="1" i="0">
                <a:solidFill>
                  <a:srgbClr val="1F2937"/>
                </a:solidFill>
                <a:latin typeface="Tahoma"/>
                <a:ea typeface="Tahoma"/>
                <a:cs typeface="Tahoma"/>
              </a:rPr>
              <a:t>฿2,541,238</a:t>
            </a:r>
          </a:p>
          <a:p>
            <a:pPr>
              <a:spcBef>
                <a:spcPts val="400"/>
              </a:spcBef>
            </a:pPr>
            <a:r>
              <a:rPr sz="1050" b="0" i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/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2500" y="1350000"/>
            <a:ext cx="2682500" cy="100000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0000" rIns="120000" tIns="110000" bIns="80000"/>
          <a:lstStyle/>
          <a:p>
            <a:pPr algn="ctr"/>
            <a:r>
              <a:rPr sz="1100" b="0" i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ต้นทุนวัตถุดิบตามสูตร</a:t>
            </a:r>
          </a:p>
          <a:p>
            <a:pPr>
              <a:spcBef>
                <a:spcPts val="400"/>
              </a:spcBef>
            </a:pPr>
            <a:r>
              <a:rPr sz="2000" b="1" i="0">
                <a:solidFill>
                  <a:srgbClr val="1F2937"/>
                </a:solidFill>
                <a:latin typeface="Tahoma"/>
                <a:ea typeface="Tahoma"/>
                <a:cs typeface="Tahoma"/>
              </a:rPr>
              <a:t>฿1,516,580</a:t>
            </a:r>
          </a:p>
          <a:p>
            <a:pPr>
              <a:spcBef>
                <a:spcPts val="400"/>
              </a:spcBef>
            </a:pPr>
            <a:r>
              <a:rPr sz="1050" b="0" i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59.7% ของยอดขาย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5000" y="1350000"/>
            <a:ext cx="2682500" cy="100000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0000" rIns="120000" tIns="110000" bIns="80000"/>
          <a:lstStyle/>
          <a:p>
            <a:pPr algn="ctr"/>
            <a:r>
              <a:rPr sz="1100" b="0" i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เปลี่ยนจากเดือนก่อน</a:t>
            </a:r>
          </a:p>
          <a:p>
            <a:pPr>
              <a:spcBef>
                <a:spcPts val="400"/>
              </a:spcBef>
            </a:pPr>
            <a:r>
              <a:rPr sz="2000" b="1" i="0">
                <a:solidFill>
                  <a:srgbClr val="1F2937"/>
                </a:solidFill>
                <a:latin typeface="Tahoma"/>
                <a:ea typeface="Tahoma"/>
                <a:cs typeface="Tahoma"/>
              </a:rPr>
              <a:t>+2.1 จุด</a:t>
            </a:r>
          </a:p>
          <a:p>
            <a:pPr>
              <a:spcBef>
                <a:spcPts val="400"/>
              </a:spcBef>
            </a:pPr>
            <a:r>
              <a:rPr sz="1050" b="0" i="0">
                <a:solidFill>
                  <a:srgbClr val="B91C1C"/>
                </a:solidFill>
                <a:latin typeface="Tahoma"/>
                <a:ea typeface="Tahoma"/>
                <a:cs typeface="Tahoma"/>
              </a:rPr>
              <a:t>57.6% เดือนก่อน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67500" y="1350000"/>
            <a:ext cx="2682500" cy="100000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0000" rIns="120000" tIns="110000" bIns="80000"/>
          <a:lstStyle/>
          <a:p>
            <a:pPr algn="ctr"/>
            <a:r>
              <a:rPr sz="1100" b="0" i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ควรสั่งซื้อ 48 รายการหลัก/เดือน</a:t>
            </a:r>
          </a:p>
          <a:p>
            <a:pPr>
              <a:spcBef>
                <a:spcPts val="400"/>
              </a:spcBef>
            </a:pPr>
            <a:r>
              <a:rPr sz="2000" b="1" i="0">
                <a:solidFill>
                  <a:srgbClr val="1F2937"/>
                </a:solidFill>
                <a:latin typeface="Tahoma"/>
                <a:ea typeface="Tahoma"/>
                <a:cs typeface="Tahoma"/>
              </a:rPr>
              <a:t>฿478,983</a:t>
            </a:r>
          </a:p>
          <a:p>
            <a:pPr>
              <a:spcBef>
                <a:spcPts val="400"/>
              </a:spcBef>
            </a:pPr>
            <a:r>
              <a:rPr sz="1050" b="0" i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50 รายการ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0000" y="2500000"/>
            <a:ext cx="5500000" cy="2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B91C1C"/>
                </a:solidFill>
                <a:latin typeface="Tahoma"/>
                <a:ea typeface="Tahoma"/>
                <a:cs typeface="Tahoma"/>
              </a:rPr>
              <a:t>เมนูต้นทุนเพิ่มขึ้นมากสุด (MoM)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00000" y="2780000"/>
          <a:ext cx="5300000" cy="120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00000"/>
                <a:gridCol w="1700000"/>
                <a:gridCol w="1500000"/>
              </a:tblGrid>
              <a:tr h="300000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เมนู</a:t>
                      </a:r>
                    </a:p>
                  </a:txBody>
                  <a:tcPr marL="70000" marR="70000" marT="35000" marB="35000" anchor="ctr">
                    <a:solidFill>
                      <a:srgbClr val="203C8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ต้นทุนเดือนนี้</a:t>
                      </a:r>
                    </a:p>
                  </a:txBody>
                  <a:tcPr marL="70000" marR="70000" marT="35000" marB="35000" anchor="ctr">
                    <a:solidFill>
                      <a:srgbClr val="203C8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เปลี่ยน</a:t>
                      </a:r>
                    </a:p>
                  </a:txBody>
                  <a:tcPr marL="70000" marR="70000" marT="35000" marB="35000" anchor="ctr">
                    <a:solidFill>
                      <a:srgbClr val="203C81"/>
                    </a:solidFill>
                  </a:tcPr>
                </a:tc>
              </a:tr>
              <a:tr h="30000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(B) กุ้งอาเจนติน่าซาชิมิ …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฿44,517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+฿6,690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ค็อกเทลแซลมอน</a:t>
                      </a:r>
                    </a:p>
                  </a:txBody>
                  <a:tcPr marL="70000" marR="70000" marT="35000" marB="35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฿22,821</a:t>
                      </a:r>
                    </a:p>
                  </a:txBody>
                  <a:tcPr marL="70000" marR="70000" marT="35000" marB="35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+฿5,459</a:t>
                      </a:r>
                    </a:p>
                  </a:txBody>
                  <a:tcPr marL="70000" marR="70000" marT="35000" marB="35000" anchor="ctr">
                    <a:solidFill>
                      <a:srgbClr val="F8FAFC"/>
                    </a:solidFill>
                  </a:tcPr>
                </a:tc>
              </a:tr>
              <a:tr h="30000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(B) แซลมอนดอง (3 ชิ้น)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฿81,613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+฿5,251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6200000" y="2500000"/>
            <a:ext cx="5500000" cy="2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047757"/>
                </a:solidFill>
                <a:latin typeface="Tahoma"/>
                <a:ea typeface="Tahoma"/>
                <a:cs typeface="Tahoma"/>
              </a:rPr>
              <a:t>เมนูต้นทุนลดลงมากสุด (MoM)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6200000" y="2780000"/>
          <a:ext cx="5300000" cy="120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00000"/>
                <a:gridCol w="1700000"/>
                <a:gridCol w="1500000"/>
              </a:tblGrid>
              <a:tr h="300000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เมนู</a:t>
                      </a:r>
                    </a:p>
                  </a:txBody>
                  <a:tcPr marL="70000" marR="70000" marT="35000" marB="35000" anchor="ctr">
                    <a:solidFill>
                      <a:srgbClr val="203C8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ต้นทุนเดือนนี้</a:t>
                      </a:r>
                    </a:p>
                  </a:txBody>
                  <a:tcPr marL="70000" marR="70000" marT="35000" marB="35000" anchor="ctr">
                    <a:solidFill>
                      <a:srgbClr val="203C8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เปลี่ยน</a:t>
                      </a:r>
                    </a:p>
                  </a:txBody>
                  <a:tcPr marL="70000" marR="70000" marT="35000" marB="35000" anchor="ctr">
                    <a:solidFill>
                      <a:srgbClr val="203C81"/>
                    </a:solidFill>
                  </a:tcPr>
                </a:tc>
              </a:tr>
              <a:tr h="30000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(B) ชุดปลาดิบรวม 4 อย่าง …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฿78,833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฿-13,586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(B) น้ำซุป 2 ช่อง(ชาบู+สุ…</a:t>
                      </a:r>
                    </a:p>
                  </a:txBody>
                  <a:tcPr marL="70000" marR="70000" marT="35000" marB="35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฿3,576</a:t>
                      </a:r>
                    </a:p>
                  </a:txBody>
                  <a:tcPr marL="70000" marR="70000" marT="35000" marB="35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฿-7,071</a:t>
                      </a:r>
                    </a:p>
                  </a:txBody>
                  <a:tcPr marL="70000" marR="70000" marT="35000" marB="35000" anchor="ctr">
                    <a:solidFill>
                      <a:srgbClr val="F8FAFC"/>
                    </a:solidFill>
                  </a:tcPr>
                </a:tc>
              </a:tr>
              <a:tr h="30000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(B) สเต็กหอยเชลล์ฮอกไกโด …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฿31,020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฿-6,600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600000" y="4100000"/>
            <a:ext cx="9000000" cy="2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203C81"/>
                </a:solidFill>
                <a:latin typeface="Tahoma"/>
                <a:ea typeface="Tahoma"/>
                <a:cs typeface="Tahoma"/>
              </a:rPr>
              <a:t>วัตถุดิบทั้งหมดที่ควรสั่งซื้อ (50 รายการ) — ดูสไลด์ถัดไป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0000" y="6600000"/>
            <a:ext cx="11150000" cy="2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Oshinei · ต้นทุนวัตถุดิบเทียบยอดขาย &amp; แผนสั่งซื้อวัตถุดิบหลัก 48 ชนิด  ·  82/92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0578" cy="6858000"/>
          </a:xfrm>
          <a:prstGeom prst="rect">
            <a:avLst/>
          </a:prstGeom>
          <a:solidFill>
            <a:srgbClr val="203C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0785" y="51759"/>
            <a:ext cx="1171755" cy="117175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00000" y="230000"/>
            <a:ext cx="1115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i="0" spc="15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ส่วนที่ 3 · รายละเอียดรายสาขา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00" y="420000"/>
            <a:ext cx="1115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 i="0">
                <a:solidFill>
                  <a:srgbClr val="203C81"/>
                </a:solidFill>
                <a:latin typeface="Tahoma"/>
                <a:ea typeface="Tahoma"/>
                <a:cs typeface="Tahoma"/>
              </a:rPr>
              <a:t>เชียงใหม่ — วัตถุดิบทั้งหมดที่ควรสั่งซื้อ (50 รายการ) (หน้า 1/2)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00000" y="1300000"/>
          <a:ext cx="11150000" cy="515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00000"/>
                <a:gridCol w="6200000"/>
                <a:gridCol w="2700000"/>
                <a:gridCol w="1850000"/>
              </a:tblGrid>
              <a:tr h="200000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#</a:t>
                      </a:r>
                    </a:p>
                  </a:txBody>
                  <a:tcPr marL="70000" marR="70000" marT="12000" marB="12000" anchor="ctr">
                    <a:solidFill>
                      <a:srgbClr val="203C8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วัตถุดิบ</a:t>
                      </a:r>
                    </a:p>
                  </a:txBody>
                  <a:tcPr marL="70000" marR="70000" marT="12000" marB="12000" anchor="ctr">
                    <a:solidFill>
                      <a:srgbClr val="203C8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ควรสั่ง/เดือน</a:t>
                      </a:r>
                    </a:p>
                  </a:txBody>
                  <a:tcPr marL="70000" marR="70000" marT="12000" marB="12000" anchor="ctr">
                    <a:solidFill>
                      <a:srgbClr val="203C8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มูลค่า/เดือน (฿)</a:t>
                      </a:r>
                    </a:p>
                  </a:txBody>
                  <a:tcPr marL="70000" marR="70000" marT="12000" marB="12000" anchor="ctr">
                    <a:solidFill>
                      <a:srgbClr val="203C81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กุ้งแกะเปลือก  5 ตัวละ 15 กรัม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20 แพ็ค 10 กก. (200.00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61,960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เนื้อปลาทูน่า 1 ชิ้น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83 แพ็ค 1 กก. (83.00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48,140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ปลาซาบะดอง 6 ชิ้น ชิ้นละ 10 กรัม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 แพ็ค 12.5 กก. (50.00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28,412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หอยเซลล์ต้ม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51 แพ็ค 1 กก. (51.00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26,520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5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เนื้อเสือร้องไห้สไลด์ ( 5 ชิ้นละ 10 กรัม 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7 แพ็ค 10 กก. (70.00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24,640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6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เนื้อใบพายออสเตรเลียสไลด์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51 แพ็ค 1 กก. (51.00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23,970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7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ปลาไหลอูนางิ 70 P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211 แพ็ค 120 กรัม (25.32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20,045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8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ปลาเนื้อขาวหั่นเต๋า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7 แพ็ค 10 กก. (70.00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19,691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9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หนวดปลาหมึกยักษ์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 แพ็ค 12 กก. (36.00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18,705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10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หอยนางรมญี่ปุ่น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1,277 ตัว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16,684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11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ไข่หอยเม่น แช่แข็ง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56 แพ็ค 100 กรัม (5.60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14,280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12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ปลาซาบะ1 ชิ้น ½ ตัว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 แพ็ค 20 กก. (60.00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11,934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13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ปลาฮามาจิ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12 แพ็ค 1.85 กก. (22.20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11,592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14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สาหร่ายโนริแผ่น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3,026 แผ่น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11,077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15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เนื้อชาโรเล่ส์หมักเสียบไม้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1,265 ชิ้น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10,749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16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ปลาไหลอนาโงะสไลด์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59 แพ็ค 200 กรัม (11.80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9,676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17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ปลาหมึกกระดอง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 แพ็ค 10 กก. (30.00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9,600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18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ไข่หวานหั่นเต๋า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5 แพ็ค 10 กก. (50.00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9,095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19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กุ้งอาเจนติน่า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11 แพ็ค 2 กก. (22.00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8,877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20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ไข่กุ้ง Ebiko Grade A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 แพ็ค 10 กก. (20.00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8,864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21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สาเกสำหรับปรุงอาหาร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 แพ็ค 18 ลิตร (72.00 ลิตร)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8,184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22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เนื้อออสเตรเลียแบบตัด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14 แพ็ค 1 กก. (14.00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7,896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23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ปลาไหลสไลด์ 9 ชิ้น ชิ้นละ 6 กรัม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 แพ็ค 7.2 กก. (7.20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6,480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24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เนื้อสไลด์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20 กก.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6,369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25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มันปูปรงรส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9 แพ็ค 1 กก. (9.00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5,733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26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มิริน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 แพ็ค 20 ลิตร (60.00 ลิตร)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4,944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27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ปลาดอลลี่ ½ ตัว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6 แพ็ค 10 กก. (60.00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4,914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28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ตับปลาอังกิโมะ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607 แพ็ค 15 กรัม (9.11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4,856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29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วาซาบิ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 แพ็ค 10 กก. (10.00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4,789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30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เบสซอฟต์ครีมรสนม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17 แพ็ค 4.4 กก. (74.80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4,616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00000" y="6600000"/>
            <a:ext cx="11150000" cy="2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Oshinei · ต้นทุนวัตถุดิบเทียบยอดขาย &amp; แผนสั่งซื้อวัตถุดิบหลัก 48 ชนิด  ·  83/92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0578" cy="6858000"/>
          </a:xfrm>
          <a:prstGeom prst="rect">
            <a:avLst/>
          </a:prstGeom>
          <a:solidFill>
            <a:srgbClr val="203C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0785" y="51759"/>
            <a:ext cx="1171755" cy="117175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00000" y="230000"/>
            <a:ext cx="1115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i="0" spc="15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ส่วนที่ 3 · รายละเอียดรายสาขา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00" y="420000"/>
            <a:ext cx="1115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 i="0">
                <a:solidFill>
                  <a:srgbClr val="203C81"/>
                </a:solidFill>
                <a:latin typeface="Tahoma"/>
                <a:ea typeface="Tahoma"/>
                <a:cs typeface="Tahoma"/>
              </a:rPr>
              <a:t>เชียงใหม่ — วัตถุดิบทั้งหมดที่ควรสั่งซื้อ (50 รายการ) (หน้า 2/2)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00000" y="1300000"/>
          <a:ext cx="11150000" cy="350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00000"/>
                <a:gridCol w="6200000"/>
                <a:gridCol w="2700000"/>
                <a:gridCol w="1850000"/>
              </a:tblGrid>
              <a:tr h="200000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#</a:t>
                      </a:r>
                    </a:p>
                  </a:txBody>
                  <a:tcPr marL="70000" marR="70000" marT="12000" marB="12000" anchor="ctr">
                    <a:solidFill>
                      <a:srgbClr val="203C8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วัตถุดิบ</a:t>
                      </a:r>
                    </a:p>
                  </a:txBody>
                  <a:tcPr marL="70000" marR="70000" marT="12000" marB="12000" anchor="ctr">
                    <a:solidFill>
                      <a:srgbClr val="203C8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ควรสั่ง/เดือน</a:t>
                      </a:r>
                    </a:p>
                  </a:txBody>
                  <a:tcPr marL="70000" marR="70000" marT="12000" marB="12000" anchor="ctr">
                    <a:solidFill>
                      <a:srgbClr val="203C8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มูลค่า/เดือน (฿)</a:t>
                      </a:r>
                    </a:p>
                  </a:txBody>
                  <a:tcPr marL="70000" marR="70000" marT="12000" marB="12000" anchor="ctr">
                    <a:solidFill>
                      <a:srgbClr val="203C81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31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กุ้งเทมปุระ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902 ชิ้น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4,355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32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เบสซอฟต์ครีมทูโทน (รสมัตฉะ และรสนม)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13 แพ็ค 4.4 กก. (57.20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3,528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33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ปีกไก่สำเร็จรูป 1 ชิ้น / 35 กรัม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 แพ็ค 10 กก. (10.00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3,446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34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น้ำดองสไลต์เกาหลี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 แพ็ค 20 ลิตร (20.00 ลิตร)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2,120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35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เกี๊ยวซ่าอูนิ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173 ชิ้น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2,065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36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ปลาเงินทอดกรอบ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5 แพ็ค 250 กรัม (1.25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1,580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37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เนื้อออสเตรเลี่ยนวากิว สไลด์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 แพ็ค 1 กก. (2.00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1,432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38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เนื้อชาโรเล่ส์หมักเสียบไม้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168 ไม้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1,395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39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ข้าวญี่ปุ่นปรุงรส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 แพ็ค 25 กก. (25.00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1,080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40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เบสซอฟต์ครีมรสมัตฉะ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 แพ็ค 4.4 กก. (13.20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814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41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สาหร่ายโนรี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 กก.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806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42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แป้งเทมปุระผง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 แพ็ค 10 กก. (10.00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770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43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สาหร่ายวากาแมะ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 กก.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553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44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เนื้อวากิวพับนอก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 แพ็ค 1 กก. (1.00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534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45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กุ้งลายเสือ (อิงราคากุ้งอาร์เจนติน่า/ตัว)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32 ตัว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525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46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กุ้งยืด Ebi Tempura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58 ตัว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279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47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ปลาฮามาจิ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 กก.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196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48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ไข่ปลาแซลมอน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 กก.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177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49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หอยนางรมญี่ปุ่น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 ชิ้น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31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50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สาหร่ายโนริหั่นฝอย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 ชิ้น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6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00000" y="6600000"/>
            <a:ext cx="11150000" cy="2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Oshinei · ต้นทุนวัตถุดิบเทียบยอดขาย &amp; แผนสั่งซื้อวัตถุดิบหลัก 48 ชนิด  ·  84/92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0578" cy="6858000"/>
          </a:xfrm>
          <a:prstGeom prst="rect">
            <a:avLst/>
          </a:prstGeom>
          <a:solidFill>
            <a:srgbClr val="203C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0785" y="51759"/>
            <a:ext cx="1171755" cy="117175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00000" y="230000"/>
            <a:ext cx="1115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i="0" spc="15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ส่วนที่ 3 · รายละเอียดรายสาขา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00" y="420000"/>
            <a:ext cx="1115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203C81"/>
                </a:solidFill>
                <a:latin typeface="Tahoma"/>
                <a:ea typeface="Tahoma"/>
                <a:cs typeface="Tahoma"/>
              </a:rPr>
              <a:t>เพชรบูรณ์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0000" y="950000"/>
            <a:ext cx="1115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อันดับต้นทุนอาหาร #16/28 (1=สูงสุด)  ·  อันดับมูลค่าสั่งซื้อ #28/28 (1=สูงสุด)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0000" y="1350000"/>
            <a:ext cx="2682500" cy="100000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0000" rIns="120000" tIns="110000" bIns="80000"/>
          <a:lstStyle/>
          <a:p>
            <a:pPr algn="ctr"/>
            <a:r>
              <a:rPr sz="1100" b="0" i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ยอดขาย (ไม่รวม VAT)</a:t>
            </a:r>
          </a:p>
          <a:p>
            <a:pPr>
              <a:spcBef>
                <a:spcPts val="400"/>
              </a:spcBef>
            </a:pPr>
            <a:r>
              <a:rPr sz="2000" b="1" i="0">
                <a:solidFill>
                  <a:srgbClr val="1F2937"/>
                </a:solidFill>
                <a:latin typeface="Tahoma"/>
                <a:ea typeface="Tahoma"/>
                <a:cs typeface="Tahoma"/>
              </a:rPr>
              <a:t>฿1,210,782</a:t>
            </a:r>
          </a:p>
          <a:p>
            <a:pPr>
              <a:spcBef>
                <a:spcPts val="400"/>
              </a:spcBef>
            </a:pPr>
            <a:r>
              <a:rPr sz="1050" b="0" i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/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2500" y="1350000"/>
            <a:ext cx="2682500" cy="100000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0000" rIns="120000" tIns="110000" bIns="80000"/>
          <a:lstStyle/>
          <a:p>
            <a:pPr algn="ctr"/>
            <a:r>
              <a:rPr sz="1100" b="0" i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ต้นทุนวัตถุดิบตามสูตร</a:t>
            </a:r>
          </a:p>
          <a:p>
            <a:pPr>
              <a:spcBef>
                <a:spcPts val="400"/>
              </a:spcBef>
            </a:pPr>
            <a:r>
              <a:rPr sz="2000" b="1" i="0">
                <a:solidFill>
                  <a:srgbClr val="1F2937"/>
                </a:solidFill>
                <a:latin typeface="Tahoma"/>
                <a:ea typeface="Tahoma"/>
                <a:cs typeface="Tahoma"/>
              </a:rPr>
              <a:t>฿695,246</a:t>
            </a:r>
          </a:p>
          <a:p>
            <a:pPr>
              <a:spcBef>
                <a:spcPts val="400"/>
              </a:spcBef>
            </a:pPr>
            <a:r>
              <a:rPr sz="1050" b="0" i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57.4% ของยอดขาย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5000" y="1350000"/>
            <a:ext cx="2682500" cy="100000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0000" rIns="120000" tIns="110000" bIns="80000"/>
          <a:lstStyle/>
          <a:p>
            <a:pPr algn="ctr"/>
            <a:r>
              <a:rPr sz="1100" b="0" i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เปลี่ยนจากเดือนก่อน</a:t>
            </a:r>
          </a:p>
          <a:p>
            <a:pPr>
              <a:spcBef>
                <a:spcPts val="400"/>
              </a:spcBef>
            </a:pPr>
            <a:r>
              <a:rPr sz="2000" b="1" i="0">
                <a:solidFill>
                  <a:srgbClr val="1F2937"/>
                </a:solidFill>
                <a:latin typeface="Tahoma"/>
                <a:ea typeface="Tahoma"/>
                <a:cs typeface="Tahoma"/>
              </a:rPr>
              <a:t>-0.5 จุด</a:t>
            </a:r>
          </a:p>
          <a:p>
            <a:pPr>
              <a:spcBef>
                <a:spcPts val="400"/>
              </a:spcBef>
            </a:pPr>
            <a:r>
              <a:rPr sz="1050" b="0" i="0">
                <a:solidFill>
                  <a:srgbClr val="047757"/>
                </a:solidFill>
                <a:latin typeface="Tahoma"/>
                <a:ea typeface="Tahoma"/>
                <a:cs typeface="Tahoma"/>
              </a:rPr>
              <a:t>57.9% เดือนก่อน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67500" y="1350000"/>
            <a:ext cx="2682500" cy="100000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0000" rIns="120000" tIns="110000" bIns="80000"/>
          <a:lstStyle/>
          <a:p>
            <a:pPr algn="ctr"/>
            <a:r>
              <a:rPr sz="1100" b="0" i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ควรสั่งซื้อ 48 รายการหลัก/เดือน</a:t>
            </a:r>
          </a:p>
          <a:p>
            <a:pPr>
              <a:spcBef>
                <a:spcPts val="400"/>
              </a:spcBef>
            </a:pPr>
            <a:r>
              <a:rPr sz="2000" b="1" i="0">
                <a:solidFill>
                  <a:srgbClr val="1F2937"/>
                </a:solidFill>
                <a:latin typeface="Tahoma"/>
                <a:ea typeface="Tahoma"/>
                <a:cs typeface="Tahoma"/>
              </a:rPr>
              <a:t>฿265,655</a:t>
            </a:r>
          </a:p>
          <a:p>
            <a:pPr>
              <a:spcBef>
                <a:spcPts val="400"/>
              </a:spcBef>
            </a:pPr>
            <a:r>
              <a:rPr sz="1050" b="0" i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49 รายการ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0000" y="2500000"/>
            <a:ext cx="5500000" cy="2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B91C1C"/>
                </a:solidFill>
                <a:latin typeface="Tahoma"/>
                <a:ea typeface="Tahoma"/>
                <a:cs typeface="Tahoma"/>
              </a:rPr>
              <a:t>เมนูต้นทุนเพิ่มขึ้นมากสุด (MoM)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00000" y="2780000"/>
          <a:ext cx="5300000" cy="120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00000"/>
                <a:gridCol w="1700000"/>
                <a:gridCol w="1500000"/>
              </a:tblGrid>
              <a:tr h="300000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เมนู</a:t>
                      </a:r>
                    </a:p>
                  </a:txBody>
                  <a:tcPr marL="70000" marR="70000" marT="35000" marB="35000" anchor="ctr">
                    <a:solidFill>
                      <a:srgbClr val="203C8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ต้นทุนเดือนนี้</a:t>
                      </a:r>
                    </a:p>
                  </a:txBody>
                  <a:tcPr marL="70000" marR="70000" marT="35000" marB="35000" anchor="ctr">
                    <a:solidFill>
                      <a:srgbClr val="203C8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เปลี่ยน</a:t>
                      </a:r>
                    </a:p>
                  </a:txBody>
                  <a:tcPr marL="70000" marR="70000" marT="35000" marB="35000" anchor="ctr">
                    <a:solidFill>
                      <a:srgbClr val="203C81"/>
                    </a:solidFill>
                  </a:tcPr>
                </a:tc>
              </a:tr>
              <a:tr h="30000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(B) กุ้งสด (5 ชิ้น )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฿39,749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+฿4,748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(B) แซลมอนดอง (3 ชิ้น)</a:t>
                      </a:r>
                    </a:p>
                  </a:txBody>
                  <a:tcPr marL="70000" marR="70000" marT="35000" marB="35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฿39,948</a:t>
                      </a:r>
                    </a:p>
                  </a:txBody>
                  <a:tcPr marL="70000" marR="70000" marT="35000" marB="35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+฿4,084</a:t>
                      </a:r>
                    </a:p>
                  </a:txBody>
                  <a:tcPr marL="70000" marR="70000" marT="35000" marB="35000" anchor="ctr">
                    <a:solidFill>
                      <a:srgbClr val="F8FAFC"/>
                    </a:solidFill>
                  </a:tcPr>
                </a:tc>
              </a:tr>
              <a:tr h="30000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(B) กุ้งอาเจนติน่าซาชิมิ …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฿14,947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+฿3,780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6200000" y="2500000"/>
            <a:ext cx="5500000" cy="2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047757"/>
                </a:solidFill>
                <a:latin typeface="Tahoma"/>
                <a:ea typeface="Tahoma"/>
                <a:cs typeface="Tahoma"/>
              </a:rPr>
              <a:t>เมนูต้นทุนลดลงมากสุด (MoM)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6200000" y="2780000"/>
          <a:ext cx="5300000" cy="120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00000"/>
                <a:gridCol w="1700000"/>
                <a:gridCol w="1500000"/>
              </a:tblGrid>
              <a:tr h="300000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เมนู</a:t>
                      </a:r>
                    </a:p>
                  </a:txBody>
                  <a:tcPr marL="70000" marR="70000" marT="35000" marB="35000" anchor="ctr">
                    <a:solidFill>
                      <a:srgbClr val="203C8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ต้นทุนเดือนนี้</a:t>
                      </a:r>
                    </a:p>
                  </a:txBody>
                  <a:tcPr marL="70000" marR="70000" marT="35000" marB="35000" anchor="ctr">
                    <a:solidFill>
                      <a:srgbClr val="203C8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เปลี่ยน</a:t>
                      </a:r>
                    </a:p>
                  </a:txBody>
                  <a:tcPr marL="70000" marR="70000" marT="35000" marB="35000" anchor="ctr">
                    <a:solidFill>
                      <a:srgbClr val="203C81"/>
                    </a:solidFill>
                  </a:tcPr>
                </a:tc>
              </a:tr>
              <a:tr h="30000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(B) แมงกะพรุนหัวกระสุน ดอ…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฿0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฿-3,669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(B) ข้าวหน้ามันปู(Buffet)</a:t>
                      </a:r>
                    </a:p>
                  </a:txBody>
                  <a:tcPr marL="70000" marR="70000" marT="35000" marB="35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฿6,946</a:t>
                      </a:r>
                    </a:p>
                  </a:txBody>
                  <a:tcPr marL="70000" marR="70000" marT="35000" marB="35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฿-3,396</a:t>
                      </a:r>
                    </a:p>
                  </a:txBody>
                  <a:tcPr marL="70000" marR="70000" marT="35000" marB="35000" anchor="ctr">
                    <a:solidFill>
                      <a:srgbClr val="F8FAFC"/>
                    </a:solidFill>
                  </a:tcPr>
                </a:tc>
              </a:tr>
              <a:tr h="30000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(B) หัวปลาแซลมอนต้มซีอิ๊ว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฿3,874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฿-3,141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600000" y="4100000"/>
            <a:ext cx="9000000" cy="2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203C81"/>
                </a:solidFill>
                <a:latin typeface="Tahoma"/>
                <a:ea typeface="Tahoma"/>
                <a:cs typeface="Tahoma"/>
              </a:rPr>
              <a:t>วัตถุดิบทั้งหมดที่ควรสั่งซื้อ (49 รายการ) — ดูสไลด์ถัดไป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0000" y="6600000"/>
            <a:ext cx="11150000" cy="2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Oshinei · ต้นทุนวัตถุดิบเทียบยอดขาย &amp; แผนสั่งซื้อวัตถุดิบหลัก 48 ชนิด  ·  85/92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0578" cy="6858000"/>
          </a:xfrm>
          <a:prstGeom prst="rect">
            <a:avLst/>
          </a:prstGeom>
          <a:solidFill>
            <a:srgbClr val="203C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0785" y="51759"/>
            <a:ext cx="1171755" cy="117175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00000" y="230000"/>
            <a:ext cx="1115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i="0" spc="15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ส่วนที่ 3 · รายละเอียดรายสาขา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00" y="420000"/>
            <a:ext cx="1115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 i="0">
                <a:solidFill>
                  <a:srgbClr val="203C81"/>
                </a:solidFill>
                <a:latin typeface="Tahoma"/>
                <a:ea typeface="Tahoma"/>
                <a:cs typeface="Tahoma"/>
              </a:rPr>
              <a:t>เพชรบูรณ์ — วัตถุดิบทั้งหมดที่ควรสั่งซื้อ (49 รายการ) (หน้า 1/2)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00000" y="1300000"/>
          <a:ext cx="11150000" cy="515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00000"/>
                <a:gridCol w="6200000"/>
                <a:gridCol w="2700000"/>
                <a:gridCol w="1850000"/>
              </a:tblGrid>
              <a:tr h="200000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#</a:t>
                      </a:r>
                    </a:p>
                  </a:txBody>
                  <a:tcPr marL="70000" marR="70000" marT="12000" marB="12000" anchor="ctr">
                    <a:solidFill>
                      <a:srgbClr val="203C8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วัตถุดิบ</a:t>
                      </a:r>
                    </a:p>
                  </a:txBody>
                  <a:tcPr marL="70000" marR="70000" marT="12000" marB="12000" anchor="ctr">
                    <a:solidFill>
                      <a:srgbClr val="203C8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ควรสั่ง/เดือน</a:t>
                      </a:r>
                    </a:p>
                  </a:txBody>
                  <a:tcPr marL="70000" marR="70000" marT="12000" marB="12000" anchor="ctr">
                    <a:solidFill>
                      <a:srgbClr val="203C8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มูลค่า/เดือน (฿)</a:t>
                      </a:r>
                    </a:p>
                  </a:txBody>
                  <a:tcPr marL="70000" marR="70000" marT="12000" marB="12000" anchor="ctr">
                    <a:solidFill>
                      <a:srgbClr val="203C81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กุ้งแกะเปลือก  5 ตัวละ 15 กรัม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13 แพ็ค 10 กก. (130.00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40,274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เนื้อปลาทูน่า 1 ชิ้น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39 แพ็ค 1 กก. (39.00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22,620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เนื้อเสือร้องไห้สไลด์ ( 5 ชิ้นละ 10 กรัม 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5 แพ็ค 10 กก. (50.00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17,600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ปลาซาบะดอง  1 ชิ้น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 แพ็ค 12.5 กก. (25.00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14,206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5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เนื้อใบพายออสเตรเลียสไลด์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30 แพ็ค 1 กก. (30.00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14,100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6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หนวดปลาหมึกยักษ์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 แพ็ค 12 กก. (24.00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12,470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7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หอยเซลล์ต้ม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23 แพ็ค 1 กก. (23.00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11,960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8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ปลาไหลอูนางิ 70 P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104 แพ็ค 120 กรัม (12.48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9,880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9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ไข่กุ้ง Ebiko Grade A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 แพ็ค 10 กก. (20.00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8,864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10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ปลาเนื้อขาวหั่นเต๋า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 แพ็ค 10 กก. (30.00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8,439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11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ส่าหร่ายแผ่น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1,982 แผ่น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7,254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12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ปลาไหลสไลด์ 9 ชิ้น ชิ้นละ 6 กรัม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 แพ็ค 7.2 กก. (7.20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6,480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13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ปลาหมึกกระดอง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 แพ็ค 10 กก. (20.00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6,400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14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ไข่หอยเม่น แช่แข็ง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24 แพ็ค 100 กรัม (2.40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6,120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15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เนื้อชาโรเล่ส์หมักเสียบไม้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704 ชิ้น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5,981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16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หอยนางรมญี่ปุ่น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453 ตัว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5,915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17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ไข่หวานหั่นเต๋า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 แพ็ค 10 กก. (30.00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5,457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18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วาซาบิ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 แพ็ค 10 กก. (10.00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4,789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19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เนื้อออสเตรเลียแบบตัด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8 แพ็ค 1 กก. (8.00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4,512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20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ปลาไหลอนาโงะสไลด์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26 แพ็ค 200 กรัม (5.20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4,264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21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กุ้งอาเจนติน่า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5 แพ็ค 2 กก. (10.00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4,035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22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ปลาซาบะ 1/2 ตัว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 แพ็ค 20 กก. (20.00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3,978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23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ปลาฮามาจิ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 แพ็ค 1.85 กก. (7.40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3,864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24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มันปูปรงรส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6 แพ็ค 1 กก. (6.00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3,822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25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ปีกไก่สำเร็จรูป 1 ชิ้น / 35 กรัม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 แพ็ค 10 กก. (10.00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3,446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26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ปลาดอลลี่ ½ ตัว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 แพ็ค 10 กก. (40.00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3,276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27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กุ้งเทมปุระ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658 ชิ้น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3,176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28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เบสซอฟต์ครีมรสนม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11 แพ็ค 4.4 กก. (48.40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2,987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29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เนื้อสไลด์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9 กก.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2,900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30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ตับปลาอังกิโมะ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276 แพ็ค 15 กรัม (4.14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2,208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00000" y="6600000"/>
            <a:ext cx="11150000" cy="2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Oshinei · ต้นทุนวัตถุดิบเทียบยอดขาย &amp; แผนสั่งซื้อวัตถุดิบหลัก 48 ชนิด  ·  86/92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0578" cy="6858000"/>
          </a:xfrm>
          <a:prstGeom prst="rect">
            <a:avLst/>
          </a:prstGeom>
          <a:solidFill>
            <a:srgbClr val="203C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0785" y="51759"/>
            <a:ext cx="1171755" cy="117175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00000" y="230000"/>
            <a:ext cx="1115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i="0" spc="15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ส่วนที่ 3 · รายละเอียดรายสาขา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00" y="420000"/>
            <a:ext cx="1115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 i="0">
                <a:solidFill>
                  <a:srgbClr val="203C81"/>
                </a:solidFill>
                <a:latin typeface="Tahoma"/>
                <a:ea typeface="Tahoma"/>
                <a:cs typeface="Tahoma"/>
              </a:rPr>
              <a:t>เพชรบูรณ์ — วัตถุดิบทั้งหมดที่ควรสั่งซื้อ (49 รายการ) (หน้า 2/2)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00000" y="1300000"/>
          <a:ext cx="11150000" cy="3335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00000"/>
                <a:gridCol w="6200000"/>
                <a:gridCol w="2700000"/>
                <a:gridCol w="1850000"/>
              </a:tblGrid>
              <a:tr h="200000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#</a:t>
                      </a:r>
                    </a:p>
                  </a:txBody>
                  <a:tcPr marL="70000" marR="70000" marT="12000" marB="12000" anchor="ctr">
                    <a:solidFill>
                      <a:srgbClr val="203C8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วัตถุดิบ</a:t>
                      </a:r>
                    </a:p>
                  </a:txBody>
                  <a:tcPr marL="70000" marR="70000" marT="12000" marB="12000" anchor="ctr">
                    <a:solidFill>
                      <a:srgbClr val="203C8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ควรสั่ง/เดือน</a:t>
                      </a:r>
                    </a:p>
                  </a:txBody>
                  <a:tcPr marL="70000" marR="70000" marT="12000" marB="12000" anchor="ctr">
                    <a:solidFill>
                      <a:srgbClr val="203C8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มูลค่า/เดือน (฿)</a:t>
                      </a:r>
                    </a:p>
                  </a:txBody>
                  <a:tcPr marL="70000" marR="70000" marT="12000" marB="12000" anchor="ctr">
                    <a:solidFill>
                      <a:srgbClr val="203C81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31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น้ำดองสไลต์เกาหลี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 แพ็ค 20 ลิตร (20.00 ลิตร)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2,120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32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สาเกสำหรับปรุงอาหาร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 แพ็ค 18 ลิตร (18.00 ลิตร)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2,046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33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เบสซอฟต์ครีมทูโทน (รสมัตฉะ และรสนม)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7 แพ็ค 4.4 กก. (30.80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1,900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34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ปลาเงินทอดกรอบ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6 แพ็ค 250 กรัม (1.50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1,896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35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เนื้อชาโรเล่ส์หมักเสียบไม้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149 ไม้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1,236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36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ข้าวญี่ปุ่นปรุงรส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 แพ็ค 25 กก. (25.00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1,080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37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แป้งเทมปุระผง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 แพ็ค 10 กก. (10.00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770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38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เกี๊ยวซ่าอูนิ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61 ชิ้น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726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39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เนื้อออสเตรเลียสไลด์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 แพ็ค 1 กก. (1.00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716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40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เนื้อวากิวพับนอก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 แพ็ค 1 กก. (1.00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534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41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หอยแครงยักษ์สไลด์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37 ชิ้น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406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42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สาหร่ายโนริหั่นฝอย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 กก.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325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43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สาหร่ายวากาแมะ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 กก.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173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44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กุ้งลายเสือ (อิงราคากุ้งอาร์เจนติน่า/ตัว)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9 ตัว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136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45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กุ้งยืด Ebi Tempura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24 ตัว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114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46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หอยนางรมญี่ปุ่น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8 ชิ้น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92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47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ไข่ปลาแซลมอน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 กก.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56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48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ปลาฮามาจิ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 กก.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49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49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สาหร่ายโนริหั่นฝอย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 ชิ้น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00000" y="6600000"/>
            <a:ext cx="11150000" cy="2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Oshinei · ต้นทุนวัตถุดิบเทียบยอดขาย &amp; แผนสั่งซื้อวัตถุดิบหลัก 48 ชนิด  ·  87/92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0578" cy="6858000"/>
          </a:xfrm>
          <a:prstGeom prst="rect">
            <a:avLst/>
          </a:prstGeom>
          <a:solidFill>
            <a:srgbClr val="203C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0785" y="51759"/>
            <a:ext cx="1171755" cy="117175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00000" y="230000"/>
            <a:ext cx="1115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i="0" spc="15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ส่วนที่ 3 · รายละเอียดรายสาขา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00" y="420000"/>
            <a:ext cx="1115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203C81"/>
                </a:solidFill>
                <a:latin typeface="Tahoma"/>
                <a:ea typeface="Tahoma"/>
                <a:cs typeface="Tahoma"/>
              </a:rPr>
              <a:t>โคราช1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0000" y="950000"/>
            <a:ext cx="1115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อันดับต้นทุนอาหาร #20/28 (1=สูงสุด)  ·  อันดับมูลค่าสั่งซื้อ #11/28 (1=สูงสุด)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0000" y="1350000"/>
            <a:ext cx="2682500" cy="100000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0000" rIns="120000" tIns="110000" bIns="80000"/>
          <a:lstStyle/>
          <a:p>
            <a:pPr algn="ctr"/>
            <a:r>
              <a:rPr sz="1100" b="0" i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ยอดขาย (ไม่รวม VAT)</a:t>
            </a:r>
          </a:p>
          <a:p>
            <a:pPr>
              <a:spcBef>
                <a:spcPts val="400"/>
              </a:spcBef>
            </a:pPr>
            <a:r>
              <a:rPr sz="2000" b="1" i="0">
                <a:solidFill>
                  <a:srgbClr val="1F2937"/>
                </a:solidFill>
                <a:latin typeface="Tahoma"/>
                <a:ea typeface="Tahoma"/>
                <a:cs typeface="Tahoma"/>
              </a:rPr>
              <a:t>฿3,495,903</a:t>
            </a:r>
          </a:p>
          <a:p>
            <a:pPr>
              <a:spcBef>
                <a:spcPts val="400"/>
              </a:spcBef>
            </a:pPr>
            <a:r>
              <a:rPr sz="1050" b="0" i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/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2500" y="1350000"/>
            <a:ext cx="2682500" cy="100000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0000" rIns="120000" tIns="110000" bIns="80000"/>
          <a:lstStyle/>
          <a:p>
            <a:pPr algn="ctr"/>
            <a:r>
              <a:rPr sz="1100" b="0" i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ต้นทุนวัตถุดิบตามสูตร</a:t>
            </a:r>
          </a:p>
          <a:p>
            <a:pPr>
              <a:spcBef>
                <a:spcPts val="400"/>
              </a:spcBef>
            </a:pPr>
            <a:r>
              <a:rPr sz="2000" b="1" i="0">
                <a:solidFill>
                  <a:srgbClr val="1F2937"/>
                </a:solidFill>
                <a:latin typeface="Tahoma"/>
                <a:ea typeface="Tahoma"/>
                <a:cs typeface="Tahoma"/>
              </a:rPr>
              <a:t>฿1,972,444</a:t>
            </a:r>
          </a:p>
          <a:p>
            <a:pPr>
              <a:spcBef>
                <a:spcPts val="400"/>
              </a:spcBef>
            </a:pPr>
            <a:r>
              <a:rPr sz="1050" b="0" i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56.4% ของยอดขาย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5000" y="1350000"/>
            <a:ext cx="2682500" cy="100000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0000" rIns="120000" tIns="110000" bIns="80000"/>
          <a:lstStyle/>
          <a:p>
            <a:pPr algn="ctr"/>
            <a:r>
              <a:rPr sz="1100" b="0" i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เปลี่ยนจากเดือนก่อน</a:t>
            </a:r>
          </a:p>
          <a:p>
            <a:pPr>
              <a:spcBef>
                <a:spcPts val="400"/>
              </a:spcBef>
            </a:pPr>
            <a:r>
              <a:rPr sz="2000" b="1" i="0">
                <a:solidFill>
                  <a:srgbClr val="1F2937"/>
                </a:solidFill>
                <a:latin typeface="Tahoma"/>
                <a:ea typeface="Tahoma"/>
                <a:cs typeface="Tahoma"/>
              </a:rPr>
              <a:t>+0.1 จุด</a:t>
            </a:r>
          </a:p>
          <a:p>
            <a:pPr>
              <a:spcBef>
                <a:spcPts val="400"/>
              </a:spcBef>
            </a:pPr>
            <a:r>
              <a:rPr sz="1050" b="0" i="0">
                <a:solidFill>
                  <a:srgbClr val="B91C1C"/>
                </a:solidFill>
                <a:latin typeface="Tahoma"/>
                <a:ea typeface="Tahoma"/>
                <a:cs typeface="Tahoma"/>
              </a:rPr>
              <a:t>56.3% เดือนก่อน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67500" y="1350000"/>
            <a:ext cx="2682500" cy="100000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0000" rIns="120000" tIns="110000" bIns="80000"/>
          <a:lstStyle/>
          <a:p>
            <a:pPr algn="ctr"/>
            <a:r>
              <a:rPr sz="1100" b="0" i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ควรสั่งซื้อ 48 รายการหลัก/เดือน</a:t>
            </a:r>
          </a:p>
          <a:p>
            <a:pPr>
              <a:spcBef>
                <a:spcPts val="400"/>
              </a:spcBef>
            </a:pPr>
            <a:r>
              <a:rPr sz="2000" b="1" i="0">
                <a:solidFill>
                  <a:srgbClr val="1F2937"/>
                </a:solidFill>
                <a:latin typeface="Tahoma"/>
                <a:ea typeface="Tahoma"/>
                <a:cs typeface="Tahoma"/>
              </a:rPr>
              <a:t>฿661,694</a:t>
            </a:r>
          </a:p>
          <a:p>
            <a:pPr>
              <a:spcBef>
                <a:spcPts val="400"/>
              </a:spcBef>
            </a:pPr>
            <a:r>
              <a:rPr sz="1050" b="0" i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50 รายการ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0000" y="2500000"/>
            <a:ext cx="5500000" cy="2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B91C1C"/>
                </a:solidFill>
                <a:latin typeface="Tahoma"/>
                <a:ea typeface="Tahoma"/>
                <a:cs typeface="Tahoma"/>
              </a:rPr>
              <a:t>เมนูต้นทุนเพิ่มขึ้นมากสุด (MoM)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00000" y="2780000"/>
          <a:ext cx="5300000" cy="120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00000"/>
                <a:gridCol w="1700000"/>
                <a:gridCol w="1500000"/>
              </a:tblGrid>
              <a:tr h="300000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เมนู</a:t>
                      </a:r>
                    </a:p>
                  </a:txBody>
                  <a:tcPr marL="70000" marR="70000" marT="35000" marB="35000" anchor="ctr">
                    <a:solidFill>
                      <a:srgbClr val="203C8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ต้นทุนเดือนนี้</a:t>
                      </a:r>
                    </a:p>
                  </a:txBody>
                  <a:tcPr marL="70000" marR="70000" marT="35000" marB="35000" anchor="ctr">
                    <a:solidFill>
                      <a:srgbClr val="203C8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เปลี่ยน</a:t>
                      </a:r>
                    </a:p>
                  </a:txBody>
                  <a:tcPr marL="70000" marR="70000" marT="35000" marB="35000" anchor="ctr">
                    <a:solidFill>
                      <a:srgbClr val="203C81"/>
                    </a:solidFill>
                  </a:tcPr>
                </a:tc>
              </a:tr>
              <a:tr h="30000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(B) แซลมอน ซาชิมิ (1 ชิ้น)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฿379,294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+฿23,720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(B) หัวปลาแซลมอนต้มซีอิ๊ว</a:t>
                      </a:r>
                    </a:p>
                  </a:txBody>
                  <a:tcPr marL="70000" marR="70000" marT="35000" marB="35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฿47,850</a:t>
                      </a:r>
                    </a:p>
                  </a:txBody>
                  <a:tcPr marL="70000" marR="70000" marT="35000" marB="35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+฿8,376</a:t>
                      </a:r>
                    </a:p>
                  </a:txBody>
                  <a:tcPr marL="70000" marR="70000" marT="35000" marB="35000" anchor="ctr">
                    <a:solidFill>
                      <a:srgbClr val="F8FAFC"/>
                    </a:solidFill>
                  </a:tcPr>
                </a:tc>
              </a:tr>
              <a:tr h="30000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(B) กุ้งสด (5 ชิ้น )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฿68,173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+฿8,192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6200000" y="2500000"/>
            <a:ext cx="5500000" cy="2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047757"/>
                </a:solidFill>
                <a:latin typeface="Tahoma"/>
                <a:ea typeface="Tahoma"/>
                <a:cs typeface="Tahoma"/>
              </a:rPr>
              <a:t>เมนูต้นทุนลดลงมากสุด (MoM)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6200000" y="2780000"/>
          <a:ext cx="5300000" cy="120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00000"/>
                <a:gridCol w="1700000"/>
                <a:gridCol w="1500000"/>
              </a:tblGrid>
              <a:tr h="300000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เมนู</a:t>
                      </a:r>
                    </a:p>
                  </a:txBody>
                  <a:tcPr marL="70000" marR="70000" marT="35000" marB="35000" anchor="ctr">
                    <a:solidFill>
                      <a:srgbClr val="203C8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ต้นทุนเดือนนี้</a:t>
                      </a:r>
                    </a:p>
                  </a:txBody>
                  <a:tcPr marL="70000" marR="70000" marT="35000" marB="35000" anchor="ctr">
                    <a:solidFill>
                      <a:srgbClr val="203C8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เปลี่ยน</a:t>
                      </a:r>
                    </a:p>
                  </a:txBody>
                  <a:tcPr marL="70000" marR="70000" marT="35000" marB="35000" anchor="ctr">
                    <a:solidFill>
                      <a:srgbClr val="203C81"/>
                    </a:solidFill>
                  </a:tcPr>
                </a:tc>
              </a:tr>
              <a:tr h="30000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(B) ชุดปลาดิบรวม 4 อย่าง …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฿73,633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฿-6,206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(B) ทุเรียน (1 พู)</a:t>
                      </a:r>
                    </a:p>
                  </a:txBody>
                  <a:tcPr marL="70000" marR="70000" marT="35000" marB="35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฿0</a:t>
                      </a:r>
                    </a:p>
                  </a:txBody>
                  <a:tcPr marL="70000" marR="70000" marT="35000" marB="35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฿-5,848</a:t>
                      </a:r>
                    </a:p>
                  </a:txBody>
                  <a:tcPr marL="70000" marR="70000" marT="35000" marB="35000" anchor="ctr">
                    <a:solidFill>
                      <a:srgbClr val="F8FAFC"/>
                    </a:solidFill>
                  </a:tcPr>
                </a:tc>
              </a:tr>
              <a:tr h="30000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(B) ปลาหมึกทอด (5 ชิ้น)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฿4,306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฿-3,429</a:t>
                      </a:r>
                    </a:p>
                  </a:txBody>
                  <a:tcPr marL="70000" marR="70000" marT="35000" marB="350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600000" y="4100000"/>
            <a:ext cx="9000000" cy="2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203C81"/>
                </a:solidFill>
                <a:latin typeface="Tahoma"/>
                <a:ea typeface="Tahoma"/>
                <a:cs typeface="Tahoma"/>
              </a:rPr>
              <a:t>วัตถุดิบทั้งหมดที่ควรสั่งซื้อ (50 รายการ) — ดูสไลด์ถัดไป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0000" y="6600000"/>
            <a:ext cx="11150000" cy="2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Oshinei · ต้นทุนวัตถุดิบเทียบยอดขาย &amp; แผนสั่งซื้อวัตถุดิบหลัก 48 ชนิด  ·  88/92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0578" cy="6858000"/>
          </a:xfrm>
          <a:prstGeom prst="rect">
            <a:avLst/>
          </a:prstGeom>
          <a:solidFill>
            <a:srgbClr val="203C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0785" y="51759"/>
            <a:ext cx="1171755" cy="117175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00000" y="230000"/>
            <a:ext cx="1115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i="0" spc="15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ส่วนที่ 3 · รายละเอียดรายสาขา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00" y="420000"/>
            <a:ext cx="1115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 i="0">
                <a:solidFill>
                  <a:srgbClr val="203C81"/>
                </a:solidFill>
                <a:latin typeface="Tahoma"/>
                <a:ea typeface="Tahoma"/>
                <a:cs typeface="Tahoma"/>
              </a:rPr>
              <a:t>โคราช1 — วัตถุดิบทั้งหมดที่ควรสั่งซื้อ (50 รายการ) (หน้า 1/2)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00000" y="1300000"/>
          <a:ext cx="11150000" cy="515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00000"/>
                <a:gridCol w="6200000"/>
                <a:gridCol w="2700000"/>
                <a:gridCol w="1850000"/>
              </a:tblGrid>
              <a:tr h="200000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#</a:t>
                      </a:r>
                    </a:p>
                  </a:txBody>
                  <a:tcPr marL="70000" marR="70000" marT="12000" marB="12000" anchor="ctr">
                    <a:solidFill>
                      <a:srgbClr val="203C8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วัตถุดิบ</a:t>
                      </a:r>
                    </a:p>
                  </a:txBody>
                  <a:tcPr marL="70000" marR="70000" marT="12000" marB="12000" anchor="ctr">
                    <a:solidFill>
                      <a:srgbClr val="203C8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ควรสั่ง/เดือน</a:t>
                      </a:r>
                    </a:p>
                  </a:txBody>
                  <a:tcPr marL="70000" marR="70000" marT="12000" marB="12000" anchor="ctr">
                    <a:solidFill>
                      <a:srgbClr val="203C8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มูลค่า/เดือน (฿)</a:t>
                      </a:r>
                    </a:p>
                  </a:txBody>
                  <a:tcPr marL="70000" marR="70000" marT="12000" marB="12000" anchor="ctr">
                    <a:solidFill>
                      <a:srgbClr val="203C81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กุ้งแกะเปลือก  5 ตัวละ 15 กรัม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25 แพ็ค 10 กก. (250.00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77,450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เนื้อปลาทูน่า 1 ชิ้น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133 แพ็ค 1 กก. (133.00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77,140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หอยเซลล์ต้ม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70 แพ็ค 1 กก. (70.00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36,400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เนื้อใบพายออสเตรเลียสไลด์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72 แพ็ค 1 กก. (72.00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33,840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5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หนวดปลาหมึกยักษ์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5 แพ็ค 12 กก. (60.00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31,175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6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ปลาไหลอูนางิ 70 P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314 แพ็ค 120 กรัม (37.68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29,830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7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ปลาซาบะดอง 6 ชิ้น ชิ้นละ 10 กรัม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 แพ็ค 12.5 กก. (50.00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28,412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8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เนื้อเสือร้องไห้สไลด์ ( 5 ชิ้นละ 10 กรัม 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8 แพ็ค 10 กก. (80.00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28,160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9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ปลาเนื้อขาวหั่นเต๋า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9 แพ็ค 10 กก. (90.00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25,317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10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สาหร่ายโนริแผ่น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6,321 แผ่น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23,018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11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เนื้อชาโรเล่ส์หมักเสียบไม้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2,391 ชิ้น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20,316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12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หอยนางรมญี่ปุ่น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1,514 ตัว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19,780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13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ไข่หอยเม่น แช่แข็ง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77 แพ็ค 100 กรัม (7.70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19,635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14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ไข่กุ้ง Ebiko Grade A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 แพ็ค 10 กก. (40.00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17,728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15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ปลาไหลอนาโงะสไลด์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105 แพ็ค 200 กรัม (21.00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17,220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16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ปลาหมึกกระดอง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5 แพ็ค 10 กก. (50.00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16,000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17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ปลาซาบะ1 ชิ้น ½ ตัว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 แพ็ค 20 กก. (80.00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15,912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18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ปลาไหลสไลด์ 9 ชิ้น ชิ้นละ 6 กรัม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 แพ็ค 7.2 กก. (14.40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12,960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19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ไข่หวานหั่นเต๋า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7 แพ็ค 10 กก. (70.00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12,733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20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เบสซอฟต์ครีมรสนม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43 แพ็ค 4.4 กก. (189.20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11,676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21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ปลาฮามาจิ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12 แพ็ค 1.85 กก. (22.20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11,592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22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มันปูปรงรส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15 แพ็ค 1 กก. (15.00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9,555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23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ตับปลาอังกิโมะ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1,064 แพ็ค 15 กรัม (15.96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8,512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24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เนื้อออสเตรเลียแบบตัด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15 แพ็ค 1 กก. (15.00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8,460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25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กุ้งอาเจนติน่า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10 แพ็ค 2 กก. (20.00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8,070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26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เนื้อสไลด์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21 กก.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6,750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27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ปลาดอลลี่แช่แข็ง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8 แพ็ค 10 กก. (80.00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6,552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28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ปลาเงินทอดกรอบ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17 แพ็ค 250 กรัม (4.25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5,371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29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กุ้งเทมปุระ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1,058 ชิ้น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5,106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30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วาซาบิ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 แพ็ค 10 กก. (10.00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4,789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00000" y="6600000"/>
            <a:ext cx="11150000" cy="2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Oshinei · ต้นทุนวัตถุดิบเทียบยอดขาย &amp; แผนสั่งซื้อวัตถุดิบหลัก 48 ชนิด  ·  89/92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0578" cy="6858000"/>
          </a:xfrm>
          <a:prstGeom prst="rect">
            <a:avLst/>
          </a:prstGeom>
          <a:solidFill>
            <a:srgbClr val="203C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0785" y="51759"/>
            <a:ext cx="1171755" cy="117175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00000" y="230000"/>
            <a:ext cx="1115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i="0" spc="15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ส่วนที่ 3 · รายละเอียดรายสาขา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00" y="420000"/>
            <a:ext cx="1115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 i="0">
                <a:solidFill>
                  <a:srgbClr val="203C81"/>
                </a:solidFill>
                <a:latin typeface="Tahoma"/>
                <a:ea typeface="Tahoma"/>
                <a:cs typeface="Tahoma"/>
              </a:rPr>
              <a:t>โคราช1 — วัตถุดิบทั้งหมดที่ควรสั่งซื้อ (50 รายการ) (หน้า 2/2)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00000" y="1300000"/>
          <a:ext cx="11150000" cy="350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00000"/>
                <a:gridCol w="6200000"/>
                <a:gridCol w="2700000"/>
                <a:gridCol w="1850000"/>
              </a:tblGrid>
              <a:tr h="200000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#</a:t>
                      </a:r>
                    </a:p>
                  </a:txBody>
                  <a:tcPr marL="70000" marR="70000" marT="12000" marB="12000" anchor="ctr">
                    <a:solidFill>
                      <a:srgbClr val="203C8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วัตถุดิบ</a:t>
                      </a:r>
                    </a:p>
                  </a:txBody>
                  <a:tcPr marL="70000" marR="70000" marT="12000" marB="12000" anchor="ctr">
                    <a:solidFill>
                      <a:srgbClr val="203C8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ควรสั่ง/เดือน</a:t>
                      </a:r>
                    </a:p>
                  </a:txBody>
                  <a:tcPr marL="70000" marR="70000" marT="12000" marB="12000" anchor="ctr">
                    <a:solidFill>
                      <a:srgbClr val="203C8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 i="0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มูลค่า/เดือน (฿)</a:t>
                      </a:r>
                    </a:p>
                  </a:txBody>
                  <a:tcPr marL="70000" marR="70000" marT="12000" marB="12000" anchor="ctr">
                    <a:solidFill>
                      <a:srgbClr val="203C81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31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เบสซอฟต์ครีมทูโทน (รสมัตฉะ และรสนม)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17 แพ็ค 4.4 กก. (74.80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4,614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32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น้ำดองสไลต์เกาหลี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 แพ็ค 20 ลิตร (40.00 ลิตร)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4,240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33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สาเกสำหรับปรุงอาหาร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 แพ็ค 18 ลิตร (36.00 ลิตร)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4,092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34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ปีกไก่สำเร็จรูป 1 ชิ้น / 35 กรัม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 แพ็ค 10 กก. (10.00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3,446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35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เกี๊ยวซ่าอูนิ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272 ชิ้น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3,253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36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เนื้อชาโรเล่ส์หมักเสียบไม้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297 ไม้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2,473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37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เนื้อออสเตรเลี่ยนวากิว สไลด์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 แพ็ค 1 กก. (3.00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2,148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38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มิริน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 แพ็ค 20 ลิตร (20.00 ลิตร)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1,648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39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ข้าวญี่ปุ่นปรุงรส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 แพ็ค 25 กก. (25.00 กก.)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1,080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40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เนื้อวากิวพับนอก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 แพ็ค 1 กก. (2.00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1,067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41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สาหร่ายโนรี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 กก.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1,020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42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แป้งเทมปุระผง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 แพ็ค 10 กก. (10.00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770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43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สาหร่ายวากาแมะ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 กก.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628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44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กุ้งลายเสือ (อิงราคากุ้งอาร์เจนติน่า/ตัว)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38 ตัว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622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45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กุ้งยืด Ebi Tempura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79 ตัว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381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46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เบสซอฟต์ครีมรสมัตฉะ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 แพ็ค 4.4 กก. (4.40 กก.)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271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47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ไข่ปลาแซลมอน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 กก.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219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48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ปลาฮามาจิ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 กก.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191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49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หอยนางรมญี่ปุ่น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5 ชิ้น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62</a:t>
                      </a:r>
                    </a:p>
                  </a:txBody>
                  <a:tcPr marL="70000" marR="70000" marT="12000" marB="12000" anchor="ctr">
                    <a:solidFill>
                      <a:srgbClr val="FFFFFF"/>
                    </a:solidFill>
                  </a:tcPr>
                </a:tc>
              </a:tr>
              <a:tr h="1650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50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สาหร่ายโนริหั่นฝอย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2 ชิ้น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</a:rPr>
                        <a:t>7</a:t>
                      </a:r>
                    </a:p>
                  </a:txBody>
                  <a:tcPr marL="70000" marR="70000" marT="12000" marB="12000"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00000" y="6600000"/>
            <a:ext cx="11150000" cy="2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Oshinei · ต้นทุนวัตถุดิบเทียบยอดขาย &amp; แผนสั่งซื้อวัตถุดิบหลัก 48 ชนิด  ·  90/92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0578" cy="6858000"/>
          </a:xfrm>
          <a:prstGeom prst="rect">
            <a:avLst/>
          </a:prstGeom>
          <a:solidFill>
            <a:srgbClr val="203C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0785" y="51759"/>
            <a:ext cx="1171755" cy="117175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00000" y="230000"/>
            <a:ext cx="1115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i="0" spc="15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ส่วนที่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00" y="420000"/>
            <a:ext cx="1115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203C81"/>
                </a:solidFill>
                <a:latin typeface="Tahoma"/>
                <a:ea typeface="Tahoma"/>
                <a:cs typeface="Tahoma"/>
              </a:rPr>
              <a:t>งานที่ควรเห็นเพิ่มเติม (Watch List)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0000" y="1250000"/>
            <a:ext cx="11150000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1400"/>
              </a:spcAft>
              <a:buClr>
                <a:srgbClr val="203C81"/>
              </a:buClr>
              <a:buFont typeface="Tahoma"/>
              <a:buChar char="—"/>
            </a:pPr>
            <a:r>
              <a:rPr sz="1400" b="0" i="0">
                <a:solidFill>
                  <a:srgbClr val="1F2937"/>
                </a:solidFill>
                <a:latin typeface="Tahoma"/>
                <a:ea typeface="Tahoma"/>
                <a:cs typeface="Tahoma"/>
              </a:rPr>
              <a:t>เริ่มนำเข้ายอดซื้อวัตถุดิบจริงรายสัปดาห์ต่อสาขา (แท็บวัตถุดิบ → ยอดซื้อ) เพื่อเทียบ "ซื้อจริง" กับ "ควรใช้ตามสูตร" ได้ครั้งแรก</a:t>
            </a:r>
          </a:p>
          <a:p>
            <a:pPr marL="228600" indent="-228600">
              <a:spcAft>
                <a:spcPts val="1400"/>
              </a:spcAft>
              <a:buClr>
                <a:srgbClr val="203C81"/>
              </a:buClr>
              <a:buFont typeface="Tahoma"/>
              <a:buChar char="—"/>
            </a:pPr>
            <a:r>
              <a:rPr sz="1400" b="0" i="0">
                <a:solidFill>
                  <a:srgbClr val="1F2937"/>
                </a:solidFill>
                <a:latin typeface="Tahoma"/>
                <a:ea typeface="Tahoma"/>
                <a:cs typeface="Tahoma"/>
              </a:rPr>
              <a:t>5 สาขาต้นทุนอาหารสูงสุด — ตรวจพอร์ชั่นเสิร์ฟ/ของเสีย/การเบิกเมนูบุฟเฟ่ต์ โดยเฉพาะเมนูทุเรียน/แซลมอนหลังเปลี่ยนเมนูใหม่</a:t>
            </a:r>
          </a:p>
          <a:p>
            <a:pPr marL="228600" indent="-228600">
              <a:spcAft>
                <a:spcPts val="1400"/>
              </a:spcAft>
              <a:buClr>
                <a:srgbClr val="203C81"/>
              </a:buClr>
              <a:buFont typeface="Tahoma"/>
              <a:buChar char="—"/>
            </a:pPr>
            <a:r>
              <a:rPr sz="1400" b="0" i="0">
                <a:solidFill>
                  <a:srgbClr val="1F2937"/>
                </a:solidFill>
                <a:latin typeface="Tahoma"/>
                <a:ea typeface="Tahoma"/>
                <a:cs typeface="Tahoma"/>
              </a:rPr>
              <a:t>ช่วงข้อมูลแผนสั่งซื้อคาบเกี่ยววันเปลี่ยนเมนู 1 ก.ย. 2569 — ตัวเลขปัจจุบันเป็นค่าผสมเมนูเก่า/ใหม่ ใช้เป็นค่าประมาณจนกว่าจะมีข้อมูลเต็มเดือน</a:t>
            </a:r>
          </a:p>
          <a:p>
            <a:pPr marL="228600" indent="-228600">
              <a:spcAft>
                <a:spcPts val="1400"/>
              </a:spcAft>
              <a:buClr>
                <a:srgbClr val="203C81"/>
              </a:buClr>
              <a:buFont typeface="Tahoma"/>
              <a:buChar char="—"/>
            </a:pPr>
            <a:r>
              <a:rPr sz="1400" b="0" i="0">
                <a:solidFill>
                  <a:srgbClr val="1F2937"/>
                </a:solidFill>
                <a:latin typeface="Tahoma"/>
                <a:ea typeface="Tahoma"/>
                <a:cs typeface="Tahoma"/>
              </a:rPr>
              <a:t>18 รหัสวัตถุดิบหลักยังไม่ตั้งขนาดบรรจุ (pack size) — ให้ฝ่ายจัดซื้อกรอกข้อมูลเพื่อความแม่นยำของใบสั่งซื้อ</a:t>
            </a:r>
          </a:p>
          <a:p>
            <a:pPr marL="228600" indent="-228600">
              <a:spcAft>
                <a:spcPts val="1400"/>
              </a:spcAft>
              <a:buClr>
                <a:srgbClr val="203C81"/>
              </a:buClr>
              <a:buFont typeface="Tahoma"/>
              <a:buChar char="—"/>
            </a:pPr>
            <a:r>
              <a:rPr sz="1400" b="0" i="0">
                <a:solidFill>
                  <a:srgbClr val="1F2937"/>
                </a:solidFill>
                <a:latin typeface="Tahoma"/>
                <a:ea typeface="Tahoma"/>
                <a:cs typeface="Tahoma"/>
              </a:rPr>
              <a:t>แผนสั่งซื้อครอบคลุม 87.7% ของปริมาณขายจริง — ส่วนที่เหลือส่วนใหญ่เป็นเครื่องดื่ม/น้ำจิ้มบุฟเฟ่ต์ ควรพิจารณาเพิ่มเข้ารายการบังคับสั่ง</a:t>
            </a:r>
          </a:p>
          <a:p>
            <a:pPr marL="228600" indent="-228600">
              <a:spcAft>
                <a:spcPts val="1400"/>
              </a:spcAft>
              <a:buClr>
                <a:srgbClr val="203C81"/>
              </a:buClr>
              <a:buFont typeface="Tahoma"/>
              <a:buChar char="—"/>
            </a:pPr>
            <a:r>
              <a:rPr sz="1400" b="0" i="0">
                <a:solidFill>
                  <a:srgbClr val="1F2937"/>
                </a:solidFill>
                <a:latin typeface="Tahoma"/>
                <a:ea typeface="Tahoma"/>
                <a:cs typeface="Tahoma"/>
              </a:rPr>
              <a:t>สาขาต้นทุนอาหารต่ำผิดปกติ (≤55%) ควรตรวจว่าไม่ใช่เพราะเมนูยังไม่มีต้นทุนในระบบ ก่อนสรุปว่าคุมต้นทุนได้ดีจริง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0000" y="6600000"/>
            <a:ext cx="11150000" cy="2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Oshinei · ต้นทุนวัตถุดิบเทียบยอดขาย &amp; แผนสั่งซื้อวัตถุดิบหลัก 48 ชนิด  ·  91/92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0578" cy="6858000"/>
          </a:xfrm>
          <a:prstGeom prst="rect">
            <a:avLst/>
          </a:prstGeom>
          <a:solidFill>
            <a:srgbClr val="203C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0785" y="51759"/>
            <a:ext cx="1171755" cy="117175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3826" y="6338272"/>
            <a:ext cx="11098174" cy="36200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00000" y="230000"/>
            <a:ext cx="1115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i="0" spc="15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สรุป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0000" y="2400000"/>
            <a:ext cx="103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203C81"/>
                </a:solidFill>
                <a:latin typeface="Tahoma"/>
                <a:ea typeface="Tahoma"/>
                <a:cs typeface="Tahoma"/>
              </a:rPr>
              <a:t>ติดตามเดือนหน้า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00000" y="3550000"/>
            <a:ext cx="7800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</a:pPr>
            <a:r>
              <a:rPr sz="1500" b="0" i="0">
                <a:solidFill>
                  <a:srgbClr val="1F2937"/>
                </a:solidFill>
                <a:latin typeface="Tahoma"/>
                <a:ea typeface="Tahoma"/>
                <a:cs typeface="Tahoma"/>
              </a:rPr>
              <a:t>•  เริ่มมีข้อมูลยอดซื้อจริงสัปดาห์แรก</a:t>
            </a:r>
          </a:p>
          <a:p>
            <a:pPr algn="ctr">
              <a:spcAft>
                <a:spcPts val="1000"/>
              </a:spcAft>
            </a:pPr>
            <a:r>
              <a:rPr sz="1500" b="0" i="0">
                <a:solidFill>
                  <a:srgbClr val="1F2937"/>
                </a:solidFill>
                <a:latin typeface="Tahoma"/>
                <a:ea typeface="Tahoma"/>
                <a:cs typeface="Tahoma"/>
              </a:rPr>
              <a:t>•  ต้นทุนอาหาร % ของ 5 สาขาสูงสุดขยับลงหรือไม่</a:t>
            </a:r>
          </a:p>
          <a:p>
            <a:pPr algn="ctr">
              <a:spcAft>
                <a:spcPts val="1000"/>
              </a:spcAft>
            </a:pPr>
            <a:r>
              <a:rPr sz="1500" b="0" i="0">
                <a:solidFill>
                  <a:srgbClr val="1F2937"/>
                </a:solidFill>
                <a:latin typeface="Tahoma"/>
                <a:ea typeface="Tahoma"/>
                <a:cs typeface="Tahoma"/>
              </a:rPr>
              <a:t>•  แผนสั่งซื้อหลังพ้นช่วงคาบเกี่ยวเมนูใหม่เต็มเดือน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0000" y="5600000"/>
            <a:ext cx="103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รายงานฉบับเต็ม (PDF) และไฟล์ข้อมูลแยกรายสาขา (Excel) แนบมาพร้อมกันนี้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2_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3_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4_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37071</TotalTime>
  <Words>38</Words>
  <Application>Microsoft Office PowerPoint</Application>
  <PresentationFormat>Widescreen</PresentationFormat>
  <Paragraphs>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2</vt:i4>
      </vt:variant>
    </vt:vector>
  </HeadingPairs>
  <TitlesOfParts>
    <vt:vector size="13" baseType="lpstr">
      <vt:lpstr>Arial</vt:lpstr>
      <vt:lpstr>Calibri</vt:lpstr>
      <vt:lpstr>Calibri Light</vt:lpstr>
      <vt:lpstr>Courier New</vt:lpstr>
      <vt:lpstr>Sagona Book</vt:lpstr>
      <vt:lpstr>Tahoma</vt:lpstr>
      <vt:lpstr>Office Theme</vt:lpstr>
      <vt:lpstr>1_Custom Design</vt:lpstr>
      <vt:lpstr>2_Custom Design</vt:lpstr>
      <vt:lpstr>3_Custom Design</vt:lpstr>
      <vt:lpstr>4_Custom Design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งานนำเสนอ PowerPoint</dc:title>
  <dc:creator>Pattreda Suwannarat</dc:creator>
  <cp:lastModifiedBy>Kittipot Chirakul</cp:lastModifiedBy>
  <cp:revision>680</cp:revision>
  <cp:lastPrinted>2026-03-09T01:17:47Z</cp:lastPrinted>
  <dcterms:created xsi:type="dcterms:W3CDTF">2025-01-27T04:45:05Z</dcterms:created>
  <dcterms:modified xsi:type="dcterms:W3CDTF">2026-04-10T03:15:10Z</dcterms:modified>
</cp:coreProperties>
</file>